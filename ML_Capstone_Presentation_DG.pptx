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3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5.xml" ContentType="application/vnd.openxmlformats-officedocument.theme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6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7.xml" ContentType="application/vnd.openxmlformats-officedocument.theme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theme/theme8.xml" ContentType="application/vnd.openxmlformats-officedocument.theme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9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theme/theme10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  <p:sldMasterId id="2147483714" r:id="rId2"/>
    <p:sldMasterId id="2147483726" r:id="rId3"/>
    <p:sldMasterId id="2147483744" r:id="rId4"/>
    <p:sldMasterId id="2147483756" r:id="rId5"/>
    <p:sldMasterId id="2147483774" r:id="rId6"/>
    <p:sldMasterId id="2147483792" r:id="rId7"/>
    <p:sldMasterId id="2147483809" r:id="rId8"/>
    <p:sldMasterId id="2147483827" r:id="rId9"/>
    <p:sldMasterId id="2147483845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89" r:id="rId28"/>
    <p:sldId id="290" r:id="rId29"/>
    <p:sldId id="291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4" r:id="rId40"/>
    <p:sldId id="282" r:id="rId41"/>
    <p:sldId id="283" r:id="rId42"/>
    <p:sldId id="285" r:id="rId43"/>
    <p:sldId id="286" r:id="rId44"/>
    <p:sldId id="287" r:id="rId45"/>
    <p:sldId id="288" r:id="rId4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slide" Target="slides/slide16.xml"/><Relationship Id="rId39" Type="http://schemas.openxmlformats.org/officeDocument/2006/relationships/slide" Target="slides/slide29.xml"/><Relationship Id="rId21" Type="http://schemas.openxmlformats.org/officeDocument/2006/relationships/slide" Target="slides/slide11.xml"/><Relationship Id="rId34" Type="http://schemas.openxmlformats.org/officeDocument/2006/relationships/slide" Target="slides/slide24.xml"/><Relationship Id="rId42" Type="http://schemas.openxmlformats.org/officeDocument/2006/relationships/slide" Target="slides/slide32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9" Type="http://schemas.openxmlformats.org/officeDocument/2006/relationships/slide" Target="slides/slide19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slide" Target="slides/slide22.xml"/><Relationship Id="rId37" Type="http://schemas.openxmlformats.org/officeDocument/2006/relationships/slide" Target="slides/slide27.xml"/><Relationship Id="rId40" Type="http://schemas.openxmlformats.org/officeDocument/2006/relationships/slide" Target="slides/slide30.xml"/><Relationship Id="rId45" Type="http://schemas.openxmlformats.org/officeDocument/2006/relationships/slide" Target="slides/slide35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slide" Target="slides/slide18.xml"/><Relationship Id="rId36" Type="http://schemas.openxmlformats.org/officeDocument/2006/relationships/slide" Target="slides/slide26.xml"/><Relationship Id="rId49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slide" Target="slides/slide21.xml"/><Relationship Id="rId44" Type="http://schemas.openxmlformats.org/officeDocument/2006/relationships/slide" Target="slides/slide34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slide" Target="slides/slide17.xml"/><Relationship Id="rId30" Type="http://schemas.openxmlformats.org/officeDocument/2006/relationships/slide" Target="slides/slide20.xml"/><Relationship Id="rId35" Type="http://schemas.openxmlformats.org/officeDocument/2006/relationships/slide" Target="slides/slide25.xml"/><Relationship Id="rId43" Type="http://schemas.openxmlformats.org/officeDocument/2006/relationships/slide" Target="slides/slide33.xml"/><Relationship Id="rId48" Type="http://schemas.openxmlformats.org/officeDocument/2006/relationships/viewProps" Target="viewProps.xml"/><Relationship Id="rId8" Type="http://schemas.openxmlformats.org/officeDocument/2006/relationships/slideMaster" Target="slideMasters/slideMaster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33" Type="http://schemas.openxmlformats.org/officeDocument/2006/relationships/slide" Target="slides/slide23.xml"/><Relationship Id="rId38" Type="http://schemas.openxmlformats.org/officeDocument/2006/relationships/slide" Target="slides/slide28.xml"/><Relationship Id="rId46" Type="http://schemas.openxmlformats.org/officeDocument/2006/relationships/slide" Target="slides/slide36.xml"/><Relationship Id="rId20" Type="http://schemas.openxmlformats.org/officeDocument/2006/relationships/slide" Target="slides/slide10.xml"/><Relationship Id="rId41" Type="http://schemas.openxmlformats.org/officeDocument/2006/relationships/slide" Target="slides/slide3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svg"/><Relationship Id="rId1" Type="http://schemas.openxmlformats.org/officeDocument/2006/relationships/image" Target="../media/image35.pn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54D03BD-23FF-42D7-BDD6-2B3CB57020EE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0E0BC0C-7E71-4557-B0A2-060B5BEA0C60}">
      <dgm:prSet/>
      <dgm:spPr/>
      <dgm:t>
        <a:bodyPr/>
        <a:lstStyle/>
        <a:p>
          <a:r>
            <a:rPr lang="en-US"/>
            <a:t>Trained FCNN part for 5 epochs</a:t>
          </a:r>
        </a:p>
      </dgm:t>
    </dgm:pt>
    <dgm:pt modelId="{36329D8E-4FB4-43ED-A877-3B019F748C4D}" type="parTrans" cxnId="{6264C73A-59C3-4E11-8EC9-87F8F61742CB}">
      <dgm:prSet/>
      <dgm:spPr/>
      <dgm:t>
        <a:bodyPr/>
        <a:lstStyle/>
        <a:p>
          <a:endParaRPr lang="en-US"/>
        </a:p>
      </dgm:t>
    </dgm:pt>
    <dgm:pt modelId="{85EEDD78-1892-47BE-A70A-96A98F2F2475}" type="sibTrans" cxnId="{6264C73A-59C3-4E11-8EC9-87F8F61742CB}">
      <dgm:prSet/>
      <dgm:spPr/>
      <dgm:t>
        <a:bodyPr/>
        <a:lstStyle/>
        <a:p>
          <a:endParaRPr lang="en-US"/>
        </a:p>
      </dgm:t>
    </dgm:pt>
    <dgm:pt modelId="{AECCA48B-2DF4-4C74-A812-6168722B67C6}">
      <dgm:prSet/>
      <dgm:spPr/>
      <dgm:t>
        <a:bodyPr/>
        <a:lstStyle/>
        <a:p>
          <a:r>
            <a:rPr lang="en-US"/>
            <a:t>Another 5 epochs unfreezed last convolutional block of the Resnet 50</a:t>
          </a:r>
        </a:p>
      </dgm:t>
    </dgm:pt>
    <dgm:pt modelId="{02301886-D15A-4563-A252-28DD3E8C1AC7}" type="parTrans" cxnId="{903DA47E-D48D-4ECD-BF95-4D37ADC17CDF}">
      <dgm:prSet/>
      <dgm:spPr/>
      <dgm:t>
        <a:bodyPr/>
        <a:lstStyle/>
        <a:p>
          <a:endParaRPr lang="en-US"/>
        </a:p>
      </dgm:t>
    </dgm:pt>
    <dgm:pt modelId="{13F728C2-6B09-454C-B62B-6F9248053CB7}" type="sibTrans" cxnId="{903DA47E-D48D-4ECD-BF95-4D37ADC17CDF}">
      <dgm:prSet/>
      <dgm:spPr/>
      <dgm:t>
        <a:bodyPr/>
        <a:lstStyle/>
        <a:p>
          <a:endParaRPr lang="en-US"/>
        </a:p>
      </dgm:t>
    </dgm:pt>
    <dgm:pt modelId="{3C7011AF-7117-48D5-ACCD-9DD8017FFDA1}">
      <dgm:prSet/>
      <dgm:spPr/>
      <dgm:t>
        <a:bodyPr/>
        <a:lstStyle/>
        <a:p>
          <a:r>
            <a:rPr lang="en-US"/>
            <a:t>Finally with patience 5, ReduceLRonPlateatu LR scheduler, and validation tracking unfreezed and trained using whole Resnet50 model</a:t>
          </a:r>
        </a:p>
      </dgm:t>
    </dgm:pt>
    <dgm:pt modelId="{F75C4362-3A0C-4940-BD1F-94CE5CFA1E2B}" type="parTrans" cxnId="{35E6DCD3-F597-486A-BFB1-3DBC75152752}">
      <dgm:prSet/>
      <dgm:spPr/>
      <dgm:t>
        <a:bodyPr/>
        <a:lstStyle/>
        <a:p>
          <a:endParaRPr lang="en-US"/>
        </a:p>
      </dgm:t>
    </dgm:pt>
    <dgm:pt modelId="{766E4812-87FA-47A0-8C8D-32E84DAD5F34}" type="sibTrans" cxnId="{35E6DCD3-F597-486A-BFB1-3DBC75152752}">
      <dgm:prSet/>
      <dgm:spPr/>
      <dgm:t>
        <a:bodyPr/>
        <a:lstStyle/>
        <a:p>
          <a:endParaRPr lang="en-US"/>
        </a:p>
      </dgm:t>
    </dgm:pt>
    <dgm:pt modelId="{368B7CF3-5159-4287-93B4-E1251C1FEA0B}" type="pres">
      <dgm:prSet presAssocID="{154D03BD-23FF-42D7-BDD6-2B3CB57020EE}" presName="root" presStyleCnt="0">
        <dgm:presLayoutVars>
          <dgm:dir/>
          <dgm:resizeHandles val="exact"/>
        </dgm:presLayoutVars>
      </dgm:prSet>
      <dgm:spPr/>
    </dgm:pt>
    <dgm:pt modelId="{BE5782F6-37D3-4484-9F7C-1D16E7075EE6}" type="pres">
      <dgm:prSet presAssocID="{30E0BC0C-7E71-4557-B0A2-060B5BEA0C60}" presName="compNode" presStyleCnt="0"/>
      <dgm:spPr/>
    </dgm:pt>
    <dgm:pt modelId="{F9B360A5-1C0F-432D-AD53-5034814A9B3B}" type="pres">
      <dgm:prSet presAssocID="{30E0BC0C-7E71-4557-B0A2-060B5BEA0C60}" presName="bgRect" presStyleLbl="bgShp" presStyleIdx="0" presStyleCnt="3"/>
      <dgm:spPr/>
    </dgm:pt>
    <dgm:pt modelId="{0EAD3B3D-EAD9-4ED1-A1F5-81363C632BCE}" type="pres">
      <dgm:prSet presAssocID="{30E0BC0C-7E71-4557-B0A2-060B5BEA0C60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8B4D41D5-A12C-41B0-B688-0F33C3C27717}" type="pres">
      <dgm:prSet presAssocID="{30E0BC0C-7E71-4557-B0A2-060B5BEA0C60}" presName="spaceRect" presStyleCnt="0"/>
      <dgm:spPr/>
    </dgm:pt>
    <dgm:pt modelId="{F735B5CE-4A0E-4A5D-9003-F4512E4FDD33}" type="pres">
      <dgm:prSet presAssocID="{30E0BC0C-7E71-4557-B0A2-060B5BEA0C60}" presName="parTx" presStyleLbl="revTx" presStyleIdx="0" presStyleCnt="3">
        <dgm:presLayoutVars>
          <dgm:chMax val="0"/>
          <dgm:chPref val="0"/>
        </dgm:presLayoutVars>
      </dgm:prSet>
      <dgm:spPr/>
    </dgm:pt>
    <dgm:pt modelId="{EBA31054-B9CC-434D-84BC-95FD2D3BEB24}" type="pres">
      <dgm:prSet presAssocID="{85EEDD78-1892-47BE-A70A-96A98F2F2475}" presName="sibTrans" presStyleCnt="0"/>
      <dgm:spPr/>
    </dgm:pt>
    <dgm:pt modelId="{B4E11A9A-1757-460A-8D28-ED381E093F31}" type="pres">
      <dgm:prSet presAssocID="{AECCA48B-2DF4-4C74-A812-6168722B67C6}" presName="compNode" presStyleCnt="0"/>
      <dgm:spPr/>
    </dgm:pt>
    <dgm:pt modelId="{852A110B-CF05-472B-AF03-945C4A84B62D}" type="pres">
      <dgm:prSet presAssocID="{AECCA48B-2DF4-4C74-A812-6168722B67C6}" presName="bgRect" presStyleLbl="bgShp" presStyleIdx="1" presStyleCnt="3"/>
      <dgm:spPr/>
    </dgm:pt>
    <dgm:pt modelId="{89F58C33-FBFC-4303-BE40-13F5276EF775}" type="pres">
      <dgm:prSet presAssocID="{AECCA48B-2DF4-4C74-A812-6168722B67C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encil"/>
        </a:ext>
      </dgm:extLst>
    </dgm:pt>
    <dgm:pt modelId="{EFC02380-C03D-43A5-899B-A6F62DC8FB5E}" type="pres">
      <dgm:prSet presAssocID="{AECCA48B-2DF4-4C74-A812-6168722B67C6}" presName="spaceRect" presStyleCnt="0"/>
      <dgm:spPr/>
    </dgm:pt>
    <dgm:pt modelId="{DFD5B725-5404-4016-B78A-2BC983AE0142}" type="pres">
      <dgm:prSet presAssocID="{AECCA48B-2DF4-4C74-A812-6168722B67C6}" presName="parTx" presStyleLbl="revTx" presStyleIdx="1" presStyleCnt="3">
        <dgm:presLayoutVars>
          <dgm:chMax val="0"/>
          <dgm:chPref val="0"/>
        </dgm:presLayoutVars>
      </dgm:prSet>
      <dgm:spPr/>
    </dgm:pt>
    <dgm:pt modelId="{AE582C03-06A8-4572-AF60-F4E96C1B4450}" type="pres">
      <dgm:prSet presAssocID="{13F728C2-6B09-454C-B62B-6F9248053CB7}" presName="sibTrans" presStyleCnt="0"/>
      <dgm:spPr/>
    </dgm:pt>
    <dgm:pt modelId="{03002C02-0BCF-4FD0-A0C9-2EAF71A5D782}" type="pres">
      <dgm:prSet presAssocID="{3C7011AF-7117-48D5-ACCD-9DD8017FFDA1}" presName="compNode" presStyleCnt="0"/>
      <dgm:spPr/>
    </dgm:pt>
    <dgm:pt modelId="{13DF8563-64C6-4FA9-AF00-1608C1D6F842}" type="pres">
      <dgm:prSet presAssocID="{3C7011AF-7117-48D5-ACCD-9DD8017FFDA1}" presName="bgRect" presStyleLbl="bgShp" presStyleIdx="2" presStyleCnt="3"/>
      <dgm:spPr/>
    </dgm:pt>
    <dgm:pt modelId="{5CFFF1C9-EE79-4E3F-9B9A-304638E11CB4}" type="pres">
      <dgm:prSet presAssocID="{3C7011AF-7117-48D5-ACCD-9DD8017FFDA1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code"/>
        </a:ext>
      </dgm:extLst>
    </dgm:pt>
    <dgm:pt modelId="{382AC13B-772E-4586-8299-052BAD5CB0CF}" type="pres">
      <dgm:prSet presAssocID="{3C7011AF-7117-48D5-ACCD-9DD8017FFDA1}" presName="spaceRect" presStyleCnt="0"/>
      <dgm:spPr/>
    </dgm:pt>
    <dgm:pt modelId="{EDE0746D-D8FB-4F73-A209-A10EC1765667}" type="pres">
      <dgm:prSet presAssocID="{3C7011AF-7117-48D5-ACCD-9DD8017FFDA1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28D4C19-14C0-43BB-B21C-1AC4950E8308}" type="presOf" srcId="{3C7011AF-7117-48D5-ACCD-9DD8017FFDA1}" destId="{EDE0746D-D8FB-4F73-A209-A10EC1765667}" srcOrd="0" destOrd="0" presId="urn:microsoft.com/office/officeart/2018/2/layout/IconVerticalSolidList"/>
    <dgm:cxn modelId="{A754832A-4CF0-4707-B759-7EAEFA00B3A8}" type="presOf" srcId="{AECCA48B-2DF4-4C74-A812-6168722B67C6}" destId="{DFD5B725-5404-4016-B78A-2BC983AE0142}" srcOrd="0" destOrd="0" presId="urn:microsoft.com/office/officeart/2018/2/layout/IconVerticalSolidList"/>
    <dgm:cxn modelId="{6264C73A-59C3-4E11-8EC9-87F8F61742CB}" srcId="{154D03BD-23FF-42D7-BDD6-2B3CB57020EE}" destId="{30E0BC0C-7E71-4557-B0A2-060B5BEA0C60}" srcOrd="0" destOrd="0" parTransId="{36329D8E-4FB4-43ED-A877-3B019F748C4D}" sibTransId="{85EEDD78-1892-47BE-A70A-96A98F2F2475}"/>
    <dgm:cxn modelId="{903DA47E-D48D-4ECD-BF95-4D37ADC17CDF}" srcId="{154D03BD-23FF-42D7-BDD6-2B3CB57020EE}" destId="{AECCA48B-2DF4-4C74-A812-6168722B67C6}" srcOrd="1" destOrd="0" parTransId="{02301886-D15A-4563-A252-28DD3E8C1AC7}" sibTransId="{13F728C2-6B09-454C-B62B-6F9248053CB7}"/>
    <dgm:cxn modelId="{69D02493-2C02-431F-9794-23AF93823BC7}" type="presOf" srcId="{30E0BC0C-7E71-4557-B0A2-060B5BEA0C60}" destId="{F735B5CE-4A0E-4A5D-9003-F4512E4FDD33}" srcOrd="0" destOrd="0" presId="urn:microsoft.com/office/officeart/2018/2/layout/IconVerticalSolidList"/>
    <dgm:cxn modelId="{35E6DCD3-F597-486A-BFB1-3DBC75152752}" srcId="{154D03BD-23FF-42D7-BDD6-2B3CB57020EE}" destId="{3C7011AF-7117-48D5-ACCD-9DD8017FFDA1}" srcOrd="2" destOrd="0" parTransId="{F75C4362-3A0C-4940-BD1F-94CE5CFA1E2B}" sibTransId="{766E4812-87FA-47A0-8C8D-32E84DAD5F34}"/>
    <dgm:cxn modelId="{0817A9D6-2BE4-48CB-950B-12FEB9D7EBB3}" type="presOf" srcId="{154D03BD-23FF-42D7-BDD6-2B3CB57020EE}" destId="{368B7CF3-5159-4287-93B4-E1251C1FEA0B}" srcOrd="0" destOrd="0" presId="urn:microsoft.com/office/officeart/2018/2/layout/IconVerticalSolidList"/>
    <dgm:cxn modelId="{1370A7AE-9B84-43BE-80DD-45ED171F43A8}" type="presParOf" srcId="{368B7CF3-5159-4287-93B4-E1251C1FEA0B}" destId="{BE5782F6-37D3-4484-9F7C-1D16E7075EE6}" srcOrd="0" destOrd="0" presId="urn:microsoft.com/office/officeart/2018/2/layout/IconVerticalSolidList"/>
    <dgm:cxn modelId="{6EBB4D57-C212-42B7-857B-A8D3D5CAE4A0}" type="presParOf" srcId="{BE5782F6-37D3-4484-9F7C-1D16E7075EE6}" destId="{F9B360A5-1C0F-432D-AD53-5034814A9B3B}" srcOrd="0" destOrd="0" presId="urn:microsoft.com/office/officeart/2018/2/layout/IconVerticalSolidList"/>
    <dgm:cxn modelId="{EAFF962E-444A-4968-A397-FCF837BF435E}" type="presParOf" srcId="{BE5782F6-37D3-4484-9F7C-1D16E7075EE6}" destId="{0EAD3B3D-EAD9-4ED1-A1F5-81363C632BCE}" srcOrd="1" destOrd="0" presId="urn:microsoft.com/office/officeart/2018/2/layout/IconVerticalSolidList"/>
    <dgm:cxn modelId="{720F4DBC-661C-404F-BB20-BEA515F2D5B7}" type="presParOf" srcId="{BE5782F6-37D3-4484-9F7C-1D16E7075EE6}" destId="{8B4D41D5-A12C-41B0-B688-0F33C3C27717}" srcOrd="2" destOrd="0" presId="urn:microsoft.com/office/officeart/2018/2/layout/IconVerticalSolidList"/>
    <dgm:cxn modelId="{2E71AF34-D76F-4BD9-A3C0-37E7F346FA4C}" type="presParOf" srcId="{BE5782F6-37D3-4484-9F7C-1D16E7075EE6}" destId="{F735B5CE-4A0E-4A5D-9003-F4512E4FDD33}" srcOrd="3" destOrd="0" presId="urn:microsoft.com/office/officeart/2018/2/layout/IconVerticalSolidList"/>
    <dgm:cxn modelId="{BAC54DCB-095A-4966-A26B-87C585795768}" type="presParOf" srcId="{368B7CF3-5159-4287-93B4-E1251C1FEA0B}" destId="{EBA31054-B9CC-434D-84BC-95FD2D3BEB24}" srcOrd="1" destOrd="0" presId="urn:microsoft.com/office/officeart/2018/2/layout/IconVerticalSolidList"/>
    <dgm:cxn modelId="{3C49B98A-311A-4B27-9D33-FFCD5B7216F7}" type="presParOf" srcId="{368B7CF3-5159-4287-93B4-E1251C1FEA0B}" destId="{B4E11A9A-1757-460A-8D28-ED381E093F31}" srcOrd="2" destOrd="0" presId="urn:microsoft.com/office/officeart/2018/2/layout/IconVerticalSolidList"/>
    <dgm:cxn modelId="{3DD7D11B-F863-48E1-A2EB-C91E5E3E1689}" type="presParOf" srcId="{B4E11A9A-1757-460A-8D28-ED381E093F31}" destId="{852A110B-CF05-472B-AF03-945C4A84B62D}" srcOrd="0" destOrd="0" presId="urn:microsoft.com/office/officeart/2018/2/layout/IconVerticalSolidList"/>
    <dgm:cxn modelId="{1D77DC37-15AB-4DE1-80F4-416112626CE7}" type="presParOf" srcId="{B4E11A9A-1757-460A-8D28-ED381E093F31}" destId="{89F58C33-FBFC-4303-BE40-13F5276EF775}" srcOrd="1" destOrd="0" presId="urn:microsoft.com/office/officeart/2018/2/layout/IconVerticalSolidList"/>
    <dgm:cxn modelId="{492E1D58-7610-475B-BC58-3C15E88204F4}" type="presParOf" srcId="{B4E11A9A-1757-460A-8D28-ED381E093F31}" destId="{EFC02380-C03D-43A5-899B-A6F62DC8FB5E}" srcOrd="2" destOrd="0" presId="urn:microsoft.com/office/officeart/2018/2/layout/IconVerticalSolidList"/>
    <dgm:cxn modelId="{A41B4F7A-AE61-47BA-A72C-C78F584A0BC3}" type="presParOf" srcId="{B4E11A9A-1757-460A-8D28-ED381E093F31}" destId="{DFD5B725-5404-4016-B78A-2BC983AE0142}" srcOrd="3" destOrd="0" presId="urn:microsoft.com/office/officeart/2018/2/layout/IconVerticalSolidList"/>
    <dgm:cxn modelId="{0ECFC8D5-06C3-47A7-8005-79E4A2067170}" type="presParOf" srcId="{368B7CF3-5159-4287-93B4-E1251C1FEA0B}" destId="{AE582C03-06A8-4572-AF60-F4E96C1B4450}" srcOrd="3" destOrd="0" presId="urn:microsoft.com/office/officeart/2018/2/layout/IconVerticalSolidList"/>
    <dgm:cxn modelId="{DBFC3522-B23B-40B4-83EC-EFADFD703CB2}" type="presParOf" srcId="{368B7CF3-5159-4287-93B4-E1251C1FEA0B}" destId="{03002C02-0BCF-4FD0-A0C9-2EAF71A5D782}" srcOrd="4" destOrd="0" presId="urn:microsoft.com/office/officeart/2018/2/layout/IconVerticalSolidList"/>
    <dgm:cxn modelId="{72EA4C80-E902-4101-AF41-BBCD1F6DB9C3}" type="presParOf" srcId="{03002C02-0BCF-4FD0-A0C9-2EAF71A5D782}" destId="{13DF8563-64C6-4FA9-AF00-1608C1D6F842}" srcOrd="0" destOrd="0" presId="urn:microsoft.com/office/officeart/2018/2/layout/IconVerticalSolidList"/>
    <dgm:cxn modelId="{3C7FDF36-B60F-46BA-B717-8EEEA8E7F692}" type="presParOf" srcId="{03002C02-0BCF-4FD0-A0C9-2EAF71A5D782}" destId="{5CFFF1C9-EE79-4E3F-9B9A-304638E11CB4}" srcOrd="1" destOrd="0" presId="urn:microsoft.com/office/officeart/2018/2/layout/IconVerticalSolidList"/>
    <dgm:cxn modelId="{4FC73D9F-713F-4A32-9B63-DE09AE48BF15}" type="presParOf" srcId="{03002C02-0BCF-4FD0-A0C9-2EAF71A5D782}" destId="{382AC13B-772E-4586-8299-052BAD5CB0CF}" srcOrd="2" destOrd="0" presId="urn:microsoft.com/office/officeart/2018/2/layout/IconVerticalSolidList"/>
    <dgm:cxn modelId="{B7F4F52C-E770-4F18-9798-ADD32CDAA309}" type="presParOf" srcId="{03002C02-0BCF-4FD0-A0C9-2EAF71A5D782}" destId="{EDE0746D-D8FB-4F73-A209-A10EC176566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B360A5-1C0F-432D-AD53-5034814A9B3B}">
      <dsp:nvSpPr>
        <dsp:cNvPr id="0" name=""/>
        <dsp:cNvSpPr/>
      </dsp:nvSpPr>
      <dsp:spPr>
        <a:xfrm>
          <a:off x="0" y="558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AD3B3D-EAD9-4ED1-A1F5-81363C632BCE}">
      <dsp:nvSpPr>
        <dsp:cNvPr id="0" name=""/>
        <dsp:cNvSpPr/>
      </dsp:nvSpPr>
      <dsp:spPr>
        <a:xfrm>
          <a:off x="395054" y="294400"/>
          <a:ext cx="718281" cy="71828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35B5CE-4A0E-4A5D-9003-F4512E4FDD33}">
      <dsp:nvSpPr>
        <dsp:cNvPr id="0" name=""/>
        <dsp:cNvSpPr/>
      </dsp:nvSpPr>
      <dsp:spPr>
        <a:xfrm>
          <a:off x="1508391" y="558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Trained FCNN part for 5 epochs</a:t>
          </a:r>
        </a:p>
      </dsp:txBody>
      <dsp:txXfrm>
        <a:off x="1508391" y="558"/>
        <a:ext cx="4987658" cy="1305966"/>
      </dsp:txXfrm>
    </dsp:sp>
    <dsp:sp modelId="{852A110B-CF05-472B-AF03-945C4A84B62D}">
      <dsp:nvSpPr>
        <dsp:cNvPr id="0" name=""/>
        <dsp:cNvSpPr/>
      </dsp:nvSpPr>
      <dsp:spPr>
        <a:xfrm>
          <a:off x="0" y="1633016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9F58C33-FBFC-4303-BE40-13F5276EF775}">
      <dsp:nvSpPr>
        <dsp:cNvPr id="0" name=""/>
        <dsp:cNvSpPr/>
      </dsp:nvSpPr>
      <dsp:spPr>
        <a:xfrm>
          <a:off x="395054" y="1926859"/>
          <a:ext cx="718281" cy="71828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FD5B725-5404-4016-B78A-2BC983AE0142}">
      <dsp:nvSpPr>
        <dsp:cNvPr id="0" name=""/>
        <dsp:cNvSpPr/>
      </dsp:nvSpPr>
      <dsp:spPr>
        <a:xfrm>
          <a:off x="1508391" y="1633016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Another 5 epochs unfreezed last convolutional block of the Resnet 50</a:t>
          </a:r>
        </a:p>
      </dsp:txBody>
      <dsp:txXfrm>
        <a:off x="1508391" y="1633016"/>
        <a:ext cx="4987658" cy="1305966"/>
      </dsp:txXfrm>
    </dsp:sp>
    <dsp:sp modelId="{13DF8563-64C6-4FA9-AF00-1608C1D6F842}">
      <dsp:nvSpPr>
        <dsp:cNvPr id="0" name=""/>
        <dsp:cNvSpPr/>
      </dsp:nvSpPr>
      <dsp:spPr>
        <a:xfrm>
          <a:off x="0" y="3265475"/>
          <a:ext cx="6496050" cy="13059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FFF1C9-EE79-4E3F-9B9A-304638E11CB4}">
      <dsp:nvSpPr>
        <dsp:cNvPr id="0" name=""/>
        <dsp:cNvSpPr/>
      </dsp:nvSpPr>
      <dsp:spPr>
        <a:xfrm>
          <a:off x="395054" y="3559317"/>
          <a:ext cx="718281" cy="71828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DE0746D-D8FB-4F73-A209-A10EC1765667}">
      <dsp:nvSpPr>
        <dsp:cNvPr id="0" name=""/>
        <dsp:cNvSpPr/>
      </dsp:nvSpPr>
      <dsp:spPr>
        <a:xfrm>
          <a:off x="1508391" y="3265475"/>
          <a:ext cx="4987658" cy="13059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215" tIns="138215" rIns="138215" bIns="13821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Finally with patience 5, ReduceLRonPlateatu LR scheduler, and validation tracking unfreezed and trained using whole Resnet50 model</a:t>
          </a:r>
        </a:p>
      </dsp:txBody>
      <dsp:txXfrm>
        <a:off x="1508391" y="3265475"/>
        <a:ext cx="4987658" cy="13059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783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26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166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477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248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874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69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563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4606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235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21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7191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9995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95543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59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986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667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45520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18344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05555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1391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4612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9727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22979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1635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5731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55716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05385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6615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2640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131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317713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599576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25952355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304028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8870877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25264"/>
      </p:ext>
    </p:extLst>
  </p:cSld>
  <p:clrMapOvr>
    <a:masterClrMapping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86448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82989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750249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847924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778098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57256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500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92989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39156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5495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11246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03509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401503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479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36973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82844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71425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011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29438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7564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9338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04311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251491"/>
      </p:ext>
    </p:extLst>
  </p:cSld>
  <p:clrMapOvr>
    <a:masterClrMapping/>
  </p:clrMapOvr>
  <p:hf sldNum="0" hdr="0" ftr="0" dt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65766"/>
      </p:ext>
    </p:extLst>
  </p:cSld>
  <p:clrMapOvr>
    <a:masterClrMapping/>
  </p:clrMapOvr>
  <p:hf sldNum="0" hdr="0" ftr="0" dt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25948684"/>
      </p:ext>
    </p:extLst>
  </p:cSld>
  <p:clrMapOvr>
    <a:masterClrMapping/>
  </p:clrMapOvr>
  <p:hf sldNum="0" hdr="0" ftr="0" dt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08092"/>
      </p:ext>
    </p:extLst>
  </p:cSld>
  <p:clrMapOvr>
    <a:masterClrMapping/>
  </p:clrMapOvr>
  <p:hf sldNum="0" hdr="0" ftr="0" dt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17639"/>
      </p:ext>
    </p:extLst>
  </p:cSld>
  <p:clrMapOvr>
    <a:masterClrMapping/>
  </p:clrMapOvr>
  <p:hf sldNum="0" hdr="0" ftr="0" dt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669905"/>
      </p:ext>
    </p:extLst>
  </p:cSld>
  <p:clrMapOvr>
    <a:masterClrMapping/>
  </p:clrMapOvr>
  <p:hf sldNum="0" hdr="0" ftr="0" dt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378910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767639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647147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25802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4371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4886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70653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2979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716653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3225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65360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280763"/>
      </p:ext>
    </p:extLst>
  </p:cSld>
  <p:clrMapOvr>
    <a:masterClrMapping/>
  </p:clrMapOvr>
  <p:hf sldNum="0" hdr="0" ftr="0" dt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396558"/>
      </p:ext>
    </p:extLst>
  </p:cSld>
  <p:clrMapOvr>
    <a:masterClrMapping/>
  </p:clrMapOvr>
  <p:hf sldNum="0" hdr="0" ftr="0" dt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15581272"/>
      </p:ext>
    </p:extLst>
  </p:cSld>
  <p:clrMapOvr>
    <a:masterClrMapping/>
  </p:clrMapOvr>
  <p:hf sldNum="0" hdr="0" ftr="0" dt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273634"/>
      </p:ext>
    </p:extLst>
  </p:cSld>
  <p:clrMapOvr>
    <a:masterClrMapping/>
  </p:clrMapOvr>
  <p:hf sldNum="0" hdr="0" ftr="0" dt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222815"/>
      </p:ext>
    </p:extLst>
  </p:cSld>
  <p:clrMapOvr>
    <a:masterClrMapping/>
  </p:clrMapOvr>
  <p:hf sldNum="0" hdr="0" ftr="0" dt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182740"/>
      </p:ext>
    </p:extLst>
  </p:cSld>
  <p:clrMapOvr>
    <a:masterClrMapping/>
  </p:clrMapOvr>
  <p:hf sldNum="0" hdr="0" ftr="0" dt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31719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485039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60429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0523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56817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301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03924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8792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91217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95715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58700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387822"/>
      </p:ext>
    </p:extLst>
  </p:cSld>
  <p:clrMapOvr>
    <a:masterClrMapping/>
  </p:clrMapOvr>
  <p:hf sldNum="0" hdr="0" ftr="0" dt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75764103"/>
      </p:ext>
    </p:extLst>
  </p:cSld>
  <p:clrMapOvr>
    <a:masterClrMapping/>
  </p:clrMapOvr>
  <p:hf sldNum="0" hdr="0" ftr="0" dt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352"/>
      </p:ext>
    </p:extLst>
  </p:cSld>
  <p:clrMapOvr>
    <a:masterClrMapping/>
  </p:clrMapOvr>
  <p:hf sldNum="0" hdr="0" ftr="0" dt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89514101"/>
      </p:ext>
    </p:extLst>
  </p:cSld>
  <p:clrMapOvr>
    <a:masterClrMapping/>
  </p:clrMapOvr>
  <p:hf sldNum="0" hdr="0" ftr="0" dt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05903"/>
      </p:ext>
    </p:extLst>
  </p:cSld>
  <p:clrMapOvr>
    <a:masterClrMapping/>
  </p:clrMapOvr>
  <p:hf sldNum="0" hdr="0" ftr="0" dt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30975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876177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2121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159346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552306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572170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770856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075480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73214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47946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077963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802853"/>
      </p:ext>
    </p:extLst>
  </p:cSld>
  <p:clrMapOvr>
    <a:masterClrMapping/>
  </p:clrMapOvr>
  <p:hf sldNum="0" hdr="0" ftr="0" dt="0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880129"/>
      </p:ext>
    </p:extLst>
  </p:cSld>
  <p:clrMapOvr>
    <a:masterClrMapping/>
  </p:clrMapOvr>
  <p:hf sldNum="0" hdr="0" ftr="0" dt="0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385828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182163305"/>
      </p:ext>
    </p:extLst>
  </p:cSld>
  <p:clrMapOvr>
    <a:masterClrMapping/>
  </p:clrMapOvr>
  <p:hf sldNum="0" hdr="0" ftr="0" dt="0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189231"/>
      </p:ext>
    </p:extLst>
  </p:cSld>
  <p:clrMapOvr>
    <a:masterClrMapping/>
  </p:clrMapOvr>
  <p:hf sldNum="0" hdr="0" ftr="0" dt="0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78619"/>
      </p:ext>
    </p:extLst>
  </p:cSld>
  <p:clrMapOvr>
    <a:masterClrMapping/>
  </p:clrMapOvr>
  <p:hf sldNum="0" hdr="0" ftr="0" dt="0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679432"/>
      </p:ext>
    </p:extLst>
  </p:cSld>
  <p:clrMapOvr>
    <a:masterClrMapping/>
  </p:clrMapOvr>
  <p:hf sldNum="0" hdr="0" ftr="0" dt="0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54551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83430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49385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36537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0087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350513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225009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690383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0489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814086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17480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057168"/>
      </p:ext>
    </p:extLst>
  </p:cSld>
  <p:clrMapOvr>
    <a:masterClrMapping/>
  </p:clrMapOvr>
  <p:hf sldNum="0" hdr="0" ftr="0" dt="0"/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1550692"/>
      </p:ext>
    </p:extLst>
  </p:cSld>
  <p:clrMapOvr>
    <a:masterClrMapping/>
  </p:clrMapOvr>
  <p:hf sldNum="0" hdr="0" ftr="0" dt="0"/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5811810"/>
      </p:ext>
    </p:extLst>
  </p:cSld>
  <p:clrMapOvr>
    <a:masterClrMapping/>
  </p:clrMapOvr>
  <p:hf sldNum="0" hdr="0" ftr="0" dt="0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85178"/>
      </p:ext>
    </p:extLst>
  </p:cSld>
  <p:clrMapOvr>
    <a:masterClrMapping/>
  </p:clrMapOvr>
  <p:hf sldNum="0" hdr="0" ftr="0" dt="0"/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39965"/>
      </p:ext>
    </p:extLst>
  </p:cSld>
  <p:clrMapOvr>
    <a:masterClrMapping/>
  </p:clrMapOvr>
  <p:hf sldNum="0" hdr="0" ftr="0" dt="0"/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26942"/>
      </p:ext>
    </p:extLst>
  </p:cSld>
  <p:clrMapOvr>
    <a:masterClrMapping/>
  </p:clrMapOvr>
  <p:hf sldNum="0" hdr="0" ftr="0" dt="0"/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457912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948112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822179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63003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4070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293903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7/21/2025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188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130944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8282443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3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5" y="3129280"/>
            <a:ext cx="34010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37978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62734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799"/>
            <a:ext cx="8825658" cy="3640667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52342"/>
      </p:ext>
    </p:extLst>
  </p:cSld>
  <p:clrMapOvr>
    <a:masterClrMapping/>
  </p:clrMapOvr>
  <p:hf sldNum="0" hdr="0" ftr="0" dt="0"/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312176"/>
      </p:ext>
    </p:extLst>
  </p:cSld>
  <p:clrMapOvr>
    <a:masterClrMapping/>
  </p:clrMapOvr>
  <p:hf sldNum="0" hdr="0" ftr="0" dt="0"/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0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2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+mj-ea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6962496"/>
      </p:ext>
    </p:extLst>
  </p:cSld>
  <p:clrMapOvr>
    <a:masterClrMapping/>
  </p:clrMapOvr>
  <p:hf sldNum="0" hdr="0" ftr="0" dt="0"/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5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27488"/>
      </p:ext>
    </p:extLst>
  </p:cSld>
  <p:clrMapOvr>
    <a:masterClrMapping/>
  </p:clrMapOvr>
  <p:hf sldNum="0" hdr="0" ftr="0" dt="0"/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515160"/>
      </p:ext>
    </p:extLst>
  </p:cSld>
  <p:clrMapOvr>
    <a:masterClrMapping/>
  </p:clrMapOvr>
  <p:hf sldNum="0" hdr="0" ftr="0" dt="0"/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10015"/>
      </p:ext>
    </p:extLst>
  </p:cSld>
  <p:clrMapOvr>
    <a:masterClrMapping/>
  </p:clrMapOvr>
  <p:hf sldNum="0" hdr="0" ftr="0" dt="0"/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149797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953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5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21" Type="http://schemas.openxmlformats.org/officeDocument/2006/relationships/image" Target="../media/image5.png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17" Type="http://schemas.openxmlformats.org/officeDocument/2006/relationships/slideLayout" Target="../slideLayouts/slideLayout39.xml"/><Relationship Id="rId2" Type="http://schemas.openxmlformats.org/officeDocument/2006/relationships/slideLayout" Target="../slideLayouts/slideLayout24.xml"/><Relationship Id="rId16" Type="http://schemas.openxmlformats.org/officeDocument/2006/relationships/slideLayout" Target="../slideLayouts/slideLayout38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2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slideLayout" Target="../slideLayouts/slideLayout36.xml"/><Relationship Id="rId22" Type="http://schemas.openxmlformats.org/officeDocument/2006/relationships/image" Target="../media/image6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7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42.xml"/><Relationship Id="rId7" Type="http://schemas.openxmlformats.org/officeDocument/2006/relationships/slideLayout" Target="../slideLayouts/slideLayout46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50.xml"/><Relationship Id="rId5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9.xml"/><Relationship Id="rId4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8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slideLayout" Target="../slideLayouts/slideLayout63.xml"/><Relationship Id="rId18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0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image" Target="../media/image10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5.xml"/><Relationship Id="rId13" Type="http://schemas.openxmlformats.org/officeDocument/2006/relationships/slideLayout" Target="../slideLayouts/slideLayout80.xml"/><Relationship Id="rId18" Type="http://schemas.openxmlformats.org/officeDocument/2006/relationships/theme" Target="../theme/theme6.xml"/><Relationship Id="rId3" Type="http://schemas.openxmlformats.org/officeDocument/2006/relationships/slideLayout" Target="../slideLayouts/slideLayout70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74.xml"/><Relationship Id="rId12" Type="http://schemas.openxmlformats.org/officeDocument/2006/relationships/slideLayout" Target="../slideLayouts/slideLayout79.xml"/><Relationship Id="rId17" Type="http://schemas.openxmlformats.org/officeDocument/2006/relationships/slideLayout" Target="../slideLayouts/slideLayout84.xml"/><Relationship Id="rId2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83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68.xml"/><Relationship Id="rId6" Type="http://schemas.openxmlformats.org/officeDocument/2006/relationships/slideLayout" Target="../slideLayouts/slideLayout73.xml"/><Relationship Id="rId11" Type="http://schemas.openxmlformats.org/officeDocument/2006/relationships/slideLayout" Target="../slideLayouts/slideLayout78.xml"/><Relationship Id="rId5" Type="http://schemas.openxmlformats.org/officeDocument/2006/relationships/slideLayout" Target="../slideLayouts/slideLayout72.xml"/><Relationship Id="rId15" Type="http://schemas.openxmlformats.org/officeDocument/2006/relationships/slideLayout" Target="../slideLayouts/slideLayout82.xml"/><Relationship Id="rId10" Type="http://schemas.openxmlformats.org/officeDocument/2006/relationships/slideLayout" Target="../slideLayouts/slideLayout77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71.xml"/><Relationship Id="rId9" Type="http://schemas.openxmlformats.org/officeDocument/2006/relationships/slideLayout" Target="../slideLayouts/slideLayout76.xml"/><Relationship Id="rId14" Type="http://schemas.openxmlformats.org/officeDocument/2006/relationships/slideLayout" Target="../slideLayouts/slideLayout81.xml"/><Relationship Id="rId22" Type="http://schemas.openxmlformats.org/officeDocument/2006/relationships/image" Target="../media/image14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2.xml"/><Relationship Id="rId13" Type="http://schemas.openxmlformats.org/officeDocument/2006/relationships/slideLayout" Target="../slideLayouts/slideLayout97.xml"/><Relationship Id="rId3" Type="http://schemas.openxmlformats.org/officeDocument/2006/relationships/slideLayout" Target="../slideLayouts/slideLayout87.xml"/><Relationship Id="rId7" Type="http://schemas.openxmlformats.org/officeDocument/2006/relationships/slideLayout" Target="../slideLayouts/slideLayout91.xml"/><Relationship Id="rId12" Type="http://schemas.openxmlformats.org/officeDocument/2006/relationships/slideLayout" Target="../slideLayouts/slideLayout96.xml"/><Relationship Id="rId17" Type="http://schemas.openxmlformats.org/officeDocument/2006/relationships/theme" Target="../theme/theme7.xml"/><Relationship Id="rId2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5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9.xml"/><Relationship Id="rId10" Type="http://schemas.openxmlformats.org/officeDocument/2006/relationships/slideLayout" Target="../slideLayouts/slideLayout94.xml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8.xml"/><Relationship Id="rId13" Type="http://schemas.openxmlformats.org/officeDocument/2006/relationships/slideLayout" Target="../slideLayouts/slideLayout113.xml"/><Relationship Id="rId18" Type="http://schemas.openxmlformats.org/officeDocument/2006/relationships/theme" Target="../theme/theme8.xml"/><Relationship Id="rId3" Type="http://schemas.openxmlformats.org/officeDocument/2006/relationships/slideLayout" Target="../slideLayouts/slideLayout103.xml"/><Relationship Id="rId21" Type="http://schemas.openxmlformats.org/officeDocument/2006/relationships/image" Target="../media/image17.png"/><Relationship Id="rId7" Type="http://schemas.openxmlformats.org/officeDocument/2006/relationships/slideLayout" Target="../slideLayouts/slideLayout107.xml"/><Relationship Id="rId12" Type="http://schemas.openxmlformats.org/officeDocument/2006/relationships/slideLayout" Target="../slideLayouts/slideLayout112.xml"/><Relationship Id="rId17" Type="http://schemas.openxmlformats.org/officeDocument/2006/relationships/slideLayout" Target="../slideLayouts/slideLayout117.xml"/><Relationship Id="rId2" Type="http://schemas.openxmlformats.org/officeDocument/2006/relationships/slideLayout" Target="../slideLayouts/slideLayout102.xml"/><Relationship Id="rId16" Type="http://schemas.openxmlformats.org/officeDocument/2006/relationships/slideLayout" Target="../slideLayouts/slideLayout116.xml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6.xml"/><Relationship Id="rId11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05.xml"/><Relationship Id="rId1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10.xml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04.xml"/><Relationship Id="rId9" Type="http://schemas.openxmlformats.org/officeDocument/2006/relationships/slideLayout" Target="../slideLayouts/slideLayout109.xml"/><Relationship Id="rId14" Type="http://schemas.openxmlformats.org/officeDocument/2006/relationships/slideLayout" Target="../slideLayouts/slideLayout114.xml"/><Relationship Id="rId22" Type="http://schemas.openxmlformats.org/officeDocument/2006/relationships/image" Target="../media/image18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5.xml"/><Relationship Id="rId13" Type="http://schemas.openxmlformats.org/officeDocument/2006/relationships/slideLayout" Target="../slideLayouts/slideLayout130.xml"/><Relationship Id="rId18" Type="http://schemas.openxmlformats.org/officeDocument/2006/relationships/theme" Target="../theme/theme9.xml"/><Relationship Id="rId3" Type="http://schemas.openxmlformats.org/officeDocument/2006/relationships/slideLayout" Target="../slideLayouts/slideLayout120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124.xml"/><Relationship Id="rId12" Type="http://schemas.openxmlformats.org/officeDocument/2006/relationships/slideLayout" Target="../slideLayouts/slideLayout129.xml"/><Relationship Id="rId17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33.xml"/><Relationship Id="rId20" Type="http://schemas.openxmlformats.org/officeDocument/2006/relationships/image" Target="../media/image8.png"/><Relationship Id="rId1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2.xml"/><Relationship Id="rId15" Type="http://schemas.openxmlformats.org/officeDocument/2006/relationships/slideLayout" Target="../slideLayouts/slideLayout132.xml"/><Relationship Id="rId10" Type="http://schemas.openxmlformats.org/officeDocument/2006/relationships/slideLayout" Target="../slideLayouts/slideLayout127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6.xml"/><Relationship Id="rId14" Type="http://schemas.openxmlformats.org/officeDocument/2006/relationships/slideLayout" Target="../slideLayouts/slideLayout131.xml"/><Relationship Id="rId22" Type="http://schemas.openxmlformats.org/officeDocument/2006/relationships/image" Target="../media/image10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slideLayout" Target="../slideLayouts/slideLayout147.xml"/><Relationship Id="rId18" Type="http://schemas.openxmlformats.org/officeDocument/2006/relationships/theme" Target="../theme/theme10.xml"/><Relationship Id="rId3" Type="http://schemas.openxmlformats.org/officeDocument/2006/relationships/slideLayout" Target="../slideLayouts/slideLayout137.xml"/><Relationship Id="rId21" Type="http://schemas.openxmlformats.org/officeDocument/2006/relationships/image" Target="../media/image13.png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17" Type="http://schemas.openxmlformats.org/officeDocument/2006/relationships/slideLayout" Target="../slideLayouts/slideLayout151.xml"/><Relationship Id="rId2" Type="http://schemas.openxmlformats.org/officeDocument/2006/relationships/slideLayout" Target="../slideLayouts/slideLayout136.xml"/><Relationship Id="rId16" Type="http://schemas.openxmlformats.org/officeDocument/2006/relationships/slideLayout" Target="../slideLayouts/slideLayout150.xml"/><Relationship Id="rId20" Type="http://schemas.openxmlformats.org/officeDocument/2006/relationships/image" Target="../media/image12.png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slideLayout" Target="../slideLayouts/slideLayout149.xml"/><Relationship Id="rId10" Type="http://schemas.openxmlformats.org/officeDocument/2006/relationships/slideLayout" Target="../slideLayouts/slideLayout144.xml"/><Relationship Id="rId19" Type="http://schemas.openxmlformats.org/officeDocument/2006/relationships/image" Target="../media/image11.png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slideLayout" Target="../slideLayouts/slideLayout148.xml"/><Relationship Id="rId22" Type="http://schemas.openxmlformats.org/officeDocument/2006/relationships/image" Target="../media/image1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2469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06" r:id="rId6"/>
    <p:sldLayoutId id="2147483702" r:id="rId7"/>
    <p:sldLayoutId id="2147483703" r:id="rId8"/>
    <p:sldLayoutId id="2147483704" r:id="rId9"/>
    <p:sldLayoutId id="2147483705" r:id="rId10"/>
    <p:sldLayoutId id="214748370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233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700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9432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15145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6948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  <p:sldLayoutId id="2147483786" r:id="rId12"/>
    <p:sldLayoutId id="2147483787" r:id="rId13"/>
    <p:sldLayoutId id="2147483788" r:id="rId14"/>
    <p:sldLayoutId id="2147483789" r:id="rId15"/>
    <p:sldLayoutId id="2147483790" r:id="rId16"/>
    <p:sldLayoutId id="2147483791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788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  <p:sldLayoutId id="2147483808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60000"/>
                  <a:lumOff val="40000"/>
                  <a:alpha val="7000"/>
                </a:schemeClr>
              </a:gs>
              <a:gs pos="69000">
                <a:schemeClr val="accent1">
                  <a:lumMod val="60000"/>
                  <a:lumOff val="40000"/>
                  <a:alpha val="0"/>
                </a:schemeClr>
              </a:gs>
              <a:gs pos="36000">
                <a:schemeClr val="accent1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13"/>
          <a:stretch/>
        </p:blipFill>
        <p:spPr>
          <a:xfrm>
            <a:off x="8000197" y="0"/>
            <a:ext cx="1603387" cy="11430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199"/>
          <a:stretch/>
        </p:blipFill>
        <p:spPr>
          <a:xfrm>
            <a:off x="8609012" y="6092866"/>
            <a:ext cx="993734" cy="76513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54434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23775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28" r:id="rId1"/>
    <p:sldLayoutId id="2147483829" r:id="rId2"/>
    <p:sldLayoutId id="2147483830" r:id="rId3"/>
    <p:sldLayoutId id="2147483831" r:id="rId4"/>
    <p:sldLayoutId id="2147483832" r:id="rId5"/>
    <p:sldLayoutId id="2147483833" r:id="rId6"/>
    <p:sldLayoutId id="2147483834" r:id="rId7"/>
    <p:sldLayoutId id="2147483835" r:id="rId8"/>
    <p:sldLayoutId id="2147483836" r:id="rId9"/>
    <p:sldLayoutId id="2147483837" r:id="rId10"/>
    <p:sldLayoutId id="2147483838" r:id="rId11"/>
    <p:sldLayoutId id="2147483839" r:id="rId12"/>
    <p:sldLayoutId id="2147483840" r:id="rId13"/>
    <p:sldLayoutId id="2147483841" r:id="rId14"/>
    <p:sldLayoutId id="2147483842" r:id="rId15"/>
    <p:sldLayoutId id="2147483843" r:id="rId16"/>
    <p:sldLayoutId id="2147483844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7/21/2025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42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6" r:id="rId1"/>
    <p:sldLayoutId id="2147483847" r:id="rId2"/>
    <p:sldLayoutId id="2147483848" r:id="rId3"/>
    <p:sldLayoutId id="2147483849" r:id="rId4"/>
    <p:sldLayoutId id="2147483850" r:id="rId5"/>
    <p:sldLayoutId id="2147483851" r:id="rId6"/>
    <p:sldLayoutId id="2147483852" r:id="rId7"/>
    <p:sldLayoutId id="2147483853" r:id="rId8"/>
    <p:sldLayoutId id="2147483854" r:id="rId9"/>
    <p:sldLayoutId id="2147483855" r:id="rId10"/>
    <p:sldLayoutId id="2147483856" r:id="rId11"/>
    <p:sldLayoutId id="2147483857" r:id="rId12"/>
    <p:sldLayoutId id="2147483858" r:id="rId13"/>
    <p:sldLayoutId id="2147483859" r:id="rId14"/>
    <p:sldLayoutId id="2147483860" r:id="rId15"/>
    <p:sldLayoutId id="2147483861" r:id="rId16"/>
    <p:sldLayoutId id="2147483862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>
            <a:lumMod val="60000"/>
            <a:lumOff val="4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28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2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slideLayout" Target="../slideLayouts/slideLayout23.xml"/><Relationship Id="rId1" Type="http://schemas.openxmlformats.org/officeDocument/2006/relationships/themeOverride" Target="../theme/themeOverride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0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3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4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.xml"/><Relationship Id="rId3" Type="http://schemas.openxmlformats.org/officeDocument/2006/relationships/image" Target="../media/image3.png"/><Relationship Id="rId7" Type="http://schemas.openxmlformats.org/officeDocument/2006/relationships/diagramData" Target="../diagrams/data1.xml"/><Relationship Id="rId2" Type="http://schemas.openxmlformats.org/officeDocument/2006/relationships/slideLayout" Target="../slideLayouts/slideLayout28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6.png"/><Relationship Id="rId11" Type="http://schemas.microsoft.com/office/2007/relationships/diagramDrawing" Target="../diagrams/drawing1.xml"/><Relationship Id="rId5" Type="http://schemas.openxmlformats.org/officeDocument/2006/relationships/image" Target="../media/image5.png"/><Relationship Id="rId10" Type="http://schemas.openxmlformats.org/officeDocument/2006/relationships/diagramColors" Target="../diagrams/colors1.xml"/><Relationship Id="rId4" Type="http://schemas.openxmlformats.org/officeDocument/2006/relationships/image" Target="../media/image4.png"/><Relationship Id="rId9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90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4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4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F9B95-9045-48D2-B9F3-2927E98F54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5AA86F-6A4D-4BCB-A045-D992CDC295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49D7415-2F11-44C2-B6AA-13A25B6814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615029-5368-65ED-C2CA-1CC33CA420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48656" y="914400"/>
            <a:ext cx="6236208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4800" b="1" dirty="0"/>
              <a:t>Car Damage Classification For insurance verification</a:t>
            </a:r>
          </a:p>
        </p:txBody>
      </p:sp>
      <p:pic>
        <p:nvPicPr>
          <p:cNvPr id="6" name="Picture 5" descr="Cars parked in a line">
            <a:extLst>
              <a:ext uri="{FF2B5EF4-FFF2-40B4-BE49-F238E27FC236}">
                <a16:creationId xmlns:a16="http://schemas.microsoft.com/office/drawing/2014/main" id="{D4FCE205-926E-F676-E79B-020A691E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919" r="11081"/>
          <a:stretch>
            <a:fillRect/>
          </a:stretch>
        </p:blipFill>
        <p:spPr>
          <a:xfrm>
            <a:off x="20" y="-1"/>
            <a:ext cx="4663420" cy="685800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E57F3D-33BE-4306-87E6-2457637195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46871" y="722376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52F7824E-AA57-D72B-64EB-BCC3AE05D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48656" y="2665477"/>
            <a:ext cx="6236208" cy="39410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Course: ML 2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Lecturers: Lasha </a:t>
            </a:r>
            <a:r>
              <a:rPr lang="en-US" sz="2400" dirty="0" err="1"/>
              <a:t>Chochua</a:t>
            </a:r>
            <a:r>
              <a:rPr lang="en-US" sz="2400" dirty="0"/>
              <a:t>, Shota </a:t>
            </a:r>
            <a:r>
              <a:rPr lang="en-US" sz="2400" dirty="0" err="1"/>
              <a:t>Natenadze</a:t>
            </a:r>
            <a:endParaRPr lang="en-US" sz="24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Student: Durmishkhan(Ucha) Gigineishvili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2400" dirty="0"/>
              <a:t>July, 2025 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76764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BD2B3A-6E14-4F75-2795-3D5B3049C8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3343" y="1137215"/>
            <a:ext cx="5804426" cy="3376766"/>
          </a:xfrm>
        </p:spPr>
        <p:txBody>
          <a:bodyPr anchor="t">
            <a:normAutofit/>
          </a:bodyPr>
          <a:lstStyle/>
          <a:p>
            <a:r>
              <a:rPr lang="en-US" sz="6600" b="1" dirty="0"/>
              <a:t>Introduction &amp; Motivation</a:t>
            </a:r>
            <a:endParaRPr lang="ru-RU" sz="6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6DA6CD-09EF-2A90-F890-5D58819F4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33343" y="3429000"/>
            <a:ext cx="5412440" cy="2272025"/>
          </a:xfrm>
        </p:spPr>
        <p:txBody>
          <a:bodyPr anchor="b"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800" dirty="0"/>
              <a:t>Why is it economics related?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insurance fraud detection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automation/reducing losses/costs</a:t>
            </a:r>
          </a:p>
          <a:p>
            <a:pPr>
              <a:lnSpc>
                <a:spcPct val="100000"/>
              </a:lnSpc>
            </a:pPr>
            <a:r>
              <a:rPr lang="en-US" sz="2800" dirty="0"/>
              <a:t> reducing corruption</a:t>
            </a:r>
            <a:endParaRPr lang="ru-RU" sz="2800" dirty="0"/>
          </a:p>
        </p:txBody>
      </p:sp>
      <p:pic>
        <p:nvPicPr>
          <p:cNvPr id="7" name="Graphic 6" descr="Lightbulb">
            <a:extLst>
              <a:ext uri="{FF2B5EF4-FFF2-40B4-BE49-F238E27FC236}">
                <a16:creationId xmlns:a16="http://schemas.microsoft.com/office/drawing/2014/main" id="{74DEF969-F721-81F1-718E-A014E84338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5383" y="1171349"/>
            <a:ext cx="4515301" cy="4515301"/>
          </a:xfrm>
          <a:prstGeom prst="rect">
            <a:avLst/>
          </a:prstGeom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723900"/>
            <a:ext cx="57150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8E634B8-311A-4810-A5DB-7043D02804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33343" y="6134100"/>
            <a:ext cx="5715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58428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89AEC-6A77-5DD8-BAF3-512846E206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91440" y="1265162"/>
            <a:ext cx="5740400" cy="2163838"/>
          </a:xfrm>
        </p:spPr>
        <p:txBody>
          <a:bodyPr>
            <a:normAutofit fontScale="90000"/>
          </a:bodyPr>
          <a:lstStyle/>
          <a:p>
            <a:r>
              <a:rPr lang="en-US" dirty="0"/>
              <a:t>Datasets </a:t>
            </a:r>
            <a:r>
              <a:rPr lang="en-US" dirty="0" err="1"/>
              <a:t>OvervieW</a:t>
            </a:r>
            <a:r>
              <a:rPr lang="en-US" dirty="0"/>
              <a:t> &amp; Preprocessing: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9784A-F851-207F-0BBA-0FFE605E44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96560" y="396240"/>
            <a:ext cx="6601534" cy="2703871"/>
          </a:xfrm>
        </p:spPr>
        <p:txBody>
          <a:bodyPr>
            <a:noAutofit/>
          </a:bodyPr>
          <a:lstStyle/>
          <a:p>
            <a:r>
              <a:rPr lang="en-US" sz="2000" dirty="0"/>
              <a:t> </a:t>
            </a:r>
            <a:r>
              <a:rPr lang="en-US" sz="2000" b="1" i="1" dirty="0"/>
              <a:t>Data sources</a:t>
            </a:r>
            <a:r>
              <a:rPr lang="en-US" sz="2000" dirty="0"/>
              <a:t>: 3 different Kaggle datasets used to collect the 6 classes</a:t>
            </a:r>
          </a:p>
          <a:p>
            <a:r>
              <a:rPr lang="en-US" sz="2000" b="1" i="1" dirty="0"/>
              <a:t>Classes: </a:t>
            </a:r>
            <a:br>
              <a:rPr lang="en-US" sz="2000" dirty="0"/>
            </a:br>
            <a:r>
              <a:rPr lang="en-US" sz="2000" dirty="0"/>
              <a:t>1) Flat_Tire</a:t>
            </a:r>
          </a:p>
          <a:p>
            <a:r>
              <a:rPr lang="en-US" sz="2000" dirty="0"/>
              <a:t>2)Glass shatter</a:t>
            </a:r>
          </a:p>
          <a:p>
            <a:r>
              <a:rPr lang="en-US" sz="2000" dirty="0"/>
              <a:t>3)Lamp broken</a:t>
            </a:r>
          </a:p>
          <a:p>
            <a:r>
              <a:rPr lang="en-US" sz="2000" dirty="0"/>
              <a:t>4)No damage</a:t>
            </a:r>
            <a:br>
              <a:rPr lang="en-US" sz="2000" dirty="0"/>
            </a:br>
            <a:r>
              <a:rPr lang="en-US" sz="2000" dirty="0"/>
              <a:t>5)Significant damage</a:t>
            </a:r>
          </a:p>
          <a:p>
            <a:r>
              <a:rPr lang="en-US" sz="2000" dirty="0"/>
              <a:t>6) Surface damage (dents , scratches)</a:t>
            </a:r>
          </a:p>
        </p:txBody>
      </p:sp>
      <p:pic>
        <p:nvPicPr>
          <p:cNvPr id="5" name="Picture 4" descr="A collage of a white car&#10;&#10;AI-generated content may be incorrect.">
            <a:extLst>
              <a:ext uri="{FF2B5EF4-FFF2-40B4-BE49-F238E27FC236}">
                <a16:creationId xmlns:a16="http://schemas.microsoft.com/office/drawing/2014/main" id="{554D40D1-1354-9B81-8DAE-BE55CB3E3F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694162"/>
            <a:ext cx="12192000" cy="216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2108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4FD8E-587A-7F33-6CEE-0B45C91D24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09350"/>
            <a:ext cx="11279540" cy="889379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Initial raw dataset imbalance visualization:</a:t>
            </a:r>
            <a:endParaRPr lang="ru-RU" sz="4800" dirty="0"/>
          </a:p>
        </p:txBody>
      </p:sp>
      <p:pic>
        <p:nvPicPr>
          <p:cNvPr id="5" name="Picture 4" descr="A graph of a bar chart">
            <a:extLst>
              <a:ext uri="{FF2B5EF4-FFF2-40B4-BE49-F238E27FC236}">
                <a16:creationId xmlns:a16="http://schemas.microsoft.com/office/drawing/2014/main" id="{6CF25092-14A2-144D-3903-814FC8CB6B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10239"/>
            <a:ext cx="11125200" cy="5647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8247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4D915C-F42C-F078-00E9-E886CC392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404723" cy="1400530"/>
          </a:xfrm>
        </p:spPr>
        <p:txBody>
          <a:bodyPr/>
          <a:lstStyle/>
          <a:p>
            <a:r>
              <a:rPr lang="en-US" dirty="0"/>
              <a:t>Initial dataset distribution after cleaning from duplicates and similar redundant pictures:</a:t>
            </a:r>
            <a:endParaRPr lang="ru-RU" dirty="0"/>
          </a:p>
        </p:txBody>
      </p:sp>
      <p:pic>
        <p:nvPicPr>
          <p:cNvPr id="4" name="Picture 3" descr="A screenshot of a graph&#10;&#10;AI-generated content may be incorrect.">
            <a:extLst>
              <a:ext uri="{FF2B5EF4-FFF2-40B4-BE49-F238E27FC236}">
                <a16:creationId xmlns:a16="http://schemas.microsoft.com/office/drawing/2014/main" id="{93AAF34A-F1AE-B5F5-9699-2140F9178B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26644"/>
            <a:ext cx="11104880" cy="4831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05000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CD14DB-BB81-479F-A1FC-1C75640E9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43A91B-7CA7-4592-A975-73B1BF8C4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 7">
            <a:extLst>
              <a:ext uri="{FF2B5EF4-FFF2-40B4-BE49-F238E27FC236}">
                <a16:creationId xmlns:a16="http://schemas.microsoft.com/office/drawing/2014/main" id="{EC471314-E46A-414B-8D91-74880E84F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1460230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entury Gothic" panose="020B0502020202020204"/>
              <a:ea typeface="+mn-ea"/>
              <a:cs typeface="+mn-cs"/>
            </a:endParaRPr>
          </a:p>
        </p:txBody>
      </p:sp>
      <p:sp useBgFill="1">
        <p:nvSpPr>
          <p:cNvPr id="27" name="Freeform: Shape 26">
            <a:extLst>
              <a:ext uri="{FF2B5EF4-FFF2-40B4-BE49-F238E27FC236}">
                <a16:creationId xmlns:a16="http://schemas.microsoft.com/office/drawing/2014/main" id="{6A681326-1C9D-44A3-A627-3871BDAE4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1762067"/>
            <a:ext cx="12192417" cy="5095933"/>
          </a:xfrm>
          <a:custGeom>
            <a:avLst/>
            <a:gdLst>
              <a:gd name="connsiteX0" fmla="*/ 0 w 12192417"/>
              <a:gd name="connsiteY0" fmla="*/ 0 h 5095933"/>
              <a:gd name="connsiteX1" fmla="*/ 71931 w 12192417"/>
              <a:gd name="connsiteY1" fmla="*/ 12261 h 5095933"/>
              <a:gd name="connsiteX2" fmla="*/ 282848 w 12192417"/>
              <a:gd name="connsiteY2" fmla="*/ 48343 h 5095933"/>
              <a:gd name="connsiteX3" fmla="*/ 436463 w 12192417"/>
              <a:gd name="connsiteY3" fmla="*/ 73565 h 5095933"/>
              <a:gd name="connsiteX4" fmla="*/ 619338 w 12192417"/>
              <a:gd name="connsiteY4" fmla="*/ 100188 h 5095933"/>
              <a:gd name="connsiteX5" fmla="*/ 836350 w 12192417"/>
              <a:gd name="connsiteY5" fmla="*/ 132066 h 5095933"/>
              <a:gd name="connsiteX6" fmla="*/ 1076527 w 12192417"/>
              <a:gd name="connsiteY6" fmla="*/ 165696 h 5095933"/>
              <a:gd name="connsiteX7" fmla="*/ 1347183 w 12192417"/>
              <a:gd name="connsiteY7" fmla="*/ 201077 h 5095933"/>
              <a:gd name="connsiteX8" fmla="*/ 1642222 w 12192417"/>
              <a:gd name="connsiteY8" fmla="*/ 238560 h 5095933"/>
              <a:gd name="connsiteX9" fmla="*/ 1962863 w 12192417"/>
              <a:gd name="connsiteY9" fmla="*/ 276043 h 5095933"/>
              <a:gd name="connsiteX10" fmla="*/ 2304231 w 12192417"/>
              <a:gd name="connsiteY10" fmla="*/ 314227 h 5095933"/>
              <a:gd name="connsiteX11" fmla="*/ 2672420 w 12192417"/>
              <a:gd name="connsiteY11" fmla="*/ 349608 h 5095933"/>
              <a:gd name="connsiteX12" fmla="*/ 3057677 w 12192417"/>
              <a:gd name="connsiteY12" fmla="*/ 383588 h 5095933"/>
              <a:gd name="connsiteX13" fmla="*/ 3464880 w 12192417"/>
              <a:gd name="connsiteY13" fmla="*/ 414415 h 5095933"/>
              <a:gd name="connsiteX14" fmla="*/ 3889151 w 12192417"/>
              <a:gd name="connsiteY14" fmla="*/ 443841 h 5095933"/>
              <a:gd name="connsiteX15" fmla="*/ 4331709 w 12192417"/>
              <a:gd name="connsiteY15" fmla="*/ 471515 h 5095933"/>
              <a:gd name="connsiteX16" fmla="*/ 4558475 w 12192417"/>
              <a:gd name="connsiteY16" fmla="*/ 481324 h 5095933"/>
              <a:gd name="connsiteX17" fmla="*/ 4790117 w 12192417"/>
              <a:gd name="connsiteY17" fmla="*/ 492183 h 5095933"/>
              <a:gd name="connsiteX18" fmla="*/ 5025417 w 12192417"/>
              <a:gd name="connsiteY18" fmla="*/ 502342 h 5095933"/>
              <a:gd name="connsiteX19" fmla="*/ 5261936 w 12192417"/>
              <a:gd name="connsiteY19" fmla="*/ 508998 h 5095933"/>
              <a:gd name="connsiteX20" fmla="*/ 5503331 w 12192417"/>
              <a:gd name="connsiteY20" fmla="*/ 514953 h 5095933"/>
              <a:gd name="connsiteX21" fmla="*/ 5747166 w 12192417"/>
              <a:gd name="connsiteY21" fmla="*/ 521259 h 5095933"/>
              <a:gd name="connsiteX22" fmla="*/ 5995876 w 12192417"/>
              <a:gd name="connsiteY22" fmla="*/ 525463 h 5095933"/>
              <a:gd name="connsiteX23" fmla="*/ 6247025 w 12192417"/>
              <a:gd name="connsiteY23" fmla="*/ 525463 h 5095933"/>
              <a:gd name="connsiteX24" fmla="*/ 6500612 w 12192417"/>
              <a:gd name="connsiteY24" fmla="*/ 527565 h 5095933"/>
              <a:gd name="connsiteX25" fmla="*/ 6756638 w 12192417"/>
              <a:gd name="connsiteY25" fmla="*/ 525463 h 5095933"/>
              <a:gd name="connsiteX26" fmla="*/ 7016321 w 12192417"/>
              <a:gd name="connsiteY26" fmla="*/ 521259 h 5095933"/>
              <a:gd name="connsiteX27" fmla="*/ 7276004 w 12192417"/>
              <a:gd name="connsiteY27" fmla="*/ 517406 h 5095933"/>
              <a:gd name="connsiteX28" fmla="*/ 7539344 w 12192417"/>
              <a:gd name="connsiteY28" fmla="*/ 508998 h 5095933"/>
              <a:gd name="connsiteX29" fmla="*/ 7805123 w 12192417"/>
              <a:gd name="connsiteY29" fmla="*/ 500241 h 5095933"/>
              <a:gd name="connsiteX30" fmla="*/ 8070902 w 12192417"/>
              <a:gd name="connsiteY30" fmla="*/ 490082 h 5095933"/>
              <a:gd name="connsiteX31" fmla="*/ 8339120 w 12192417"/>
              <a:gd name="connsiteY31" fmla="*/ 475719 h 5095933"/>
              <a:gd name="connsiteX32" fmla="*/ 8609775 w 12192417"/>
              <a:gd name="connsiteY32" fmla="*/ 458554 h 5095933"/>
              <a:gd name="connsiteX33" fmla="*/ 8881650 w 12192417"/>
              <a:gd name="connsiteY33" fmla="*/ 442089 h 5095933"/>
              <a:gd name="connsiteX34" fmla="*/ 9153525 w 12192417"/>
              <a:gd name="connsiteY34" fmla="*/ 421071 h 5095933"/>
              <a:gd name="connsiteX35" fmla="*/ 9429057 w 12192417"/>
              <a:gd name="connsiteY35" fmla="*/ 395849 h 5095933"/>
              <a:gd name="connsiteX36" fmla="*/ 9700932 w 12192417"/>
              <a:gd name="connsiteY36" fmla="*/ 370626 h 5095933"/>
              <a:gd name="connsiteX37" fmla="*/ 9977683 w 12192417"/>
              <a:gd name="connsiteY37" fmla="*/ 341551 h 5095933"/>
              <a:gd name="connsiteX38" fmla="*/ 10255654 w 12192417"/>
              <a:gd name="connsiteY38" fmla="*/ 309673 h 5095933"/>
              <a:gd name="connsiteX39" fmla="*/ 10529967 w 12192417"/>
              <a:gd name="connsiteY39" fmla="*/ 276043 h 5095933"/>
              <a:gd name="connsiteX40" fmla="*/ 10807938 w 12192417"/>
              <a:gd name="connsiteY40" fmla="*/ 236809 h 5095933"/>
              <a:gd name="connsiteX41" fmla="*/ 11084689 w 12192417"/>
              <a:gd name="connsiteY41" fmla="*/ 194772 h 5095933"/>
              <a:gd name="connsiteX42" fmla="*/ 11362660 w 12192417"/>
              <a:gd name="connsiteY42" fmla="*/ 153085 h 5095933"/>
              <a:gd name="connsiteX43" fmla="*/ 11639411 w 12192417"/>
              <a:gd name="connsiteY43" fmla="*/ 104392 h 5095933"/>
              <a:gd name="connsiteX44" fmla="*/ 11914944 w 12192417"/>
              <a:gd name="connsiteY44" fmla="*/ 54648 h 5095933"/>
              <a:gd name="connsiteX45" fmla="*/ 12191695 w 12192417"/>
              <a:gd name="connsiteY45" fmla="*/ 2452 h 5095933"/>
              <a:gd name="connsiteX46" fmla="*/ 12191695 w 12192417"/>
              <a:gd name="connsiteY46" fmla="*/ 2162231 h 5095933"/>
              <a:gd name="connsiteX47" fmla="*/ 12192417 w 12192417"/>
              <a:gd name="connsiteY47" fmla="*/ 2162231 h 5095933"/>
              <a:gd name="connsiteX48" fmla="*/ 12192417 w 12192417"/>
              <a:gd name="connsiteY48" fmla="*/ 5095933 h 5095933"/>
              <a:gd name="connsiteX49" fmla="*/ 0 w 12192417"/>
              <a:gd name="connsiteY49" fmla="*/ 5095933 h 5095933"/>
              <a:gd name="connsiteX50" fmla="*/ 0 w 12192417"/>
              <a:gd name="connsiteY50" fmla="*/ 2791958 h 5095933"/>
              <a:gd name="connsiteX51" fmla="*/ 0 w 12192417"/>
              <a:gd name="connsiteY51" fmla="*/ 2162231 h 5095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417" h="5095933">
                <a:moveTo>
                  <a:pt x="0" y="0"/>
                </a:moveTo>
                <a:lnTo>
                  <a:pt x="71931" y="12261"/>
                </a:lnTo>
                <a:lnTo>
                  <a:pt x="282848" y="48343"/>
                </a:lnTo>
                <a:lnTo>
                  <a:pt x="436463" y="73565"/>
                </a:lnTo>
                <a:lnTo>
                  <a:pt x="619338" y="100188"/>
                </a:lnTo>
                <a:lnTo>
                  <a:pt x="836350" y="132066"/>
                </a:lnTo>
                <a:lnTo>
                  <a:pt x="1076527" y="165696"/>
                </a:lnTo>
                <a:lnTo>
                  <a:pt x="1347183" y="201077"/>
                </a:lnTo>
                <a:lnTo>
                  <a:pt x="1642222" y="238560"/>
                </a:lnTo>
                <a:lnTo>
                  <a:pt x="1962863" y="276043"/>
                </a:lnTo>
                <a:lnTo>
                  <a:pt x="2304231" y="314227"/>
                </a:lnTo>
                <a:lnTo>
                  <a:pt x="2672420" y="349608"/>
                </a:lnTo>
                <a:lnTo>
                  <a:pt x="3057677" y="383588"/>
                </a:lnTo>
                <a:lnTo>
                  <a:pt x="3464880" y="414415"/>
                </a:lnTo>
                <a:lnTo>
                  <a:pt x="3889151" y="443841"/>
                </a:lnTo>
                <a:lnTo>
                  <a:pt x="4331709" y="471515"/>
                </a:lnTo>
                <a:lnTo>
                  <a:pt x="4558475" y="481324"/>
                </a:lnTo>
                <a:lnTo>
                  <a:pt x="4790117" y="492183"/>
                </a:lnTo>
                <a:lnTo>
                  <a:pt x="5025417" y="502342"/>
                </a:lnTo>
                <a:lnTo>
                  <a:pt x="5261936" y="508998"/>
                </a:lnTo>
                <a:lnTo>
                  <a:pt x="5503331" y="514953"/>
                </a:lnTo>
                <a:lnTo>
                  <a:pt x="5747166" y="521259"/>
                </a:lnTo>
                <a:lnTo>
                  <a:pt x="5995876" y="525463"/>
                </a:lnTo>
                <a:lnTo>
                  <a:pt x="6247025" y="525463"/>
                </a:lnTo>
                <a:lnTo>
                  <a:pt x="6500612" y="527565"/>
                </a:lnTo>
                <a:lnTo>
                  <a:pt x="6756638" y="525463"/>
                </a:lnTo>
                <a:lnTo>
                  <a:pt x="7016321" y="521259"/>
                </a:lnTo>
                <a:lnTo>
                  <a:pt x="7276004" y="517406"/>
                </a:lnTo>
                <a:lnTo>
                  <a:pt x="7539344" y="508998"/>
                </a:lnTo>
                <a:lnTo>
                  <a:pt x="7805123" y="500241"/>
                </a:lnTo>
                <a:lnTo>
                  <a:pt x="8070902" y="490082"/>
                </a:lnTo>
                <a:lnTo>
                  <a:pt x="8339120" y="475719"/>
                </a:lnTo>
                <a:lnTo>
                  <a:pt x="8609775" y="458554"/>
                </a:lnTo>
                <a:lnTo>
                  <a:pt x="8881650" y="442089"/>
                </a:lnTo>
                <a:lnTo>
                  <a:pt x="9153525" y="421071"/>
                </a:lnTo>
                <a:lnTo>
                  <a:pt x="9429057" y="395849"/>
                </a:lnTo>
                <a:lnTo>
                  <a:pt x="9700932" y="370626"/>
                </a:lnTo>
                <a:lnTo>
                  <a:pt x="9977683" y="341551"/>
                </a:lnTo>
                <a:lnTo>
                  <a:pt x="10255654" y="309673"/>
                </a:lnTo>
                <a:lnTo>
                  <a:pt x="10529967" y="276043"/>
                </a:lnTo>
                <a:lnTo>
                  <a:pt x="10807938" y="236809"/>
                </a:lnTo>
                <a:lnTo>
                  <a:pt x="11084689" y="194772"/>
                </a:lnTo>
                <a:lnTo>
                  <a:pt x="11362660" y="153085"/>
                </a:lnTo>
                <a:lnTo>
                  <a:pt x="11639411" y="104392"/>
                </a:lnTo>
                <a:lnTo>
                  <a:pt x="11914944" y="54648"/>
                </a:lnTo>
                <a:lnTo>
                  <a:pt x="12191695" y="2452"/>
                </a:lnTo>
                <a:lnTo>
                  <a:pt x="12191695" y="2162231"/>
                </a:lnTo>
                <a:lnTo>
                  <a:pt x="12192417" y="2162231"/>
                </a:lnTo>
                <a:lnTo>
                  <a:pt x="12192417" y="5095933"/>
                </a:lnTo>
                <a:lnTo>
                  <a:pt x="0" y="5095933"/>
                </a:lnTo>
                <a:lnTo>
                  <a:pt x="0" y="2791958"/>
                </a:lnTo>
                <a:lnTo>
                  <a:pt x="0" y="2162231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5532D1-ABCE-A78F-393C-8C44CD95D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12" y="452718"/>
            <a:ext cx="8947522" cy="140053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marL="742950" indent="-742950">
              <a:lnSpc>
                <a:spcPct val="90000"/>
              </a:lnSpc>
            </a:pPr>
            <a:r>
              <a:rPr lang="en-US" sz="44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Then I separated dataset manually into Train, Validation and test parts.</a:t>
            </a:r>
            <a:br>
              <a:rPr lang="en-US" sz="2900" b="0" i="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2900" b="0" i="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263FE1-1A49-C84C-40C5-47C0A85AEFB5}"/>
              </a:ext>
            </a:extLst>
          </p:cNvPr>
          <p:cNvSpPr txBox="1"/>
          <p:nvPr/>
        </p:nvSpPr>
        <p:spPr>
          <a:xfrm>
            <a:off x="1103312" y="2763520"/>
            <a:ext cx="8946541" cy="34848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571500" indent="-571500" defTabSz="457200">
              <a:spcBef>
                <a:spcPts val="1000"/>
              </a:spcBef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</a:pPr>
            <a:r>
              <a:rPr lang="en-US" sz="3600" dirty="0">
                <a:latin typeface="+mj-lt"/>
                <a:ea typeface="+mj-ea"/>
                <a:cs typeface="+mj-cs"/>
              </a:rPr>
              <a:t>120-120 per class for validation-test. </a:t>
            </a:r>
            <a:br>
              <a:rPr lang="en-US" sz="3600" dirty="0">
                <a:latin typeface="+mj-lt"/>
                <a:ea typeface="+mj-ea"/>
                <a:cs typeface="+mj-cs"/>
              </a:rPr>
            </a:br>
            <a:r>
              <a:rPr lang="en-US" sz="3600" dirty="0">
                <a:latin typeface="+mj-lt"/>
                <a:ea typeface="+mj-ea"/>
                <a:cs typeface="+mj-cs"/>
              </a:rPr>
              <a:t>In total 720-720 validation-test unique pictures, remaining were dedicated to train set.</a:t>
            </a:r>
          </a:p>
        </p:txBody>
      </p:sp>
    </p:spTree>
    <p:extLst>
      <p:ext uri="{BB962C8B-B14F-4D97-AF65-F5344CB8AC3E}">
        <p14:creationId xmlns:p14="http://schemas.microsoft.com/office/powerpoint/2010/main" val="6108070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52BEFF1-896C-45B1-B02C-96A6A1BC38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BB237A14-61B1-4C00-A670-5D8D68A86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>
                  <a:alpha val="20000"/>
                </a:schemeClr>
              </a:solidFill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598F259-6F54-47A3-8D13-1603D786A3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/>
          <a:effectLst/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A768A8-4FED-4ED8-9E46-6BE72188EC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FE1BD8-55EC-2371-D6E5-A60F2C1423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>
              <a:lnSpc>
                <a:spcPct val="90000"/>
              </a:lnSpc>
            </a:pPr>
            <a: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Augmentations used on train set to upscale remaining pictures to 700 per class:</a:t>
            </a:r>
            <a:br>
              <a:rPr lang="en-US" sz="3300" b="0" i="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endParaRPr lang="en-US" sz="3300" b="0" i="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D6A3CA-E8E9-D393-2C3F-A5AF8C4DCB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5919503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horizontal flip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Collor jitter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rotation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affine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Random perspective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Gaussian blur</a:t>
            </a:r>
            <a:endParaRPr lang="en-US">
              <a:solidFill>
                <a:schemeClr val="tx1"/>
              </a:solidFill>
            </a:endParaRPr>
          </a:p>
          <a:p>
            <a:pPr>
              <a:buFont typeface="Wingdings 3" charset="2"/>
              <a:buChar char=""/>
            </a:pPr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790522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4799-98AD-0EAB-2888-305092EBD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Data augmentation results:</a:t>
            </a:r>
            <a:endParaRPr lang="ru-RU" dirty="0"/>
          </a:p>
        </p:txBody>
      </p:sp>
      <p:pic>
        <p:nvPicPr>
          <p:cNvPr id="3" name="Picture 2" descr="A graph with numbers and text&#10;&#10;AI-generated content may be incorrect.">
            <a:extLst>
              <a:ext uri="{FF2B5EF4-FFF2-40B4-BE49-F238E27FC236}">
                <a16:creationId xmlns:a16="http://schemas.microsoft.com/office/drawing/2014/main" id="{44137CCF-DA32-7E02-0874-B66A33F7F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715" y="1152983"/>
            <a:ext cx="9381033" cy="5570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52988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F052D-7677-CFD3-85E2-415B60C9C7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5967" y="1325880"/>
            <a:ext cx="4158334" cy="306650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>
                <a:solidFill>
                  <a:srgbClr val="EBEBEB"/>
                </a:solidFill>
              </a:rPr>
              <a:t>The final dataset structure used:</a:t>
            </a:r>
            <a:endParaRPr lang="ru-RU" sz="5400">
              <a:solidFill>
                <a:srgbClr val="EBEBEB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90E6F-D8A9-881B-0769-BDAD11DB5A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5967" y="4588329"/>
            <a:ext cx="4158334" cy="1621508"/>
          </a:xfrm>
        </p:spPr>
        <p:txBody>
          <a:bodyPr>
            <a:normAutofit/>
          </a:bodyPr>
          <a:lstStyle/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Train: 4200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Test: 720 pictures</a:t>
            </a:r>
          </a:p>
          <a:p>
            <a:r>
              <a:rPr lang="en-US" sz="1800">
                <a:solidFill>
                  <a:schemeClr val="tx2">
                    <a:lumMod val="40000"/>
                    <a:lumOff val="60000"/>
                  </a:schemeClr>
                </a:solidFill>
              </a:rPr>
              <a:t>Validation: 720 pictures</a:t>
            </a:r>
            <a:endParaRPr lang="ru-RU" sz="180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2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49646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4" name="Freeform: Shape 13">
            <a:extLst>
              <a:ext uri="{FF2B5EF4-FFF2-40B4-BE49-F238E27FC236}">
                <a16:creationId xmlns:a16="http://schemas.microsoft.com/office/drawing/2014/main" id="{D8B22DE2-C518-4F77-BE90-E1B6B1909D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68960" y="-68960"/>
            <a:ext cx="6858001" cy="6995918"/>
          </a:xfrm>
          <a:custGeom>
            <a:avLst/>
            <a:gdLst>
              <a:gd name="connsiteX0" fmla="*/ 6858001 w 6858001"/>
              <a:gd name="connsiteY0" fmla="*/ 1344715 h 6995918"/>
              <a:gd name="connsiteX1" fmla="*/ 6858001 w 6858001"/>
              <a:gd name="connsiteY1" fmla="*/ 1177 h 6995918"/>
              <a:gd name="connsiteX2" fmla="*/ 6702324 w 6858001"/>
              <a:gd name="connsiteY2" fmla="*/ 26222 h 6995918"/>
              <a:gd name="connsiteX3" fmla="*/ 6547333 w 6858001"/>
              <a:gd name="connsiteY3" fmla="*/ 50091 h 6995918"/>
              <a:gd name="connsiteX4" fmla="*/ 6391657 w 6858001"/>
              <a:gd name="connsiteY4" fmla="*/ 73455 h 6995918"/>
              <a:gd name="connsiteX5" fmla="*/ 6235294 w 6858001"/>
              <a:gd name="connsiteY5" fmla="*/ 93458 h 6995918"/>
              <a:gd name="connsiteX6" fmla="*/ 6079618 w 6858001"/>
              <a:gd name="connsiteY6" fmla="*/ 113629 h 6995918"/>
              <a:gd name="connsiteX7" fmla="*/ 5923255 w 6858001"/>
              <a:gd name="connsiteY7" fmla="*/ 132455 h 6995918"/>
              <a:gd name="connsiteX8" fmla="*/ 5768950 w 6858001"/>
              <a:gd name="connsiteY8" fmla="*/ 148591 h 6995918"/>
              <a:gd name="connsiteX9" fmla="*/ 5612588 w 6858001"/>
              <a:gd name="connsiteY9" fmla="*/ 163887 h 6995918"/>
              <a:gd name="connsiteX10" fmla="*/ 5456911 w 6858001"/>
              <a:gd name="connsiteY10" fmla="*/ 177839 h 6995918"/>
              <a:gd name="connsiteX11" fmla="*/ 5303978 w 6858001"/>
              <a:gd name="connsiteY11" fmla="*/ 189941 h 6995918"/>
              <a:gd name="connsiteX12" fmla="*/ 5148987 w 6858001"/>
              <a:gd name="connsiteY12" fmla="*/ 202044 h 6995918"/>
              <a:gd name="connsiteX13" fmla="*/ 4996054 w 6858001"/>
              <a:gd name="connsiteY13" fmla="*/ 212129 h 6995918"/>
              <a:gd name="connsiteX14" fmla="*/ 4843120 w 6858001"/>
              <a:gd name="connsiteY14" fmla="*/ 220029 h 6995918"/>
              <a:gd name="connsiteX15" fmla="*/ 4690873 w 6858001"/>
              <a:gd name="connsiteY15" fmla="*/ 228266 h 6995918"/>
              <a:gd name="connsiteX16" fmla="*/ 4539997 w 6858001"/>
              <a:gd name="connsiteY16" fmla="*/ 235157 h 6995918"/>
              <a:gd name="connsiteX17" fmla="*/ 4390492 w 6858001"/>
              <a:gd name="connsiteY17" fmla="*/ 240032 h 6995918"/>
              <a:gd name="connsiteX18" fmla="*/ 4240988 w 6858001"/>
              <a:gd name="connsiteY18" fmla="*/ 244234 h 6995918"/>
              <a:gd name="connsiteX19" fmla="*/ 4092855 w 6858001"/>
              <a:gd name="connsiteY19" fmla="*/ 248268 h 6995918"/>
              <a:gd name="connsiteX20" fmla="*/ 3946780 w 6858001"/>
              <a:gd name="connsiteY20" fmla="*/ 250117 h 6995918"/>
              <a:gd name="connsiteX21" fmla="*/ 3800704 w 6858001"/>
              <a:gd name="connsiteY21" fmla="*/ 252134 h 6995918"/>
              <a:gd name="connsiteX22" fmla="*/ 3656686 w 6858001"/>
              <a:gd name="connsiteY22" fmla="*/ 253143 h 6995918"/>
              <a:gd name="connsiteX23" fmla="*/ 3514040 w 6858001"/>
              <a:gd name="connsiteY23" fmla="*/ 252134 h 6995918"/>
              <a:gd name="connsiteX24" fmla="*/ 3372765 w 6858001"/>
              <a:gd name="connsiteY24" fmla="*/ 252134 h 6995918"/>
              <a:gd name="connsiteX25" fmla="*/ 3232862 w 6858001"/>
              <a:gd name="connsiteY25" fmla="*/ 250117 h 6995918"/>
              <a:gd name="connsiteX26" fmla="*/ 3095702 w 6858001"/>
              <a:gd name="connsiteY26" fmla="*/ 247092 h 6995918"/>
              <a:gd name="connsiteX27" fmla="*/ 2959914 w 6858001"/>
              <a:gd name="connsiteY27" fmla="*/ 244234 h 6995918"/>
              <a:gd name="connsiteX28" fmla="*/ 2826868 w 6858001"/>
              <a:gd name="connsiteY28" fmla="*/ 241040 h 6995918"/>
              <a:gd name="connsiteX29" fmla="*/ 2694509 w 6858001"/>
              <a:gd name="connsiteY29" fmla="*/ 236166 h 6995918"/>
              <a:gd name="connsiteX30" fmla="*/ 2564208 w 6858001"/>
              <a:gd name="connsiteY30" fmla="*/ 230955 h 6995918"/>
              <a:gd name="connsiteX31" fmla="*/ 2436649 w 6858001"/>
              <a:gd name="connsiteY31" fmla="*/ 226249 h 6995918"/>
              <a:gd name="connsiteX32" fmla="*/ 2187703 w 6858001"/>
              <a:gd name="connsiteY32" fmla="*/ 212969 h 6995918"/>
              <a:gd name="connsiteX33" fmla="*/ 1949045 w 6858001"/>
              <a:gd name="connsiteY33" fmla="*/ 198850 h 6995918"/>
              <a:gd name="connsiteX34" fmla="*/ 1719988 w 6858001"/>
              <a:gd name="connsiteY34" fmla="*/ 184058 h 6995918"/>
              <a:gd name="connsiteX35" fmla="*/ 1503275 w 6858001"/>
              <a:gd name="connsiteY35" fmla="*/ 167753 h 6995918"/>
              <a:gd name="connsiteX36" fmla="*/ 1296163 w 6858001"/>
              <a:gd name="connsiteY36" fmla="*/ 150776 h 6995918"/>
              <a:gd name="connsiteX37" fmla="*/ 1104139 w 6858001"/>
              <a:gd name="connsiteY37" fmla="*/ 132455 h 6995918"/>
              <a:gd name="connsiteX38" fmla="*/ 923774 w 6858001"/>
              <a:gd name="connsiteY38" fmla="*/ 114469 h 6995918"/>
              <a:gd name="connsiteX39" fmla="*/ 757810 w 6858001"/>
              <a:gd name="connsiteY39" fmla="*/ 96484 h 6995918"/>
              <a:gd name="connsiteX40" fmla="*/ 605563 w 6858001"/>
              <a:gd name="connsiteY40" fmla="*/ 79507 h 6995918"/>
              <a:gd name="connsiteX41" fmla="*/ 470460 w 6858001"/>
              <a:gd name="connsiteY41" fmla="*/ 63370 h 6995918"/>
              <a:gd name="connsiteX42" fmla="*/ 348388 w 6858001"/>
              <a:gd name="connsiteY42" fmla="*/ 48074 h 6995918"/>
              <a:gd name="connsiteX43" fmla="*/ 245518 w 6858001"/>
              <a:gd name="connsiteY43" fmla="*/ 35299 h 6995918"/>
              <a:gd name="connsiteX44" fmla="*/ 159107 w 6858001"/>
              <a:gd name="connsiteY44" fmla="*/ 23197 h 6995918"/>
              <a:gd name="connsiteX45" fmla="*/ 40463 w 6858001"/>
              <a:gd name="connsiteY45" fmla="*/ 5883 h 6995918"/>
              <a:gd name="connsiteX46" fmla="*/ 1 w 6858001"/>
              <a:gd name="connsiteY46" fmla="*/ 0 h 6995918"/>
              <a:gd name="connsiteX47" fmla="*/ 1 w 6858001"/>
              <a:gd name="connsiteY47" fmla="*/ 905354 h 6995918"/>
              <a:gd name="connsiteX48" fmla="*/ 0 w 6858001"/>
              <a:gd name="connsiteY48" fmla="*/ 905354 h 6995918"/>
              <a:gd name="connsiteX49" fmla="*/ 0 w 6858001"/>
              <a:gd name="connsiteY49" fmla="*/ 6995918 h 6995918"/>
              <a:gd name="connsiteX50" fmla="*/ 6858000 w 6858001"/>
              <a:gd name="connsiteY50" fmla="*/ 6995918 h 6995918"/>
              <a:gd name="connsiteX51" fmla="*/ 6858000 w 6858001"/>
              <a:gd name="connsiteY51" fmla="*/ 1344715 h 6995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6858001" h="6995918">
                <a:moveTo>
                  <a:pt x="6858001" y="1344715"/>
                </a:moveTo>
                <a:lnTo>
                  <a:pt x="6858001" y="1177"/>
                </a:lnTo>
                <a:lnTo>
                  <a:pt x="6702324" y="26222"/>
                </a:lnTo>
                <a:lnTo>
                  <a:pt x="6547333" y="50091"/>
                </a:lnTo>
                <a:lnTo>
                  <a:pt x="6391657" y="73455"/>
                </a:lnTo>
                <a:lnTo>
                  <a:pt x="6235294" y="93458"/>
                </a:lnTo>
                <a:lnTo>
                  <a:pt x="6079618" y="113629"/>
                </a:lnTo>
                <a:lnTo>
                  <a:pt x="5923255" y="132455"/>
                </a:lnTo>
                <a:lnTo>
                  <a:pt x="5768950" y="148591"/>
                </a:lnTo>
                <a:lnTo>
                  <a:pt x="5612588" y="163887"/>
                </a:lnTo>
                <a:lnTo>
                  <a:pt x="5456911" y="177839"/>
                </a:lnTo>
                <a:lnTo>
                  <a:pt x="5303978" y="189941"/>
                </a:lnTo>
                <a:lnTo>
                  <a:pt x="5148987" y="202044"/>
                </a:lnTo>
                <a:lnTo>
                  <a:pt x="4996054" y="212129"/>
                </a:lnTo>
                <a:lnTo>
                  <a:pt x="4843120" y="220029"/>
                </a:lnTo>
                <a:lnTo>
                  <a:pt x="4690873" y="228266"/>
                </a:lnTo>
                <a:lnTo>
                  <a:pt x="4539997" y="235157"/>
                </a:lnTo>
                <a:lnTo>
                  <a:pt x="4390492" y="240032"/>
                </a:lnTo>
                <a:lnTo>
                  <a:pt x="4240988" y="244234"/>
                </a:lnTo>
                <a:lnTo>
                  <a:pt x="4092855" y="248268"/>
                </a:lnTo>
                <a:lnTo>
                  <a:pt x="3946780" y="250117"/>
                </a:lnTo>
                <a:lnTo>
                  <a:pt x="3800704" y="252134"/>
                </a:lnTo>
                <a:lnTo>
                  <a:pt x="3656686" y="253143"/>
                </a:lnTo>
                <a:lnTo>
                  <a:pt x="3514040" y="252134"/>
                </a:lnTo>
                <a:lnTo>
                  <a:pt x="3372765" y="252134"/>
                </a:lnTo>
                <a:lnTo>
                  <a:pt x="3232862" y="250117"/>
                </a:lnTo>
                <a:lnTo>
                  <a:pt x="3095702" y="247092"/>
                </a:lnTo>
                <a:lnTo>
                  <a:pt x="2959914" y="244234"/>
                </a:lnTo>
                <a:lnTo>
                  <a:pt x="2826868" y="241040"/>
                </a:lnTo>
                <a:lnTo>
                  <a:pt x="2694509" y="236166"/>
                </a:lnTo>
                <a:lnTo>
                  <a:pt x="2564208" y="230955"/>
                </a:lnTo>
                <a:lnTo>
                  <a:pt x="2436649" y="226249"/>
                </a:lnTo>
                <a:lnTo>
                  <a:pt x="2187703" y="212969"/>
                </a:lnTo>
                <a:lnTo>
                  <a:pt x="1949045" y="198850"/>
                </a:lnTo>
                <a:lnTo>
                  <a:pt x="1719988" y="184058"/>
                </a:lnTo>
                <a:lnTo>
                  <a:pt x="1503275" y="167753"/>
                </a:lnTo>
                <a:lnTo>
                  <a:pt x="1296163" y="150776"/>
                </a:lnTo>
                <a:lnTo>
                  <a:pt x="1104139" y="132455"/>
                </a:lnTo>
                <a:lnTo>
                  <a:pt x="923774" y="114469"/>
                </a:lnTo>
                <a:lnTo>
                  <a:pt x="757810" y="96484"/>
                </a:lnTo>
                <a:lnTo>
                  <a:pt x="605563" y="79507"/>
                </a:lnTo>
                <a:lnTo>
                  <a:pt x="470460" y="63370"/>
                </a:lnTo>
                <a:lnTo>
                  <a:pt x="348388" y="48074"/>
                </a:lnTo>
                <a:lnTo>
                  <a:pt x="245518" y="35299"/>
                </a:lnTo>
                <a:lnTo>
                  <a:pt x="159107" y="23197"/>
                </a:lnTo>
                <a:lnTo>
                  <a:pt x="40463" y="5883"/>
                </a:lnTo>
                <a:lnTo>
                  <a:pt x="1" y="0"/>
                </a:lnTo>
                <a:lnTo>
                  <a:pt x="1" y="905354"/>
                </a:lnTo>
                <a:lnTo>
                  <a:pt x="0" y="905354"/>
                </a:lnTo>
                <a:lnTo>
                  <a:pt x="0" y="6995918"/>
                </a:lnTo>
                <a:lnTo>
                  <a:pt x="6858000" y="6995918"/>
                </a:lnTo>
                <a:lnTo>
                  <a:pt x="6858000" y="1344715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5" name="Picture 4" descr="A pie chart with numbers and a number of data&#10;&#10;AI-generated content may be incorrect.">
            <a:extLst>
              <a:ext uri="{FF2B5EF4-FFF2-40B4-BE49-F238E27FC236}">
                <a16:creationId xmlns:a16="http://schemas.microsoft.com/office/drawing/2014/main" id="{97CEC63C-83A6-3F9F-1193-72DC43BF99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495" y="647698"/>
            <a:ext cx="5395274" cy="5562139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90010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9AE7-AEE5-C744-4BBA-C6B3DE3790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2381" y="195124"/>
            <a:ext cx="6261917" cy="3308840"/>
          </a:xfrm>
        </p:spPr>
        <p:txBody>
          <a:bodyPr>
            <a:normAutofit/>
          </a:bodyPr>
          <a:lstStyle/>
          <a:p>
            <a:r>
              <a:rPr lang="en-US" sz="6700" dirty="0"/>
              <a:t>The scratch model characteristics </a:t>
            </a:r>
            <a:endParaRPr lang="ru-RU" sz="67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B573A8-40BA-24D4-360B-25206E497B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2380" y="3686842"/>
            <a:ext cx="6818180" cy="282571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0000"/>
                </a:solidFill>
              </a:rPr>
              <a:t>6 convolutional layers</a:t>
            </a:r>
          </a:p>
          <a:p>
            <a:pPr>
              <a:lnSpc>
                <a:spcPct val="90000"/>
              </a:lnSpc>
            </a:pPr>
            <a:r>
              <a:rPr lang="en-US" sz="2800" dirty="0">
                <a:solidFill>
                  <a:srgbClr val="FFFF00"/>
                </a:solidFill>
              </a:rPr>
              <a:t>Pooling+Batchnorm2d at the end of each layer </a:t>
            </a:r>
          </a:p>
          <a:p>
            <a:pPr>
              <a:lnSpc>
                <a:spcPct val="90000"/>
              </a:lnSpc>
            </a:pPr>
            <a:r>
              <a:rPr lang="en-US" sz="2800" dirty="0" err="1">
                <a:solidFill>
                  <a:srgbClr val="00B050"/>
                </a:solidFill>
              </a:rPr>
              <a:t>Fcnn</a:t>
            </a:r>
            <a:r>
              <a:rPr lang="en-US" sz="2800" dirty="0">
                <a:solidFill>
                  <a:srgbClr val="00B050"/>
                </a:solidFill>
              </a:rPr>
              <a:t> with 4 main layers with batchnorm1d+dropout</a:t>
            </a:r>
          </a:p>
          <a:p>
            <a:pPr>
              <a:lnSpc>
                <a:spcPct val="90000"/>
              </a:lnSpc>
            </a:pPr>
            <a:endParaRPr lang="ru-RU" sz="1700" dirty="0"/>
          </a:p>
        </p:txBody>
      </p:sp>
      <p:pic>
        <p:nvPicPr>
          <p:cNvPr id="5" name="Picture 4" descr="Web of wires showing connections between groups and singles">
            <a:extLst>
              <a:ext uri="{FF2B5EF4-FFF2-40B4-BE49-F238E27FC236}">
                <a16:creationId xmlns:a16="http://schemas.microsoft.com/office/drawing/2014/main" id="{F537EAE0-A19E-52BB-BBFF-E7BA3B4EE6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5137" r="19752" b="-1"/>
          <a:stretch>
            <a:fillRect/>
          </a:stretch>
        </p:blipFill>
        <p:spPr>
          <a:xfrm>
            <a:off x="-1" y="10"/>
            <a:ext cx="463468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30181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8180-6BC0-BA6D-C1D4-C6964240B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8825658" cy="2191497"/>
          </a:xfrm>
        </p:spPr>
        <p:txBody>
          <a:bodyPr/>
          <a:lstStyle/>
          <a:p>
            <a:r>
              <a:rPr lang="en-US" dirty="0"/>
              <a:t>The training loop characteristics: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9B478-49FF-0EED-319E-6B9668604EFA}"/>
              </a:ext>
            </a:extLst>
          </p:cNvPr>
          <p:cNvSpPr txBox="1"/>
          <p:nvPr/>
        </p:nvSpPr>
        <p:spPr>
          <a:xfrm>
            <a:off x="-1" y="3783729"/>
            <a:ext cx="51914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Early stopping: Patience of 5 epochs</a:t>
            </a:r>
            <a:endParaRPr lang="ru-RU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0243AD-AB07-BFD8-32CC-00146A4DDC2B}"/>
              </a:ext>
            </a:extLst>
          </p:cNvPr>
          <p:cNvSpPr txBox="1"/>
          <p:nvPr/>
        </p:nvSpPr>
        <p:spPr>
          <a:xfrm>
            <a:off x="-101600" y="4654038"/>
            <a:ext cx="461132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Flexible learning rate schedule: </a:t>
            </a:r>
            <a:r>
              <a:rPr lang="en-US" sz="2400" dirty="0" err="1"/>
              <a:t>ReduceLRonPlateau</a:t>
            </a:r>
            <a:r>
              <a:rPr lang="en-US" sz="2400" dirty="0"/>
              <a:t> function with patience 2 , coefficient 0.5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D5CAE0-AB30-1781-F11A-DB296364413F}"/>
              </a:ext>
            </a:extLst>
          </p:cNvPr>
          <p:cNvSpPr txBox="1"/>
          <p:nvPr/>
        </p:nvSpPr>
        <p:spPr>
          <a:xfrm>
            <a:off x="-1" y="3191935"/>
            <a:ext cx="48276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ADAM optimizer used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EE97F6-B177-D267-215D-E563D9771D1B}"/>
              </a:ext>
            </a:extLst>
          </p:cNvPr>
          <p:cNvSpPr txBox="1"/>
          <p:nvPr/>
        </p:nvSpPr>
        <p:spPr>
          <a:xfrm>
            <a:off x="0" y="2230809"/>
            <a:ext cx="644538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Model parameters with best validation gets saved automatically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111321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7" grpId="0"/>
      <p:bldP spid="1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594FC8B-8CD2-407F-94F1-9C71F5AEC2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BABC971-8D40-4A4F-AC60-28B9172789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B9C04DC5-313B-4FE4-B868-5672A3764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91AE23E-90C9-4963-96E2-8DADBFC3BC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5F93E90-4379-4AAC-B021-E5FA6D974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329FDD08-42D8-4AFF-90E5-5DAA5BC4CB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91EE9D-28D5-5EB1-33AF-9B3660F57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01378" y="81273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Training Results </a:t>
            </a:r>
            <a:endParaRPr lang="en-US" sz="54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1E981B-F06E-48B4-9275-F4B261AFCA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157124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36">
            <a:extLst>
              <a:ext uri="{FF2B5EF4-FFF2-40B4-BE49-F238E27FC236}">
                <a16:creationId xmlns:a16="http://schemas.microsoft.com/office/drawing/2014/main" id="{312E2C24-0CD2-4071-8CE2-B059993A99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5">
            <a:extLst>
              <a:ext uri="{FF2B5EF4-FFF2-40B4-BE49-F238E27FC236}">
                <a16:creationId xmlns:a16="http://schemas.microsoft.com/office/drawing/2014/main" id="{24F1DC13-C830-4B86-A9C6-927F5C55D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5400000" flipH="1">
            <a:off x="3708596" y="2756642"/>
            <a:ext cx="6858000" cy="1344715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6" name="Picture 5" descr="A graph of a graph and a graph of a graph">
            <a:extLst>
              <a:ext uri="{FF2B5EF4-FFF2-40B4-BE49-F238E27FC236}">
                <a16:creationId xmlns:a16="http://schemas.microsoft.com/office/drawing/2014/main" id="{C4EEF596-0742-448E-CFE4-B66E6636AD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6110" y="1230273"/>
            <a:ext cx="9108030" cy="56896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90953891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A251-7AB5-03BF-E071-F381B0E9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0388" y="822903"/>
            <a:ext cx="8825658" cy="164089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Results in terms of peak validation percentage and the test set result: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781C8-0A79-14D0-3500-CDD1300BF6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0388" y="2998290"/>
            <a:ext cx="8825658" cy="2114484"/>
          </a:xfrm>
        </p:spPr>
        <p:txBody>
          <a:bodyPr>
            <a:normAutofit lnSpcReduction="10000"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Validation peak: 86.5%</a:t>
            </a:r>
          </a:p>
          <a:p>
            <a:r>
              <a:rPr lang="en-US" sz="2400" dirty="0">
                <a:solidFill>
                  <a:schemeClr val="tx1"/>
                </a:solidFill>
              </a:rPr>
              <a:t>Result on test set: 84.72% accuracy</a:t>
            </a:r>
          </a:p>
          <a:p>
            <a:r>
              <a:rPr lang="en-US" sz="2400" dirty="0">
                <a:solidFill>
                  <a:schemeClr val="tx1"/>
                </a:solidFill>
              </a:rPr>
              <a:t>Inference about overfitting: slightly overfitted to the validation set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26772"/>
      </p:ext>
    </p:extLst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0D9B8FD4-CDEB-4EB4-B4DE-C89E11938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36">
            <a:extLst>
              <a:ext uri="{FF2B5EF4-FFF2-40B4-BE49-F238E27FC236}">
                <a16:creationId xmlns:a16="http://schemas.microsoft.com/office/drawing/2014/main" id="{5A2E3D1D-9E9F-4739-BA14-D4D7FA9FBD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644637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FFB365B-E9DC-4859-B8AB-CB83EEBE4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1"/>
            <a:ext cx="4990911" cy="6858001"/>
          </a:xfrm>
          <a:custGeom>
            <a:avLst/>
            <a:gdLst>
              <a:gd name="connsiteX0" fmla="*/ 3646196 w 4990911"/>
              <a:gd name="connsiteY0" fmla="*/ 0 h 6858001"/>
              <a:gd name="connsiteX1" fmla="*/ 4989734 w 4990911"/>
              <a:gd name="connsiteY1" fmla="*/ 0 h 6858001"/>
              <a:gd name="connsiteX2" fmla="*/ 4964689 w 4990911"/>
              <a:gd name="connsiteY2" fmla="*/ 155677 h 6858001"/>
              <a:gd name="connsiteX3" fmla="*/ 4940820 w 4990911"/>
              <a:gd name="connsiteY3" fmla="*/ 310668 h 6858001"/>
              <a:gd name="connsiteX4" fmla="*/ 4917456 w 4990911"/>
              <a:gd name="connsiteY4" fmla="*/ 466344 h 6858001"/>
              <a:gd name="connsiteX5" fmla="*/ 4897453 w 4990911"/>
              <a:gd name="connsiteY5" fmla="*/ 622707 h 6858001"/>
              <a:gd name="connsiteX6" fmla="*/ 4877282 w 4990911"/>
              <a:gd name="connsiteY6" fmla="*/ 778383 h 6858001"/>
              <a:gd name="connsiteX7" fmla="*/ 4858456 w 4990911"/>
              <a:gd name="connsiteY7" fmla="*/ 934746 h 6858001"/>
              <a:gd name="connsiteX8" fmla="*/ 4842320 w 4990911"/>
              <a:gd name="connsiteY8" fmla="*/ 1089051 h 6858001"/>
              <a:gd name="connsiteX9" fmla="*/ 4827024 w 4990911"/>
              <a:gd name="connsiteY9" fmla="*/ 1245413 h 6858001"/>
              <a:gd name="connsiteX10" fmla="*/ 4813072 w 4990911"/>
              <a:gd name="connsiteY10" fmla="*/ 1401090 h 6858001"/>
              <a:gd name="connsiteX11" fmla="*/ 4800970 w 4990911"/>
              <a:gd name="connsiteY11" fmla="*/ 1554023 h 6858001"/>
              <a:gd name="connsiteX12" fmla="*/ 4788867 w 4990911"/>
              <a:gd name="connsiteY12" fmla="*/ 1709014 h 6858001"/>
              <a:gd name="connsiteX13" fmla="*/ 4778782 w 4990911"/>
              <a:gd name="connsiteY13" fmla="*/ 1861947 h 6858001"/>
              <a:gd name="connsiteX14" fmla="*/ 4770882 w 4990911"/>
              <a:gd name="connsiteY14" fmla="*/ 2014881 h 6858001"/>
              <a:gd name="connsiteX15" fmla="*/ 4762645 w 4990911"/>
              <a:gd name="connsiteY15" fmla="*/ 2167128 h 6858001"/>
              <a:gd name="connsiteX16" fmla="*/ 4755754 w 4990911"/>
              <a:gd name="connsiteY16" fmla="*/ 2318004 h 6858001"/>
              <a:gd name="connsiteX17" fmla="*/ 4750879 w 4990911"/>
              <a:gd name="connsiteY17" fmla="*/ 2467509 h 6858001"/>
              <a:gd name="connsiteX18" fmla="*/ 4746677 w 4990911"/>
              <a:gd name="connsiteY18" fmla="*/ 2617013 h 6858001"/>
              <a:gd name="connsiteX19" fmla="*/ 4742643 w 4990911"/>
              <a:gd name="connsiteY19" fmla="*/ 2765146 h 6858001"/>
              <a:gd name="connsiteX20" fmla="*/ 4740794 w 4990911"/>
              <a:gd name="connsiteY20" fmla="*/ 2911221 h 6858001"/>
              <a:gd name="connsiteX21" fmla="*/ 4738777 w 4990911"/>
              <a:gd name="connsiteY21" fmla="*/ 3057297 h 6858001"/>
              <a:gd name="connsiteX22" fmla="*/ 4737768 w 4990911"/>
              <a:gd name="connsiteY22" fmla="*/ 3201315 h 6858001"/>
              <a:gd name="connsiteX23" fmla="*/ 4738777 w 4990911"/>
              <a:gd name="connsiteY23" fmla="*/ 3343961 h 6858001"/>
              <a:gd name="connsiteX24" fmla="*/ 4738777 w 4990911"/>
              <a:gd name="connsiteY24" fmla="*/ 3485236 h 6858001"/>
              <a:gd name="connsiteX25" fmla="*/ 4740794 w 4990911"/>
              <a:gd name="connsiteY25" fmla="*/ 3625139 h 6858001"/>
              <a:gd name="connsiteX26" fmla="*/ 4743819 w 4990911"/>
              <a:gd name="connsiteY26" fmla="*/ 3762299 h 6858001"/>
              <a:gd name="connsiteX27" fmla="*/ 4746677 w 4990911"/>
              <a:gd name="connsiteY27" fmla="*/ 3898087 h 6858001"/>
              <a:gd name="connsiteX28" fmla="*/ 4749871 w 4990911"/>
              <a:gd name="connsiteY28" fmla="*/ 4031133 h 6858001"/>
              <a:gd name="connsiteX29" fmla="*/ 4754745 w 4990911"/>
              <a:gd name="connsiteY29" fmla="*/ 4163492 h 6858001"/>
              <a:gd name="connsiteX30" fmla="*/ 4759956 w 4990911"/>
              <a:gd name="connsiteY30" fmla="*/ 4293793 h 6858001"/>
              <a:gd name="connsiteX31" fmla="*/ 4764662 w 4990911"/>
              <a:gd name="connsiteY31" fmla="*/ 4421352 h 6858001"/>
              <a:gd name="connsiteX32" fmla="*/ 4777942 w 4990911"/>
              <a:gd name="connsiteY32" fmla="*/ 4670298 h 6858001"/>
              <a:gd name="connsiteX33" fmla="*/ 4792061 w 4990911"/>
              <a:gd name="connsiteY33" fmla="*/ 4908956 h 6858001"/>
              <a:gd name="connsiteX34" fmla="*/ 4806853 w 4990911"/>
              <a:gd name="connsiteY34" fmla="*/ 5138013 h 6858001"/>
              <a:gd name="connsiteX35" fmla="*/ 4823158 w 4990911"/>
              <a:gd name="connsiteY35" fmla="*/ 5354726 h 6858001"/>
              <a:gd name="connsiteX36" fmla="*/ 4840135 w 4990911"/>
              <a:gd name="connsiteY36" fmla="*/ 5561838 h 6858001"/>
              <a:gd name="connsiteX37" fmla="*/ 4858456 w 4990911"/>
              <a:gd name="connsiteY37" fmla="*/ 5753862 h 6858001"/>
              <a:gd name="connsiteX38" fmla="*/ 4876442 w 4990911"/>
              <a:gd name="connsiteY38" fmla="*/ 5934227 h 6858001"/>
              <a:gd name="connsiteX39" fmla="*/ 4894427 w 4990911"/>
              <a:gd name="connsiteY39" fmla="*/ 6100191 h 6858001"/>
              <a:gd name="connsiteX40" fmla="*/ 4911404 w 4990911"/>
              <a:gd name="connsiteY40" fmla="*/ 6252438 h 6858001"/>
              <a:gd name="connsiteX41" fmla="*/ 4927541 w 4990911"/>
              <a:gd name="connsiteY41" fmla="*/ 6387541 h 6858001"/>
              <a:gd name="connsiteX42" fmla="*/ 4942837 w 4990911"/>
              <a:gd name="connsiteY42" fmla="*/ 6509613 h 6858001"/>
              <a:gd name="connsiteX43" fmla="*/ 4955612 w 4990911"/>
              <a:gd name="connsiteY43" fmla="*/ 6612483 h 6858001"/>
              <a:gd name="connsiteX44" fmla="*/ 4967714 w 4990911"/>
              <a:gd name="connsiteY44" fmla="*/ 6698894 h 6858001"/>
              <a:gd name="connsiteX45" fmla="*/ 4985028 w 4990911"/>
              <a:gd name="connsiteY45" fmla="*/ 6817538 h 6858001"/>
              <a:gd name="connsiteX46" fmla="*/ 4990911 w 4990911"/>
              <a:gd name="connsiteY46" fmla="*/ 6858000 h 6858001"/>
              <a:gd name="connsiteX47" fmla="*/ 4085557 w 4990911"/>
              <a:gd name="connsiteY47" fmla="*/ 6858000 h 6858001"/>
              <a:gd name="connsiteX48" fmla="*/ 4085557 w 4990911"/>
              <a:gd name="connsiteY48" fmla="*/ 6858001 h 6858001"/>
              <a:gd name="connsiteX49" fmla="*/ 0 w 4990911"/>
              <a:gd name="connsiteY49" fmla="*/ 6858001 h 6858001"/>
              <a:gd name="connsiteX50" fmla="*/ 0 w 4990911"/>
              <a:gd name="connsiteY50" fmla="*/ 1 h 6858001"/>
              <a:gd name="connsiteX51" fmla="*/ 3646196 w 4990911"/>
              <a:gd name="connsiteY51" fmla="*/ 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4990911" h="6858001">
                <a:moveTo>
                  <a:pt x="3646196" y="0"/>
                </a:moveTo>
                <a:lnTo>
                  <a:pt x="4989734" y="0"/>
                </a:lnTo>
                <a:lnTo>
                  <a:pt x="4964689" y="155677"/>
                </a:lnTo>
                <a:lnTo>
                  <a:pt x="4940820" y="310668"/>
                </a:lnTo>
                <a:lnTo>
                  <a:pt x="4917456" y="466344"/>
                </a:lnTo>
                <a:lnTo>
                  <a:pt x="4897453" y="622707"/>
                </a:lnTo>
                <a:lnTo>
                  <a:pt x="4877282" y="778383"/>
                </a:lnTo>
                <a:lnTo>
                  <a:pt x="4858456" y="934746"/>
                </a:lnTo>
                <a:lnTo>
                  <a:pt x="4842320" y="1089051"/>
                </a:lnTo>
                <a:lnTo>
                  <a:pt x="4827024" y="1245413"/>
                </a:lnTo>
                <a:lnTo>
                  <a:pt x="4813072" y="1401090"/>
                </a:lnTo>
                <a:lnTo>
                  <a:pt x="4800970" y="1554023"/>
                </a:lnTo>
                <a:lnTo>
                  <a:pt x="4788867" y="1709014"/>
                </a:lnTo>
                <a:lnTo>
                  <a:pt x="4778782" y="1861947"/>
                </a:lnTo>
                <a:lnTo>
                  <a:pt x="4770882" y="2014881"/>
                </a:lnTo>
                <a:lnTo>
                  <a:pt x="4762645" y="2167128"/>
                </a:lnTo>
                <a:lnTo>
                  <a:pt x="4755754" y="2318004"/>
                </a:lnTo>
                <a:lnTo>
                  <a:pt x="4750879" y="2467509"/>
                </a:lnTo>
                <a:lnTo>
                  <a:pt x="4746677" y="2617013"/>
                </a:lnTo>
                <a:lnTo>
                  <a:pt x="4742643" y="2765146"/>
                </a:lnTo>
                <a:lnTo>
                  <a:pt x="4740794" y="2911221"/>
                </a:lnTo>
                <a:lnTo>
                  <a:pt x="4738777" y="3057297"/>
                </a:lnTo>
                <a:lnTo>
                  <a:pt x="4737768" y="3201315"/>
                </a:lnTo>
                <a:lnTo>
                  <a:pt x="4738777" y="3343961"/>
                </a:lnTo>
                <a:lnTo>
                  <a:pt x="4738777" y="3485236"/>
                </a:lnTo>
                <a:lnTo>
                  <a:pt x="4740794" y="3625139"/>
                </a:lnTo>
                <a:lnTo>
                  <a:pt x="4743819" y="3762299"/>
                </a:lnTo>
                <a:lnTo>
                  <a:pt x="4746677" y="3898087"/>
                </a:lnTo>
                <a:lnTo>
                  <a:pt x="4749871" y="4031133"/>
                </a:lnTo>
                <a:lnTo>
                  <a:pt x="4754745" y="4163492"/>
                </a:lnTo>
                <a:lnTo>
                  <a:pt x="4759956" y="4293793"/>
                </a:lnTo>
                <a:lnTo>
                  <a:pt x="4764662" y="4421352"/>
                </a:lnTo>
                <a:lnTo>
                  <a:pt x="4777942" y="4670298"/>
                </a:lnTo>
                <a:lnTo>
                  <a:pt x="4792061" y="4908956"/>
                </a:lnTo>
                <a:lnTo>
                  <a:pt x="4806853" y="5138013"/>
                </a:lnTo>
                <a:lnTo>
                  <a:pt x="4823158" y="5354726"/>
                </a:lnTo>
                <a:lnTo>
                  <a:pt x="4840135" y="5561838"/>
                </a:lnTo>
                <a:lnTo>
                  <a:pt x="4858456" y="5753862"/>
                </a:lnTo>
                <a:lnTo>
                  <a:pt x="4876442" y="5934227"/>
                </a:lnTo>
                <a:lnTo>
                  <a:pt x="4894427" y="6100191"/>
                </a:lnTo>
                <a:lnTo>
                  <a:pt x="4911404" y="6252438"/>
                </a:lnTo>
                <a:lnTo>
                  <a:pt x="4927541" y="6387541"/>
                </a:lnTo>
                <a:lnTo>
                  <a:pt x="4942837" y="6509613"/>
                </a:lnTo>
                <a:lnTo>
                  <a:pt x="4955612" y="6612483"/>
                </a:lnTo>
                <a:lnTo>
                  <a:pt x="4967714" y="6698894"/>
                </a:lnTo>
                <a:lnTo>
                  <a:pt x="4985028" y="6817538"/>
                </a:lnTo>
                <a:lnTo>
                  <a:pt x="4990911" y="6858000"/>
                </a:lnTo>
                <a:lnTo>
                  <a:pt x="4085557" y="6858000"/>
                </a:lnTo>
                <a:lnTo>
                  <a:pt x="4085557" y="6858001"/>
                </a:lnTo>
                <a:lnTo>
                  <a:pt x="0" y="6858001"/>
                </a:lnTo>
                <a:lnTo>
                  <a:pt x="0" y="1"/>
                </a:lnTo>
                <a:lnTo>
                  <a:pt x="3646196" y="1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ADAB9C8-EB37-4914-A699-C716FC8FE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BC6B52-0C09-F0D1-08F0-AB05A60DB63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3143" y="1645920"/>
            <a:ext cx="3522879" cy="4470821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r"/>
            <a:r>
              <a:rPr lang="en-US" sz="66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Results analysis: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2C3728-2A60-953E-EAD3-6AE3DCABDE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04109" y="1645920"/>
            <a:ext cx="6269434" cy="44708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1) Per class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2) Confusion matrix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3) Confidence interval for the average            model accuracy</a:t>
            </a:r>
          </a:p>
          <a:p>
            <a:pPr>
              <a:buFont typeface="Wingdings 3" charset="2"/>
              <a:buChar char=""/>
            </a:pPr>
            <a:r>
              <a:rPr lang="en-US" sz="3200" dirty="0">
                <a:solidFill>
                  <a:schemeClr val="tx1"/>
                </a:solidFill>
              </a:rPr>
              <a:t>4) Confidence intervals for per class accuracies</a:t>
            </a:r>
          </a:p>
        </p:txBody>
      </p:sp>
    </p:spTree>
    <p:extLst>
      <p:ext uri="{BB962C8B-B14F-4D97-AF65-F5344CB8AC3E}">
        <p14:creationId xmlns:p14="http://schemas.microsoft.com/office/powerpoint/2010/main" val="397618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2E284-F397-1E5B-29D8-4FF361EE3A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0875" y="190859"/>
            <a:ext cx="8825658" cy="1028341"/>
          </a:xfrm>
        </p:spPr>
        <p:txBody>
          <a:bodyPr/>
          <a:lstStyle/>
          <a:p>
            <a:r>
              <a:rPr lang="en-US" dirty="0"/>
              <a:t>Per class accuracy:</a:t>
            </a:r>
            <a:endParaRPr lang="ru-RU" dirty="0"/>
          </a:p>
        </p:txBody>
      </p:sp>
      <p:pic>
        <p:nvPicPr>
          <p:cNvPr id="5" name="Picture 4" descr="A screenshot of a graph">
            <a:extLst>
              <a:ext uri="{FF2B5EF4-FFF2-40B4-BE49-F238E27FC236}">
                <a16:creationId xmlns:a16="http://schemas.microsoft.com/office/drawing/2014/main" id="{DBB4F59D-E3CC-4C64-AB83-72F379EEF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1833" y="1333021"/>
            <a:ext cx="7545818" cy="55249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F6A574-CCA1-B7B7-1011-B5B48FC466A0}"/>
              </a:ext>
            </a:extLst>
          </p:cNvPr>
          <p:cNvSpPr txBox="1"/>
          <p:nvPr/>
        </p:nvSpPr>
        <p:spPr>
          <a:xfrm>
            <a:off x="64349" y="1299358"/>
            <a:ext cx="441468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Per-Class Accuracy: </a:t>
            </a:r>
          </a:p>
          <a:p>
            <a:r>
              <a:rPr lang="en-US" dirty="0"/>
              <a:t>Flat_Tire : 96/120 -&gt; 80.00% </a:t>
            </a:r>
          </a:p>
          <a:p>
            <a:r>
              <a:rPr lang="en-US" dirty="0"/>
              <a:t>Glass Shatter : 101/120 -&gt; 84.17% Lamp Broken : 98/120 -&gt; 81.67% </a:t>
            </a:r>
          </a:p>
          <a:p>
            <a:r>
              <a:rPr lang="en-US" dirty="0"/>
              <a:t>No Damage : 106/120 -&gt; 88.33% Significant Damage: 106/120 -&gt; 88.33% </a:t>
            </a:r>
          </a:p>
          <a:p>
            <a:r>
              <a:rPr lang="en-US" dirty="0"/>
              <a:t>Surface Damage(Dents , Scratches): 103/120 -&gt; 85.83%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5996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F5E214-B0C9-3D81-C4FF-A70D9A422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26" y="1015265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300" dirty="0"/>
              <a:t>Confusion matrix showing what class the model confused with incorrect another one:</a:t>
            </a:r>
          </a:p>
        </p:txBody>
      </p:sp>
      <p:pic>
        <p:nvPicPr>
          <p:cNvPr id="4" name="Picture 3" descr="A blue and white grid with black text&#10;&#10;AI-generated content may be incorrect.">
            <a:extLst>
              <a:ext uri="{FF2B5EF4-FFF2-40B4-BE49-F238E27FC236}">
                <a16:creationId xmlns:a16="http://schemas.microsoft.com/office/drawing/2014/main" id="{685CF1BE-C37A-046F-65F2-9B62746732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5" r="2" b="2"/>
          <a:stretch>
            <a:fillRect/>
          </a:stretch>
        </p:blipFill>
        <p:spPr>
          <a:xfrm>
            <a:off x="3241040" y="10"/>
            <a:ext cx="8950961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9600406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7000"/>
                <a:hueMod val="88000"/>
                <a:satMod val="130000"/>
                <a:lumMod val="124000"/>
              </a:schemeClr>
            </a:gs>
            <a:gs pos="100000">
              <a:schemeClr val="bg2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28D0172-F2E0-4763-9C35-F022664959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89000"/>
                </a:schemeClr>
              </a:gs>
              <a:gs pos="23000">
                <a:schemeClr val="accent1">
                  <a:lumMod val="89000"/>
                </a:schemeClr>
              </a:gs>
              <a:gs pos="69000">
                <a:schemeClr val="accent1">
                  <a:lumMod val="75000"/>
                </a:schemeClr>
              </a:gs>
              <a:gs pos="97000">
                <a:schemeClr val="accent1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9F2851FB-E841-4509-8A6D-A416376EA3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3753695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DF6FB2B2-CE21-407F-B22E-302DADC2C3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55533"/>
            <a:ext cx="12192000" cy="2802467"/>
          </a:xfrm>
          <a:custGeom>
            <a:avLst/>
            <a:gdLst>
              <a:gd name="connsiteX0" fmla="*/ 1 w 12192000"/>
              <a:gd name="connsiteY0" fmla="*/ 0 h 2802467"/>
              <a:gd name="connsiteX1" fmla="*/ 71932 w 12192000"/>
              <a:gd name="connsiteY1" fmla="*/ 12261 h 2802467"/>
              <a:gd name="connsiteX2" fmla="*/ 282848 w 12192000"/>
              <a:gd name="connsiteY2" fmla="*/ 48342 h 2802467"/>
              <a:gd name="connsiteX3" fmla="*/ 436464 w 12192000"/>
              <a:gd name="connsiteY3" fmla="*/ 73565 h 2802467"/>
              <a:gd name="connsiteX4" fmla="*/ 619339 w 12192000"/>
              <a:gd name="connsiteY4" fmla="*/ 100188 h 2802467"/>
              <a:gd name="connsiteX5" fmla="*/ 836351 w 12192000"/>
              <a:gd name="connsiteY5" fmla="*/ 132066 h 2802467"/>
              <a:gd name="connsiteX6" fmla="*/ 1076528 w 12192000"/>
              <a:gd name="connsiteY6" fmla="*/ 165696 h 2802467"/>
              <a:gd name="connsiteX7" fmla="*/ 1347183 w 12192000"/>
              <a:gd name="connsiteY7" fmla="*/ 201077 h 2802467"/>
              <a:gd name="connsiteX8" fmla="*/ 1642223 w 12192000"/>
              <a:gd name="connsiteY8" fmla="*/ 238560 h 2802467"/>
              <a:gd name="connsiteX9" fmla="*/ 1962864 w 12192000"/>
              <a:gd name="connsiteY9" fmla="*/ 276043 h 2802467"/>
              <a:gd name="connsiteX10" fmla="*/ 2304232 w 12192000"/>
              <a:gd name="connsiteY10" fmla="*/ 314226 h 2802467"/>
              <a:gd name="connsiteX11" fmla="*/ 2672421 w 12192000"/>
              <a:gd name="connsiteY11" fmla="*/ 349608 h 2802467"/>
              <a:gd name="connsiteX12" fmla="*/ 3057678 w 12192000"/>
              <a:gd name="connsiteY12" fmla="*/ 383587 h 2802467"/>
              <a:gd name="connsiteX13" fmla="*/ 3464881 w 12192000"/>
              <a:gd name="connsiteY13" fmla="*/ 414415 h 2802467"/>
              <a:gd name="connsiteX14" fmla="*/ 3889152 w 12192000"/>
              <a:gd name="connsiteY14" fmla="*/ 443840 h 2802467"/>
              <a:gd name="connsiteX15" fmla="*/ 4331710 w 12192000"/>
              <a:gd name="connsiteY15" fmla="*/ 471515 h 2802467"/>
              <a:gd name="connsiteX16" fmla="*/ 4558476 w 12192000"/>
              <a:gd name="connsiteY16" fmla="*/ 481323 h 2802467"/>
              <a:gd name="connsiteX17" fmla="*/ 4790118 w 12192000"/>
              <a:gd name="connsiteY17" fmla="*/ 492183 h 2802467"/>
              <a:gd name="connsiteX18" fmla="*/ 5025418 w 12192000"/>
              <a:gd name="connsiteY18" fmla="*/ 502342 h 2802467"/>
              <a:gd name="connsiteX19" fmla="*/ 5261937 w 12192000"/>
              <a:gd name="connsiteY19" fmla="*/ 508998 h 2802467"/>
              <a:gd name="connsiteX20" fmla="*/ 5503332 w 12192000"/>
              <a:gd name="connsiteY20" fmla="*/ 514953 h 2802467"/>
              <a:gd name="connsiteX21" fmla="*/ 5747166 w 12192000"/>
              <a:gd name="connsiteY21" fmla="*/ 521259 h 2802467"/>
              <a:gd name="connsiteX22" fmla="*/ 5995877 w 12192000"/>
              <a:gd name="connsiteY22" fmla="*/ 525462 h 2802467"/>
              <a:gd name="connsiteX23" fmla="*/ 6247026 w 12192000"/>
              <a:gd name="connsiteY23" fmla="*/ 525462 h 2802467"/>
              <a:gd name="connsiteX24" fmla="*/ 6500613 w 12192000"/>
              <a:gd name="connsiteY24" fmla="*/ 527564 h 2802467"/>
              <a:gd name="connsiteX25" fmla="*/ 6756639 w 12192000"/>
              <a:gd name="connsiteY25" fmla="*/ 525462 h 2802467"/>
              <a:gd name="connsiteX26" fmla="*/ 7016322 w 12192000"/>
              <a:gd name="connsiteY26" fmla="*/ 521259 h 2802467"/>
              <a:gd name="connsiteX27" fmla="*/ 7276005 w 12192000"/>
              <a:gd name="connsiteY27" fmla="*/ 517405 h 2802467"/>
              <a:gd name="connsiteX28" fmla="*/ 7539345 w 12192000"/>
              <a:gd name="connsiteY28" fmla="*/ 508998 h 2802467"/>
              <a:gd name="connsiteX29" fmla="*/ 7805124 w 12192000"/>
              <a:gd name="connsiteY29" fmla="*/ 500240 h 2802467"/>
              <a:gd name="connsiteX30" fmla="*/ 8070903 w 12192000"/>
              <a:gd name="connsiteY30" fmla="*/ 490081 h 2802467"/>
              <a:gd name="connsiteX31" fmla="*/ 8339121 w 12192000"/>
              <a:gd name="connsiteY31" fmla="*/ 475719 h 2802467"/>
              <a:gd name="connsiteX32" fmla="*/ 8609776 w 12192000"/>
              <a:gd name="connsiteY32" fmla="*/ 458553 h 2802467"/>
              <a:gd name="connsiteX33" fmla="*/ 8881651 w 12192000"/>
              <a:gd name="connsiteY33" fmla="*/ 442089 h 2802467"/>
              <a:gd name="connsiteX34" fmla="*/ 9153526 w 12192000"/>
              <a:gd name="connsiteY34" fmla="*/ 421070 h 2802467"/>
              <a:gd name="connsiteX35" fmla="*/ 9429058 w 12192000"/>
              <a:gd name="connsiteY35" fmla="*/ 395848 h 2802467"/>
              <a:gd name="connsiteX36" fmla="*/ 9700933 w 12192000"/>
              <a:gd name="connsiteY36" fmla="*/ 370626 h 2802467"/>
              <a:gd name="connsiteX37" fmla="*/ 9977684 w 12192000"/>
              <a:gd name="connsiteY37" fmla="*/ 341550 h 2802467"/>
              <a:gd name="connsiteX38" fmla="*/ 10255655 w 12192000"/>
              <a:gd name="connsiteY38" fmla="*/ 309672 h 2802467"/>
              <a:gd name="connsiteX39" fmla="*/ 10529968 w 12192000"/>
              <a:gd name="connsiteY39" fmla="*/ 276043 h 2802467"/>
              <a:gd name="connsiteX40" fmla="*/ 10807939 w 12192000"/>
              <a:gd name="connsiteY40" fmla="*/ 236808 h 2802467"/>
              <a:gd name="connsiteX41" fmla="*/ 11084690 w 12192000"/>
              <a:gd name="connsiteY41" fmla="*/ 194771 h 2802467"/>
              <a:gd name="connsiteX42" fmla="*/ 11362661 w 12192000"/>
              <a:gd name="connsiteY42" fmla="*/ 153085 h 2802467"/>
              <a:gd name="connsiteX43" fmla="*/ 11639412 w 12192000"/>
              <a:gd name="connsiteY43" fmla="*/ 104392 h 2802467"/>
              <a:gd name="connsiteX44" fmla="*/ 11914945 w 12192000"/>
              <a:gd name="connsiteY44" fmla="*/ 54648 h 2802467"/>
              <a:gd name="connsiteX45" fmla="*/ 12191696 w 12192000"/>
              <a:gd name="connsiteY45" fmla="*/ 2452 h 2802467"/>
              <a:gd name="connsiteX46" fmla="*/ 12191696 w 12192000"/>
              <a:gd name="connsiteY46" fmla="*/ 2236410 h 2802467"/>
              <a:gd name="connsiteX47" fmla="*/ 12192000 w 12192000"/>
              <a:gd name="connsiteY47" fmla="*/ 2236410 h 2802467"/>
              <a:gd name="connsiteX48" fmla="*/ 12192000 w 12192000"/>
              <a:gd name="connsiteY48" fmla="*/ 2802467 h 2802467"/>
              <a:gd name="connsiteX49" fmla="*/ 12191696 w 12192000"/>
              <a:gd name="connsiteY49" fmla="*/ 2802467 h 2802467"/>
              <a:gd name="connsiteX50" fmla="*/ 0 w 12192000"/>
              <a:gd name="connsiteY50" fmla="*/ 2802467 h 2802467"/>
              <a:gd name="connsiteX51" fmla="*/ 0 w 12192000"/>
              <a:gd name="connsiteY51" fmla="*/ 2236410 h 2802467"/>
              <a:gd name="connsiteX52" fmla="*/ 1 w 12192000"/>
              <a:gd name="connsiteY52" fmla="*/ 2236410 h 2802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12192000" h="2802467">
                <a:moveTo>
                  <a:pt x="1" y="0"/>
                </a:moveTo>
                <a:lnTo>
                  <a:pt x="71932" y="12261"/>
                </a:lnTo>
                <a:lnTo>
                  <a:pt x="282848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7"/>
                </a:lnTo>
                <a:lnTo>
                  <a:pt x="3464881" y="414415"/>
                </a:lnTo>
                <a:lnTo>
                  <a:pt x="3889152" y="443840"/>
                </a:lnTo>
                <a:lnTo>
                  <a:pt x="4331710" y="471515"/>
                </a:lnTo>
                <a:lnTo>
                  <a:pt x="4558476" y="481323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2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3"/>
                </a:lnTo>
                <a:lnTo>
                  <a:pt x="8881651" y="442089"/>
                </a:lnTo>
                <a:lnTo>
                  <a:pt x="9153526" y="421070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0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236410"/>
                </a:lnTo>
                <a:lnTo>
                  <a:pt x="12192000" y="2236410"/>
                </a:lnTo>
                <a:lnTo>
                  <a:pt x="12192000" y="2802467"/>
                </a:lnTo>
                <a:lnTo>
                  <a:pt x="12191696" y="2802467"/>
                </a:lnTo>
                <a:lnTo>
                  <a:pt x="0" y="2802467"/>
                </a:lnTo>
                <a:lnTo>
                  <a:pt x="0" y="2236410"/>
                </a:lnTo>
                <a:lnTo>
                  <a:pt x="1" y="223641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3C7492-F9F1-9BF6-F687-4DCD146431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5505" y="623571"/>
            <a:ext cx="10260990" cy="3523885"/>
          </a:xfrm>
        </p:spPr>
        <p:txBody>
          <a:bodyPr>
            <a:normAutofit/>
          </a:bodyPr>
          <a:lstStyle/>
          <a:p>
            <a:pPr algn="ctr">
              <a:lnSpc>
                <a:spcPct val="90000"/>
              </a:lnSpc>
            </a:pPr>
            <a:r>
              <a:rPr lang="en-US" sz="5000" dirty="0">
                <a:solidFill>
                  <a:srgbClr val="FFFFFF"/>
                </a:solidFill>
              </a:rPr>
              <a:t>I also tried training on residuals and combining the results, but model was not able to get any useful additional useful information</a:t>
            </a:r>
            <a:endParaRPr lang="ru-RU" sz="5000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B09E4-C3C4-12AC-06AF-B585F1B33E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505" y="4777380"/>
            <a:ext cx="10260990" cy="1209763"/>
          </a:xfrm>
        </p:spPr>
        <p:txBody>
          <a:bodyPr>
            <a:noAutofit/>
          </a:bodyPr>
          <a:lstStyle/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Result of the training:</a:t>
            </a:r>
          </a:p>
          <a:p>
            <a:pPr algn="ctr">
              <a:lnSpc>
                <a:spcPct val="90000"/>
              </a:lnSpc>
            </a:pPr>
            <a:r>
              <a:rPr lang="en-US" sz="2400" dirty="0">
                <a:solidFill>
                  <a:schemeClr val="tx1"/>
                </a:solidFill>
              </a:rPr>
              <a:t>Scratch Model Accuracy: 84.72% Combined Model Accuracy after Residual Training: 84.58% ⚠️ No improvement after residual training. Using original model predictions</a:t>
            </a:r>
            <a:endParaRPr lang="ru-RU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03781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48EBC-5B4F-B842-80AE-D135E75FC3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7304" y="543232"/>
            <a:ext cx="8825658" cy="3329581"/>
          </a:xfrm>
        </p:spPr>
        <p:txBody>
          <a:bodyPr/>
          <a:lstStyle/>
          <a:p>
            <a:r>
              <a:rPr lang="en-US" sz="4800" dirty="0"/>
              <a:t>In the next slides I’ll be discussing using bootstrap sampling and binomial distribution for approximating 95% confidence intervals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2F6878-178A-EF85-9FA3-60D127771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7304" y="3961301"/>
            <a:ext cx="8825658" cy="2353467"/>
          </a:xfrm>
        </p:spPr>
        <p:txBody>
          <a:bodyPr>
            <a:normAutofit/>
          </a:bodyPr>
          <a:lstStyle/>
          <a:p>
            <a:r>
              <a:rPr lang="en-US" dirty="0"/>
              <a:t>Bootstrap sampling: used  for aggregated model accuracy</a:t>
            </a:r>
          </a:p>
          <a:p>
            <a:r>
              <a:rPr lang="en-US" dirty="0"/>
              <a:t>Binomial distribution: used for per class accuracies</a:t>
            </a:r>
          </a:p>
          <a:p>
            <a:r>
              <a:rPr lang="en-US" dirty="0"/>
              <a:t>Discussion of when those approaches are valid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64052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D5BB76-2F8C-A251-727C-41F0B673DA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6111" y="452718"/>
            <a:ext cx="9404723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Validity of Bootstrap Sampling for Confidence Interval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0D0FF6-8BE0-700F-465C-48F3B341BA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3312" y="2052918"/>
            <a:ext cx="8946541" cy="419548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When Used: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To estimate confidence intervals for overall model accuracy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It's Valid: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Does not assume identical probability of success across examples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Captures variability through resampling with replacement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Approximates the empirical sampling distribution of accuracy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Works well even when class accuracies differ significantly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Binomial Doesn’t Work Here: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Accuracy varies by class → trials are not identically distributed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Violates binomial assumptions → bootstrap is a better choice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81544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1B28F63-CF00-448F-B141-FE33C33B18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E609E2-8522-44E4-9077-980E5BCF3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2" name="Oval 11">
            <a:extLst>
              <a:ext uri="{FF2B5EF4-FFF2-40B4-BE49-F238E27FC236}">
                <a16:creationId xmlns:a16="http://schemas.microsoft.com/office/drawing/2014/main" id="{4FA533C5-33E3-4611-AF9F-72811D8B26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49AD42-25FD-4C3D-9EEE-B7FEC5809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C7D913-60B7-4603-881B-831DA5D3A9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7F0FDC4-AD8C-47D9-9131-623C98ADB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6179A0-4306-A703-A5EB-46FB23CFDE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6111" y="452718"/>
            <a:ext cx="9404723" cy="140053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200" b="0" i="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Validity of Binomial Approximation (Per-Class Accuracy)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2C45FC-36EB-7C3A-D7F4-D7D1C6B380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3312" y="2052918"/>
            <a:ext cx="8946541" cy="419548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When Used: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To estimate confidence intervals for per-class accuracies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Why It's Valid: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Each class forms a set of i.i.d. Bernoulli trials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Constant probability of success within the same class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Allows modeling with binomial distribution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🔹 Normal Approximation Condition: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Valid if: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n⋅p≥5 &amp; n⋅(1−p)≥5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r>
              <a:rPr lang="en-US" sz="1900">
                <a:solidFill>
                  <a:schemeClr val="tx1"/>
                </a:solidFill>
              </a:rPr>
              <a:t>For n=120, this fails when there are fewer than 5 misclassifications</a:t>
            </a: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  <a:p>
            <a:pPr>
              <a:lnSpc>
                <a:spcPct val="90000"/>
              </a:lnSpc>
              <a:buFont typeface="Wingdings 3" charset="2"/>
              <a:buChar char=""/>
            </a:pPr>
            <a:endParaRPr lang="en-US" sz="1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60711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A0807-EF54-9E25-A548-58C8478CF0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0039"/>
            <a:ext cx="8825658" cy="3329581"/>
          </a:xfrm>
        </p:spPr>
        <p:txBody>
          <a:bodyPr/>
          <a:lstStyle/>
          <a:p>
            <a:r>
              <a:rPr lang="en-US" sz="4800" dirty="0"/>
              <a:t>Developing approximated 95% confidence interval for aggregated model accuracy using bootstrap sampling</a:t>
            </a:r>
            <a:endParaRPr lang="ru-RU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48FEA0-878C-0228-0D18-78176DF1B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9595" y="3649620"/>
            <a:ext cx="8825658" cy="861420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100k bootstrap samples used</a:t>
            </a:r>
          </a:p>
          <a:p>
            <a:r>
              <a:rPr lang="en-US" sz="2400" dirty="0">
                <a:solidFill>
                  <a:schemeClr val="tx1">
                    <a:lumMod val="95000"/>
                  </a:schemeClr>
                </a:solidFill>
              </a:rPr>
              <a:t>Results:</a:t>
            </a:r>
          </a:p>
          <a:p>
            <a:endParaRPr lang="en-US" dirty="0"/>
          </a:p>
          <a:p>
            <a:endParaRPr lang="ru-RU" dirty="0"/>
          </a:p>
        </p:txBody>
      </p:sp>
      <p:pic>
        <p:nvPicPr>
          <p:cNvPr id="5" name="Picture 4" descr="A black text with black text&#10;&#10;AI-generated content may be incorrect.">
            <a:extLst>
              <a:ext uri="{FF2B5EF4-FFF2-40B4-BE49-F238E27FC236}">
                <a16:creationId xmlns:a16="http://schemas.microsoft.com/office/drawing/2014/main" id="{95612764-EEBF-C566-8BE4-640B0E2BCA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95" y="4716421"/>
            <a:ext cx="10214085" cy="204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5134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67CA421-FA2B-47ED-A101-F8BBEBB29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F3214F-7155-7C7F-4DD8-AC4C6F8C4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00279" y="1325880"/>
            <a:ext cx="3344020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How my bootstrap sampling distribution of model accuracy looks like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2425D82-CD5E-45A4-9542-70951E59F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6914" y="639905"/>
            <a:ext cx="6915664" cy="55781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1DB897-A621-4D5F-AC81-91199AC437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diagram of a graph&#10;&#10;AI-generated content may be incorrect.">
            <a:extLst>
              <a:ext uri="{FF2B5EF4-FFF2-40B4-BE49-F238E27FC236}">
                <a16:creationId xmlns:a16="http://schemas.microsoft.com/office/drawing/2014/main" id="{279F64F9-7E54-A1F2-1970-DD9A760DE2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913" y="751840"/>
            <a:ext cx="6799777" cy="53441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74376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0F6071B-48FA-4685-A9C9-A7B21E1C1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white text with black numbers and a black text&#10;&#10;AI-generated content may be incorrect.">
            <a:extLst>
              <a:ext uri="{FF2B5EF4-FFF2-40B4-BE49-F238E27FC236}">
                <a16:creationId xmlns:a16="http://schemas.microsoft.com/office/drawing/2014/main" id="{3F0F0944-56E2-D14D-DEAF-1FA50BB41FD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243840"/>
            <a:ext cx="11007902" cy="3444239"/>
          </a:xfrm>
          <a:prstGeom prst="rect">
            <a:avLst/>
          </a:prstGeom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C56044C-1580-4C45-8AA3-F2A07478B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1A8E3CE-561F-42BE-B6A2-FBE96F9A82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-1" y="3579207"/>
            <a:ext cx="12191696" cy="3278793"/>
          </a:xfrm>
          <a:custGeom>
            <a:avLst/>
            <a:gdLst>
              <a:gd name="connsiteX0" fmla="*/ 1 w 12191696"/>
              <a:gd name="connsiteY0" fmla="*/ 0 h 3278793"/>
              <a:gd name="connsiteX1" fmla="*/ 71932 w 12191696"/>
              <a:gd name="connsiteY1" fmla="*/ 12261 h 3278793"/>
              <a:gd name="connsiteX2" fmla="*/ 282849 w 12191696"/>
              <a:gd name="connsiteY2" fmla="*/ 48343 h 3278793"/>
              <a:gd name="connsiteX3" fmla="*/ 436464 w 12191696"/>
              <a:gd name="connsiteY3" fmla="*/ 73565 h 3278793"/>
              <a:gd name="connsiteX4" fmla="*/ 619339 w 12191696"/>
              <a:gd name="connsiteY4" fmla="*/ 100188 h 3278793"/>
              <a:gd name="connsiteX5" fmla="*/ 836351 w 12191696"/>
              <a:gd name="connsiteY5" fmla="*/ 132066 h 3278793"/>
              <a:gd name="connsiteX6" fmla="*/ 1076528 w 12191696"/>
              <a:gd name="connsiteY6" fmla="*/ 165696 h 3278793"/>
              <a:gd name="connsiteX7" fmla="*/ 1347183 w 12191696"/>
              <a:gd name="connsiteY7" fmla="*/ 201077 h 3278793"/>
              <a:gd name="connsiteX8" fmla="*/ 1642223 w 12191696"/>
              <a:gd name="connsiteY8" fmla="*/ 238560 h 3278793"/>
              <a:gd name="connsiteX9" fmla="*/ 1962864 w 12191696"/>
              <a:gd name="connsiteY9" fmla="*/ 276043 h 3278793"/>
              <a:gd name="connsiteX10" fmla="*/ 2304232 w 12191696"/>
              <a:gd name="connsiteY10" fmla="*/ 314227 h 3278793"/>
              <a:gd name="connsiteX11" fmla="*/ 2672421 w 12191696"/>
              <a:gd name="connsiteY11" fmla="*/ 349608 h 3278793"/>
              <a:gd name="connsiteX12" fmla="*/ 3057678 w 12191696"/>
              <a:gd name="connsiteY12" fmla="*/ 383588 h 3278793"/>
              <a:gd name="connsiteX13" fmla="*/ 3464881 w 12191696"/>
              <a:gd name="connsiteY13" fmla="*/ 414415 h 3278793"/>
              <a:gd name="connsiteX14" fmla="*/ 3889152 w 12191696"/>
              <a:gd name="connsiteY14" fmla="*/ 443841 h 3278793"/>
              <a:gd name="connsiteX15" fmla="*/ 4331710 w 12191696"/>
              <a:gd name="connsiteY15" fmla="*/ 471515 h 3278793"/>
              <a:gd name="connsiteX16" fmla="*/ 4558476 w 12191696"/>
              <a:gd name="connsiteY16" fmla="*/ 481324 h 3278793"/>
              <a:gd name="connsiteX17" fmla="*/ 4790118 w 12191696"/>
              <a:gd name="connsiteY17" fmla="*/ 492183 h 3278793"/>
              <a:gd name="connsiteX18" fmla="*/ 5025418 w 12191696"/>
              <a:gd name="connsiteY18" fmla="*/ 502342 h 3278793"/>
              <a:gd name="connsiteX19" fmla="*/ 5261937 w 12191696"/>
              <a:gd name="connsiteY19" fmla="*/ 508998 h 3278793"/>
              <a:gd name="connsiteX20" fmla="*/ 5503333 w 12191696"/>
              <a:gd name="connsiteY20" fmla="*/ 514953 h 3278793"/>
              <a:gd name="connsiteX21" fmla="*/ 5747166 w 12191696"/>
              <a:gd name="connsiteY21" fmla="*/ 521259 h 3278793"/>
              <a:gd name="connsiteX22" fmla="*/ 5995877 w 12191696"/>
              <a:gd name="connsiteY22" fmla="*/ 525463 h 3278793"/>
              <a:gd name="connsiteX23" fmla="*/ 6247026 w 12191696"/>
              <a:gd name="connsiteY23" fmla="*/ 525463 h 3278793"/>
              <a:gd name="connsiteX24" fmla="*/ 6500613 w 12191696"/>
              <a:gd name="connsiteY24" fmla="*/ 527565 h 3278793"/>
              <a:gd name="connsiteX25" fmla="*/ 6756639 w 12191696"/>
              <a:gd name="connsiteY25" fmla="*/ 525463 h 3278793"/>
              <a:gd name="connsiteX26" fmla="*/ 7016322 w 12191696"/>
              <a:gd name="connsiteY26" fmla="*/ 521259 h 3278793"/>
              <a:gd name="connsiteX27" fmla="*/ 7276005 w 12191696"/>
              <a:gd name="connsiteY27" fmla="*/ 517406 h 3278793"/>
              <a:gd name="connsiteX28" fmla="*/ 7539345 w 12191696"/>
              <a:gd name="connsiteY28" fmla="*/ 508998 h 3278793"/>
              <a:gd name="connsiteX29" fmla="*/ 7805124 w 12191696"/>
              <a:gd name="connsiteY29" fmla="*/ 500241 h 3278793"/>
              <a:gd name="connsiteX30" fmla="*/ 8070903 w 12191696"/>
              <a:gd name="connsiteY30" fmla="*/ 490082 h 3278793"/>
              <a:gd name="connsiteX31" fmla="*/ 8339121 w 12191696"/>
              <a:gd name="connsiteY31" fmla="*/ 475719 h 3278793"/>
              <a:gd name="connsiteX32" fmla="*/ 8609776 w 12191696"/>
              <a:gd name="connsiteY32" fmla="*/ 458554 h 3278793"/>
              <a:gd name="connsiteX33" fmla="*/ 8881651 w 12191696"/>
              <a:gd name="connsiteY33" fmla="*/ 442089 h 3278793"/>
              <a:gd name="connsiteX34" fmla="*/ 9153526 w 12191696"/>
              <a:gd name="connsiteY34" fmla="*/ 421071 h 3278793"/>
              <a:gd name="connsiteX35" fmla="*/ 9429058 w 12191696"/>
              <a:gd name="connsiteY35" fmla="*/ 395849 h 3278793"/>
              <a:gd name="connsiteX36" fmla="*/ 9700933 w 12191696"/>
              <a:gd name="connsiteY36" fmla="*/ 370626 h 3278793"/>
              <a:gd name="connsiteX37" fmla="*/ 9977684 w 12191696"/>
              <a:gd name="connsiteY37" fmla="*/ 341551 h 3278793"/>
              <a:gd name="connsiteX38" fmla="*/ 10255655 w 12191696"/>
              <a:gd name="connsiteY38" fmla="*/ 309673 h 3278793"/>
              <a:gd name="connsiteX39" fmla="*/ 10529968 w 12191696"/>
              <a:gd name="connsiteY39" fmla="*/ 276043 h 3278793"/>
              <a:gd name="connsiteX40" fmla="*/ 10807939 w 12191696"/>
              <a:gd name="connsiteY40" fmla="*/ 236809 h 3278793"/>
              <a:gd name="connsiteX41" fmla="*/ 11084690 w 12191696"/>
              <a:gd name="connsiteY41" fmla="*/ 194772 h 3278793"/>
              <a:gd name="connsiteX42" fmla="*/ 11362661 w 12191696"/>
              <a:gd name="connsiteY42" fmla="*/ 153085 h 3278793"/>
              <a:gd name="connsiteX43" fmla="*/ 11639412 w 12191696"/>
              <a:gd name="connsiteY43" fmla="*/ 104392 h 3278793"/>
              <a:gd name="connsiteX44" fmla="*/ 11914945 w 12191696"/>
              <a:gd name="connsiteY44" fmla="*/ 54648 h 3278793"/>
              <a:gd name="connsiteX45" fmla="*/ 12191696 w 12191696"/>
              <a:gd name="connsiteY45" fmla="*/ 2452 h 3278793"/>
              <a:gd name="connsiteX46" fmla="*/ 12191696 w 12191696"/>
              <a:gd name="connsiteY46" fmla="*/ 2802467 h 3278793"/>
              <a:gd name="connsiteX47" fmla="*/ 12191695 w 12191696"/>
              <a:gd name="connsiteY47" fmla="*/ 2802467 h 3278793"/>
              <a:gd name="connsiteX48" fmla="*/ 12191695 w 12191696"/>
              <a:gd name="connsiteY48" fmla="*/ 3278793 h 3278793"/>
              <a:gd name="connsiteX49" fmla="*/ 0 w 12191696"/>
              <a:gd name="connsiteY49" fmla="*/ 3278793 h 3278793"/>
              <a:gd name="connsiteX50" fmla="*/ 0 w 12191696"/>
              <a:gd name="connsiteY50" fmla="*/ 2134639 h 3278793"/>
              <a:gd name="connsiteX51" fmla="*/ 1 w 12191696"/>
              <a:gd name="connsiteY51" fmla="*/ 2134639 h 3278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278793">
                <a:moveTo>
                  <a:pt x="1" y="0"/>
                </a:moveTo>
                <a:lnTo>
                  <a:pt x="71932" y="12261"/>
                </a:lnTo>
                <a:lnTo>
                  <a:pt x="282849" y="48343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7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3"/>
                </a:lnTo>
                <a:lnTo>
                  <a:pt x="6247026" y="525463"/>
                </a:lnTo>
                <a:lnTo>
                  <a:pt x="6500613" y="527565"/>
                </a:lnTo>
                <a:lnTo>
                  <a:pt x="6756639" y="525463"/>
                </a:lnTo>
                <a:lnTo>
                  <a:pt x="7016322" y="521259"/>
                </a:lnTo>
                <a:lnTo>
                  <a:pt x="7276005" y="517406"/>
                </a:lnTo>
                <a:lnTo>
                  <a:pt x="7539345" y="508998"/>
                </a:lnTo>
                <a:lnTo>
                  <a:pt x="7805124" y="500241"/>
                </a:lnTo>
                <a:lnTo>
                  <a:pt x="8070903" y="490082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9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3"/>
                </a:lnTo>
                <a:lnTo>
                  <a:pt x="10529968" y="276043"/>
                </a:lnTo>
                <a:lnTo>
                  <a:pt x="10807939" y="236809"/>
                </a:lnTo>
                <a:lnTo>
                  <a:pt x="11084690" y="194772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278793"/>
                </a:lnTo>
                <a:lnTo>
                  <a:pt x="0" y="3278793"/>
                </a:lnTo>
                <a:lnTo>
                  <a:pt x="0" y="2134639"/>
                </a:lnTo>
                <a:lnTo>
                  <a:pt x="1" y="2134639"/>
                </a:lnTo>
                <a:close/>
              </a:path>
            </a:pathLst>
          </a:custGeom>
          <a:ln>
            <a:noFill/>
          </a:ln>
        </p:spPr>
        <p:style>
          <a:lnRef idx="0">
            <a:scrgbClr r="0" g="0" b="0"/>
          </a:lnRef>
          <a:fillRef idx="1003">
            <a:schemeClr val="dk2"/>
          </a:fillRef>
          <a:effectRef idx="0">
            <a:scrgbClr r="0" g="0" b="0"/>
          </a:effectRef>
          <a:fontRef idx="major"/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ECBA90-F37C-9329-B554-DAB833520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6" y="4371849"/>
            <a:ext cx="9149350" cy="135052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95% confidence intervals for per class accuracies using binomial distribution.</a:t>
            </a:r>
          </a:p>
        </p:txBody>
      </p:sp>
      <p:sp>
        <p:nvSpPr>
          <p:cNvPr id="27" name="Freeform 16">
            <a:extLst>
              <a:ext uri="{FF2B5EF4-FFF2-40B4-BE49-F238E27FC236}">
                <a16:creationId xmlns:a16="http://schemas.microsoft.com/office/drawing/2014/main" id="{7DE548AA-7E1A-497C-8B79-C74F42ACFB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40" y="3280011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29129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99F954-DFB2-A876-C5EC-DF89F417A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1" y="1454964"/>
            <a:ext cx="3339281" cy="33088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800"/>
              <a:t>Testing my model on some external unseen picture:</a:t>
            </a:r>
          </a:p>
        </p:txBody>
      </p:sp>
      <p:pic>
        <p:nvPicPr>
          <p:cNvPr id="4" name="Picture 3" descr="A car that has been crashed&#10;&#10;AI-generated content may be incorrect.">
            <a:extLst>
              <a:ext uri="{FF2B5EF4-FFF2-40B4-BE49-F238E27FC236}">
                <a16:creationId xmlns:a16="http://schemas.microsoft.com/office/drawing/2014/main" id="{4EA2CB5C-9453-2C52-76DA-0D3A74E009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3716"/>
          <a:stretch>
            <a:fillRect/>
          </a:stretch>
        </p:blipFill>
        <p:spPr>
          <a:xfrm>
            <a:off x="4634683" y="10"/>
            <a:ext cx="7557318" cy="685799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BFEFF673-A9DE-416D-A04E-1D5090454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5435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1B8F9CB-890B-4CB8-B503-188A763E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632AB4-3837-4FD0-8B62-0A18B573F4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C393B4A7-6ABF-423D-A762-3CDB4897A8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CD2319A-6FA9-4EFB-9EDF-7304467425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1692A93-3514-4486-8B67-CCA4E0259B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01AD250C-F2EA-449F-9B14-DF5BB674C5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78424C-6FD0-41F8-9CAA-5DC19C4235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29DB7-7C58-85F7-50E8-3B452D595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55" y="1447800"/>
            <a:ext cx="3108626" cy="45720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>
                <a:solidFill>
                  <a:srgbClr val="F2F2F2"/>
                </a:solidFill>
              </a:rPr>
              <a:t>Now the final upgrade, using pretrained model Resnet50</a:t>
            </a:r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D136760-57DC-4301-8BEA-B71AD2D139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61310" y="0"/>
            <a:ext cx="8030690" cy="6858000"/>
          </a:xfrm>
          <a:custGeom>
            <a:avLst/>
            <a:gdLst>
              <a:gd name="connsiteX0" fmla="*/ 1176 w 8030690"/>
              <a:gd name="connsiteY0" fmla="*/ 0 h 6858000"/>
              <a:gd name="connsiteX1" fmla="*/ 1344715 w 8030690"/>
              <a:gd name="connsiteY1" fmla="*/ 0 h 6858000"/>
              <a:gd name="connsiteX2" fmla="*/ 1344715 w 8030690"/>
              <a:gd name="connsiteY2" fmla="*/ 0 h 6858000"/>
              <a:gd name="connsiteX3" fmla="*/ 8030690 w 8030690"/>
              <a:gd name="connsiteY3" fmla="*/ 0 h 6858000"/>
              <a:gd name="connsiteX4" fmla="*/ 8030690 w 8030690"/>
              <a:gd name="connsiteY4" fmla="*/ 6858000 h 6858000"/>
              <a:gd name="connsiteX5" fmla="*/ 477746 w 8030690"/>
              <a:gd name="connsiteY5" fmla="*/ 6858000 h 6858000"/>
              <a:gd name="connsiteX6" fmla="*/ 477746 w 8030690"/>
              <a:gd name="connsiteY6" fmla="*/ 6858000 h 6858000"/>
              <a:gd name="connsiteX7" fmla="*/ 0 w 8030690"/>
              <a:gd name="connsiteY7" fmla="*/ 6858000 h 6858000"/>
              <a:gd name="connsiteX8" fmla="*/ 5883 w 8030690"/>
              <a:gd name="connsiteY8" fmla="*/ 6817538 h 6858000"/>
              <a:gd name="connsiteX9" fmla="*/ 23196 w 8030690"/>
              <a:gd name="connsiteY9" fmla="*/ 6698894 h 6858000"/>
              <a:gd name="connsiteX10" fmla="*/ 35298 w 8030690"/>
              <a:gd name="connsiteY10" fmla="*/ 6612483 h 6858000"/>
              <a:gd name="connsiteX11" fmla="*/ 48073 w 8030690"/>
              <a:gd name="connsiteY11" fmla="*/ 6509613 h 6858000"/>
              <a:gd name="connsiteX12" fmla="*/ 63369 w 8030690"/>
              <a:gd name="connsiteY12" fmla="*/ 6387541 h 6858000"/>
              <a:gd name="connsiteX13" fmla="*/ 79506 w 8030690"/>
              <a:gd name="connsiteY13" fmla="*/ 6252438 h 6858000"/>
              <a:gd name="connsiteX14" fmla="*/ 96483 w 8030690"/>
              <a:gd name="connsiteY14" fmla="*/ 6100191 h 6858000"/>
              <a:gd name="connsiteX15" fmla="*/ 114468 w 8030690"/>
              <a:gd name="connsiteY15" fmla="*/ 5934227 h 6858000"/>
              <a:gd name="connsiteX16" fmla="*/ 132454 w 8030690"/>
              <a:gd name="connsiteY16" fmla="*/ 5753862 h 6858000"/>
              <a:gd name="connsiteX17" fmla="*/ 150775 w 8030690"/>
              <a:gd name="connsiteY17" fmla="*/ 5561838 h 6858000"/>
              <a:gd name="connsiteX18" fmla="*/ 167752 w 8030690"/>
              <a:gd name="connsiteY18" fmla="*/ 5354726 h 6858000"/>
              <a:gd name="connsiteX19" fmla="*/ 184057 w 8030690"/>
              <a:gd name="connsiteY19" fmla="*/ 5138013 h 6858000"/>
              <a:gd name="connsiteX20" fmla="*/ 198849 w 8030690"/>
              <a:gd name="connsiteY20" fmla="*/ 4908956 h 6858000"/>
              <a:gd name="connsiteX21" fmla="*/ 212968 w 8030690"/>
              <a:gd name="connsiteY21" fmla="*/ 4670298 h 6858000"/>
              <a:gd name="connsiteX22" fmla="*/ 226248 w 8030690"/>
              <a:gd name="connsiteY22" fmla="*/ 4421352 h 6858000"/>
              <a:gd name="connsiteX23" fmla="*/ 230954 w 8030690"/>
              <a:gd name="connsiteY23" fmla="*/ 4293793 h 6858000"/>
              <a:gd name="connsiteX24" fmla="*/ 236165 w 8030690"/>
              <a:gd name="connsiteY24" fmla="*/ 4163491 h 6858000"/>
              <a:gd name="connsiteX25" fmla="*/ 241039 w 8030690"/>
              <a:gd name="connsiteY25" fmla="*/ 4031132 h 6858000"/>
              <a:gd name="connsiteX26" fmla="*/ 244233 w 8030690"/>
              <a:gd name="connsiteY26" fmla="*/ 3898087 h 6858000"/>
              <a:gd name="connsiteX27" fmla="*/ 247091 w 8030690"/>
              <a:gd name="connsiteY27" fmla="*/ 3762298 h 6858000"/>
              <a:gd name="connsiteX28" fmla="*/ 250116 w 8030690"/>
              <a:gd name="connsiteY28" fmla="*/ 3625138 h 6858000"/>
              <a:gd name="connsiteX29" fmla="*/ 252133 w 8030690"/>
              <a:gd name="connsiteY29" fmla="*/ 3485235 h 6858000"/>
              <a:gd name="connsiteX30" fmla="*/ 252133 w 8030690"/>
              <a:gd name="connsiteY30" fmla="*/ 3343960 h 6858000"/>
              <a:gd name="connsiteX31" fmla="*/ 253142 w 8030690"/>
              <a:gd name="connsiteY31" fmla="*/ 3201314 h 6858000"/>
              <a:gd name="connsiteX32" fmla="*/ 252133 w 8030690"/>
              <a:gd name="connsiteY32" fmla="*/ 3057296 h 6858000"/>
              <a:gd name="connsiteX33" fmla="*/ 250116 w 8030690"/>
              <a:gd name="connsiteY33" fmla="*/ 2911221 h 6858000"/>
              <a:gd name="connsiteX34" fmla="*/ 248267 w 8030690"/>
              <a:gd name="connsiteY34" fmla="*/ 2765145 h 6858000"/>
              <a:gd name="connsiteX35" fmla="*/ 244233 w 8030690"/>
              <a:gd name="connsiteY35" fmla="*/ 2617013 h 6858000"/>
              <a:gd name="connsiteX36" fmla="*/ 240031 w 8030690"/>
              <a:gd name="connsiteY36" fmla="*/ 2467508 h 6858000"/>
              <a:gd name="connsiteX37" fmla="*/ 235156 w 8030690"/>
              <a:gd name="connsiteY37" fmla="*/ 2318004 h 6858000"/>
              <a:gd name="connsiteX38" fmla="*/ 228265 w 8030690"/>
              <a:gd name="connsiteY38" fmla="*/ 2167128 h 6858000"/>
              <a:gd name="connsiteX39" fmla="*/ 220028 w 8030690"/>
              <a:gd name="connsiteY39" fmla="*/ 2014880 h 6858000"/>
              <a:gd name="connsiteX40" fmla="*/ 212128 w 8030690"/>
              <a:gd name="connsiteY40" fmla="*/ 1861947 h 6858000"/>
              <a:gd name="connsiteX41" fmla="*/ 202043 w 8030690"/>
              <a:gd name="connsiteY41" fmla="*/ 1709013 h 6858000"/>
              <a:gd name="connsiteX42" fmla="*/ 189940 w 8030690"/>
              <a:gd name="connsiteY42" fmla="*/ 1554023 h 6858000"/>
              <a:gd name="connsiteX43" fmla="*/ 177838 w 8030690"/>
              <a:gd name="connsiteY43" fmla="*/ 1401089 h 6858000"/>
              <a:gd name="connsiteX44" fmla="*/ 163886 w 8030690"/>
              <a:gd name="connsiteY44" fmla="*/ 1245413 h 6858000"/>
              <a:gd name="connsiteX45" fmla="*/ 148590 w 8030690"/>
              <a:gd name="connsiteY45" fmla="*/ 1089050 h 6858000"/>
              <a:gd name="connsiteX46" fmla="*/ 132454 w 8030690"/>
              <a:gd name="connsiteY46" fmla="*/ 934745 h 6858000"/>
              <a:gd name="connsiteX47" fmla="*/ 113628 w 8030690"/>
              <a:gd name="connsiteY47" fmla="*/ 778383 h 6858000"/>
              <a:gd name="connsiteX48" fmla="*/ 93457 w 8030690"/>
              <a:gd name="connsiteY48" fmla="*/ 622706 h 6858000"/>
              <a:gd name="connsiteX49" fmla="*/ 73454 w 8030690"/>
              <a:gd name="connsiteY49" fmla="*/ 466344 h 6858000"/>
              <a:gd name="connsiteX50" fmla="*/ 50090 w 8030690"/>
              <a:gd name="connsiteY50" fmla="*/ 310667 h 6858000"/>
              <a:gd name="connsiteX51" fmla="*/ 26222 w 8030690"/>
              <a:gd name="connsiteY51" fmla="*/ 15567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8030690" h="6858000">
                <a:moveTo>
                  <a:pt x="1176" y="0"/>
                </a:moveTo>
                <a:lnTo>
                  <a:pt x="1344715" y="0"/>
                </a:lnTo>
                <a:lnTo>
                  <a:pt x="1344715" y="0"/>
                </a:lnTo>
                <a:lnTo>
                  <a:pt x="8030690" y="0"/>
                </a:lnTo>
                <a:lnTo>
                  <a:pt x="8030690" y="6858000"/>
                </a:lnTo>
                <a:lnTo>
                  <a:pt x="477746" y="6858000"/>
                </a:lnTo>
                <a:lnTo>
                  <a:pt x="477746" y="6858000"/>
                </a:lnTo>
                <a:lnTo>
                  <a:pt x="0" y="6858000"/>
                </a:lnTo>
                <a:lnTo>
                  <a:pt x="5883" y="6817538"/>
                </a:lnTo>
                <a:lnTo>
                  <a:pt x="23196" y="6698894"/>
                </a:lnTo>
                <a:lnTo>
                  <a:pt x="35298" y="6612483"/>
                </a:lnTo>
                <a:lnTo>
                  <a:pt x="48073" y="6509613"/>
                </a:lnTo>
                <a:lnTo>
                  <a:pt x="63369" y="6387541"/>
                </a:lnTo>
                <a:lnTo>
                  <a:pt x="79506" y="6252438"/>
                </a:lnTo>
                <a:lnTo>
                  <a:pt x="96483" y="6100191"/>
                </a:lnTo>
                <a:lnTo>
                  <a:pt x="114468" y="5934227"/>
                </a:lnTo>
                <a:lnTo>
                  <a:pt x="132454" y="5753862"/>
                </a:lnTo>
                <a:lnTo>
                  <a:pt x="150775" y="5561838"/>
                </a:lnTo>
                <a:lnTo>
                  <a:pt x="167752" y="5354726"/>
                </a:lnTo>
                <a:lnTo>
                  <a:pt x="184057" y="5138013"/>
                </a:lnTo>
                <a:lnTo>
                  <a:pt x="198849" y="4908956"/>
                </a:lnTo>
                <a:lnTo>
                  <a:pt x="212968" y="4670298"/>
                </a:lnTo>
                <a:lnTo>
                  <a:pt x="226248" y="4421352"/>
                </a:lnTo>
                <a:lnTo>
                  <a:pt x="230954" y="4293793"/>
                </a:lnTo>
                <a:lnTo>
                  <a:pt x="236165" y="4163491"/>
                </a:lnTo>
                <a:lnTo>
                  <a:pt x="241039" y="4031132"/>
                </a:lnTo>
                <a:lnTo>
                  <a:pt x="244233" y="3898087"/>
                </a:lnTo>
                <a:lnTo>
                  <a:pt x="247091" y="3762298"/>
                </a:lnTo>
                <a:lnTo>
                  <a:pt x="250116" y="3625138"/>
                </a:lnTo>
                <a:lnTo>
                  <a:pt x="252133" y="3485235"/>
                </a:lnTo>
                <a:lnTo>
                  <a:pt x="252133" y="3343960"/>
                </a:lnTo>
                <a:lnTo>
                  <a:pt x="253142" y="3201314"/>
                </a:lnTo>
                <a:lnTo>
                  <a:pt x="252133" y="3057296"/>
                </a:lnTo>
                <a:lnTo>
                  <a:pt x="250116" y="2911221"/>
                </a:lnTo>
                <a:lnTo>
                  <a:pt x="248267" y="2765145"/>
                </a:lnTo>
                <a:lnTo>
                  <a:pt x="244233" y="2617013"/>
                </a:lnTo>
                <a:lnTo>
                  <a:pt x="240031" y="2467508"/>
                </a:lnTo>
                <a:lnTo>
                  <a:pt x="235156" y="2318004"/>
                </a:lnTo>
                <a:lnTo>
                  <a:pt x="228265" y="2167128"/>
                </a:lnTo>
                <a:lnTo>
                  <a:pt x="220028" y="2014880"/>
                </a:lnTo>
                <a:lnTo>
                  <a:pt x="212128" y="1861947"/>
                </a:lnTo>
                <a:lnTo>
                  <a:pt x="202043" y="1709013"/>
                </a:lnTo>
                <a:lnTo>
                  <a:pt x="189940" y="1554023"/>
                </a:lnTo>
                <a:lnTo>
                  <a:pt x="177838" y="1401089"/>
                </a:lnTo>
                <a:lnTo>
                  <a:pt x="163886" y="1245413"/>
                </a:lnTo>
                <a:lnTo>
                  <a:pt x="148590" y="1089050"/>
                </a:lnTo>
                <a:lnTo>
                  <a:pt x="132454" y="934745"/>
                </a:lnTo>
                <a:lnTo>
                  <a:pt x="113628" y="778383"/>
                </a:lnTo>
                <a:lnTo>
                  <a:pt x="93457" y="622706"/>
                </a:lnTo>
                <a:lnTo>
                  <a:pt x="73454" y="466344"/>
                </a:lnTo>
                <a:lnTo>
                  <a:pt x="50090" y="310667"/>
                </a:lnTo>
                <a:lnTo>
                  <a:pt x="26222" y="15567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11">
            <a:extLst>
              <a:ext uri="{FF2B5EF4-FFF2-40B4-BE49-F238E27FC236}">
                <a16:creationId xmlns:a16="http://schemas.microsoft.com/office/drawing/2014/main" id="{BDC58DEA-1307-4F44-AD47-E613D8B76A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48110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9B912D-1E4B-42AF-A2BE-CFEFEC916E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1FD9AF8F-CC55-C1BB-A3AA-FD82F4885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4273310"/>
              </p:ext>
            </p:extLst>
          </p:nvPr>
        </p:nvGraphicFramePr>
        <p:xfrm>
          <a:off x="5048250" y="1447800"/>
          <a:ext cx="6496050" cy="4572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267602198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6AE4C-9338-0DB1-B566-B1DD76031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Pretrained model training results:</a:t>
            </a:r>
            <a:endParaRPr lang="ru-RU" dirty="0"/>
          </a:p>
        </p:txBody>
      </p:sp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49D63009-ECD0-D3AB-CDEE-65988B190F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1361440"/>
            <a:ext cx="10728960" cy="5323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538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7125C-47B4-D0BA-D570-EF29E8CF6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15" y="2204720"/>
            <a:ext cx="8825658" cy="1224280"/>
          </a:xfrm>
        </p:spPr>
        <p:txBody>
          <a:bodyPr/>
          <a:lstStyle/>
          <a:p>
            <a:r>
              <a:rPr lang="en-US" dirty="0"/>
              <a:t>Pretrained model Validation vs Test accuracy:</a:t>
            </a:r>
            <a:endParaRPr lang="ru-R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EDBB09-8D84-7BF3-0958-49166BC52D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8715" y="3832500"/>
            <a:ext cx="8825658" cy="2141580"/>
          </a:xfrm>
        </p:spPr>
        <p:txBody>
          <a:bodyPr>
            <a:normAutofit/>
          </a:bodyPr>
          <a:lstStyle/>
          <a:p>
            <a:r>
              <a:rPr lang="en-US" sz="2800" dirty="0">
                <a:solidFill>
                  <a:schemeClr val="tx1"/>
                </a:solidFill>
              </a:rPr>
              <a:t>Validation peak: 93.9%</a:t>
            </a:r>
          </a:p>
          <a:p>
            <a:r>
              <a:rPr lang="en-US" sz="2800" dirty="0">
                <a:solidFill>
                  <a:schemeClr val="tx1"/>
                </a:solidFill>
              </a:rPr>
              <a:t>Accuracy on the test set: 94.1</a:t>
            </a:r>
            <a:endParaRPr lang="ru-RU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800862"/>
      </p:ext>
    </p:extLst>
  </p:cSld>
  <p:clrMapOvr>
    <a:masterClrMapping/>
  </p:clrMapOvr>
  <p:transition spd="slow">
    <p:wip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D3AA5-A483-6038-F574-CFDE2E07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4876367"/>
          </a:xfrm>
        </p:spPr>
        <p:txBody>
          <a:bodyPr/>
          <a:lstStyle/>
          <a:p>
            <a:r>
              <a:rPr lang="en-US" b="1" dirty="0"/>
              <a:t>Per class accuracies:</a:t>
            </a:r>
            <a:br>
              <a:rPr lang="en-US" dirty="0"/>
            </a:br>
            <a:r>
              <a:rPr lang="en-US" sz="3200" b="1" i="1" dirty="0"/>
              <a:t>Flat Tire : </a:t>
            </a:r>
            <a:r>
              <a:rPr lang="en-US" sz="3200" dirty="0"/>
              <a:t>112/120 -&gt; 93.33% </a:t>
            </a:r>
            <a:br>
              <a:rPr lang="en-US" sz="3200" dirty="0"/>
            </a:br>
            <a:r>
              <a:rPr lang="en-US" sz="3200" b="1" i="1" dirty="0"/>
              <a:t>Glass Shatter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Lamp Broken : </a:t>
            </a:r>
            <a:r>
              <a:rPr lang="en-US" sz="3200" dirty="0"/>
              <a:t>113/120 -&gt; 94.17% </a:t>
            </a:r>
            <a:br>
              <a:rPr lang="en-US" sz="3200" dirty="0"/>
            </a:br>
            <a:r>
              <a:rPr lang="en-US" sz="3200" b="1" i="1" dirty="0"/>
              <a:t>No Damage : </a:t>
            </a:r>
            <a:r>
              <a:rPr lang="en-US" sz="3200" dirty="0"/>
              <a:t>116/120 -&gt; 96.67%   </a:t>
            </a:r>
            <a:r>
              <a:rPr lang="en-US" sz="3200" b="1" dirty="0">
                <a:solidFill>
                  <a:schemeClr val="tx2">
                    <a:lumMod val="10000"/>
                  </a:schemeClr>
                </a:solidFill>
              </a:rPr>
              <a:t>Note that it has more than 115/120 accuracy violating normality assumption in binomial conf. interval</a:t>
            </a:r>
            <a:br>
              <a:rPr lang="en-US" sz="3200" dirty="0"/>
            </a:br>
            <a:r>
              <a:rPr lang="en-US" sz="3200" b="1" i="1" dirty="0"/>
              <a:t>Significant Damage: </a:t>
            </a:r>
            <a:r>
              <a:rPr lang="en-US" sz="3200" dirty="0"/>
              <a:t>114/120 -&gt; 95.00% </a:t>
            </a:r>
            <a:br>
              <a:rPr lang="en-US" sz="3200" dirty="0"/>
            </a:br>
            <a:r>
              <a:rPr lang="en-US" sz="3200" b="1" i="1" dirty="0"/>
              <a:t>Surface Damage(Dents , Scratches): </a:t>
            </a:r>
            <a:r>
              <a:rPr lang="en-US" sz="3200" dirty="0"/>
              <a:t>109/120 -&gt; 90.83%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4091912028"/>
      </p:ext>
    </p:extLst>
  </p:cSld>
  <p:clrMapOvr>
    <a:masterClrMapping/>
  </p:clrMapOvr>
  <p:transition spd="slow">
    <p:wip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DD0C2D-6A38-D8D0-BF1A-715A2A6E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model per class accuracy vs pretrained model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graph of blue and red bars&#10;&#10;AI-generated content may be incorrect.">
            <a:extLst>
              <a:ext uri="{FF2B5EF4-FFF2-40B4-BE49-F238E27FC236}">
                <a16:creationId xmlns:a16="http://schemas.microsoft.com/office/drawing/2014/main" id="{3729291B-0A3A-3AC4-B28E-A04A9EF146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680" y="1743"/>
            <a:ext cx="7544225" cy="641096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11452214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7B325C-3E35-45CF-9D07-3BCB281F3B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18F2D6-79E2-0F58-3283-A96EC954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925" y="1325880"/>
            <a:ext cx="3352375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Let’s check the confusion matrix to see whether or not pretrained model still suffers from notable confusion.</a:t>
            </a:r>
          </a:p>
        </p:txBody>
      </p:sp>
      <p:sp>
        <p:nvSpPr>
          <p:cNvPr id="23" name="Freeform 36">
            <a:extLst>
              <a:ext uri="{FF2B5EF4-FFF2-40B4-BE49-F238E27FC236}">
                <a16:creationId xmlns:a16="http://schemas.microsoft.com/office/drawing/2014/main" id="{C24BEC42-AFF3-40D1-93A2-A27A42E1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63681" y="-1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5" name="Freeform: Shape 24">
            <a:extLst>
              <a:ext uri="{FF2B5EF4-FFF2-40B4-BE49-F238E27FC236}">
                <a16:creationId xmlns:a16="http://schemas.microsoft.com/office/drawing/2014/main" id="{608F427C-1EC9-4280-9367-F2B3AA063E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09954" cy="6858000"/>
          </a:xfrm>
          <a:custGeom>
            <a:avLst/>
            <a:gdLst>
              <a:gd name="connsiteX0" fmla="*/ 6465239 w 7809954"/>
              <a:gd name="connsiteY0" fmla="*/ 0 h 6858000"/>
              <a:gd name="connsiteX1" fmla="*/ 7808777 w 7809954"/>
              <a:gd name="connsiteY1" fmla="*/ 0 h 6858000"/>
              <a:gd name="connsiteX2" fmla="*/ 7783732 w 7809954"/>
              <a:gd name="connsiteY2" fmla="*/ 155676 h 6858000"/>
              <a:gd name="connsiteX3" fmla="*/ 7759863 w 7809954"/>
              <a:gd name="connsiteY3" fmla="*/ 310667 h 6858000"/>
              <a:gd name="connsiteX4" fmla="*/ 7736499 w 7809954"/>
              <a:gd name="connsiteY4" fmla="*/ 466344 h 6858000"/>
              <a:gd name="connsiteX5" fmla="*/ 7716496 w 7809954"/>
              <a:gd name="connsiteY5" fmla="*/ 622706 h 6858000"/>
              <a:gd name="connsiteX6" fmla="*/ 7696325 w 7809954"/>
              <a:gd name="connsiteY6" fmla="*/ 778383 h 6858000"/>
              <a:gd name="connsiteX7" fmla="*/ 7677499 w 7809954"/>
              <a:gd name="connsiteY7" fmla="*/ 934745 h 6858000"/>
              <a:gd name="connsiteX8" fmla="*/ 7661363 w 7809954"/>
              <a:gd name="connsiteY8" fmla="*/ 1089050 h 6858000"/>
              <a:gd name="connsiteX9" fmla="*/ 7646067 w 7809954"/>
              <a:gd name="connsiteY9" fmla="*/ 1245413 h 6858000"/>
              <a:gd name="connsiteX10" fmla="*/ 7632115 w 7809954"/>
              <a:gd name="connsiteY10" fmla="*/ 1401089 h 6858000"/>
              <a:gd name="connsiteX11" fmla="*/ 7620013 w 7809954"/>
              <a:gd name="connsiteY11" fmla="*/ 1554023 h 6858000"/>
              <a:gd name="connsiteX12" fmla="*/ 7607910 w 7809954"/>
              <a:gd name="connsiteY12" fmla="*/ 1709013 h 6858000"/>
              <a:gd name="connsiteX13" fmla="*/ 7597825 w 7809954"/>
              <a:gd name="connsiteY13" fmla="*/ 1861947 h 6858000"/>
              <a:gd name="connsiteX14" fmla="*/ 7589925 w 7809954"/>
              <a:gd name="connsiteY14" fmla="*/ 2014880 h 6858000"/>
              <a:gd name="connsiteX15" fmla="*/ 7581688 w 7809954"/>
              <a:gd name="connsiteY15" fmla="*/ 2167128 h 6858000"/>
              <a:gd name="connsiteX16" fmla="*/ 7574797 w 7809954"/>
              <a:gd name="connsiteY16" fmla="*/ 2318004 h 6858000"/>
              <a:gd name="connsiteX17" fmla="*/ 7569922 w 7809954"/>
              <a:gd name="connsiteY17" fmla="*/ 2467508 h 6858000"/>
              <a:gd name="connsiteX18" fmla="*/ 7565720 w 7809954"/>
              <a:gd name="connsiteY18" fmla="*/ 2617013 h 6858000"/>
              <a:gd name="connsiteX19" fmla="*/ 7561686 w 7809954"/>
              <a:gd name="connsiteY19" fmla="*/ 2765145 h 6858000"/>
              <a:gd name="connsiteX20" fmla="*/ 7559837 w 7809954"/>
              <a:gd name="connsiteY20" fmla="*/ 2911221 h 6858000"/>
              <a:gd name="connsiteX21" fmla="*/ 7557820 w 7809954"/>
              <a:gd name="connsiteY21" fmla="*/ 3057296 h 6858000"/>
              <a:gd name="connsiteX22" fmla="*/ 7556811 w 7809954"/>
              <a:gd name="connsiteY22" fmla="*/ 3201314 h 6858000"/>
              <a:gd name="connsiteX23" fmla="*/ 7557820 w 7809954"/>
              <a:gd name="connsiteY23" fmla="*/ 3343960 h 6858000"/>
              <a:gd name="connsiteX24" fmla="*/ 7557820 w 7809954"/>
              <a:gd name="connsiteY24" fmla="*/ 3485235 h 6858000"/>
              <a:gd name="connsiteX25" fmla="*/ 7559837 w 7809954"/>
              <a:gd name="connsiteY25" fmla="*/ 3625138 h 6858000"/>
              <a:gd name="connsiteX26" fmla="*/ 7562862 w 7809954"/>
              <a:gd name="connsiteY26" fmla="*/ 3762298 h 6858000"/>
              <a:gd name="connsiteX27" fmla="*/ 7565720 w 7809954"/>
              <a:gd name="connsiteY27" fmla="*/ 3898087 h 6858000"/>
              <a:gd name="connsiteX28" fmla="*/ 7568914 w 7809954"/>
              <a:gd name="connsiteY28" fmla="*/ 4031132 h 6858000"/>
              <a:gd name="connsiteX29" fmla="*/ 7573788 w 7809954"/>
              <a:gd name="connsiteY29" fmla="*/ 4163491 h 6858000"/>
              <a:gd name="connsiteX30" fmla="*/ 7578999 w 7809954"/>
              <a:gd name="connsiteY30" fmla="*/ 4293793 h 6858000"/>
              <a:gd name="connsiteX31" fmla="*/ 7583705 w 7809954"/>
              <a:gd name="connsiteY31" fmla="*/ 4421352 h 6858000"/>
              <a:gd name="connsiteX32" fmla="*/ 7596985 w 7809954"/>
              <a:gd name="connsiteY32" fmla="*/ 4670298 h 6858000"/>
              <a:gd name="connsiteX33" fmla="*/ 7611104 w 7809954"/>
              <a:gd name="connsiteY33" fmla="*/ 4908956 h 6858000"/>
              <a:gd name="connsiteX34" fmla="*/ 7625896 w 7809954"/>
              <a:gd name="connsiteY34" fmla="*/ 5138013 h 6858000"/>
              <a:gd name="connsiteX35" fmla="*/ 7642201 w 7809954"/>
              <a:gd name="connsiteY35" fmla="*/ 5354726 h 6858000"/>
              <a:gd name="connsiteX36" fmla="*/ 7659178 w 7809954"/>
              <a:gd name="connsiteY36" fmla="*/ 5561838 h 6858000"/>
              <a:gd name="connsiteX37" fmla="*/ 7677499 w 7809954"/>
              <a:gd name="connsiteY37" fmla="*/ 5753862 h 6858000"/>
              <a:gd name="connsiteX38" fmla="*/ 7695485 w 7809954"/>
              <a:gd name="connsiteY38" fmla="*/ 5934227 h 6858000"/>
              <a:gd name="connsiteX39" fmla="*/ 7713470 w 7809954"/>
              <a:gd name="connsiteY39" fmla="*/ 6100191 h 6858000"/>
              <a:gd name="connsiteX40" fmla="*/ 7730447 w 7809954"/>
              <a:gd name="connsiteY40" fmla="*/ 6252438 h 6858000"/>
              <a:gd name="connsiteX41" fmla="*/ 7746584 w 7809954"/>
              <a:gd name="connsiteY41" fmla="*/ 6387541 h 6858000"/>
              <a:gd name="connsiteX42" fmla="*/ 7761880 w 7809954"/>
              <a:gd name="connsiteY42" fmla="*/ 6509613 h 6858000"/>
              <a:gd name="connsiteX43" fmla="*/ 7774655 w 7809954"/>
              <a:gd name="connsiteY43" fmla="*/ 6612483 h 6858000"/>
              <a:gd name="connsiteX44" fmla="*/ 7786757 w 7809954"/>
              <a:gd name="connsiteY44" fmla="*/ 6698894 h 6858000"/>
              <a:gd name="connsiteX45" fmla="*/ 7804071 w 7809954"/>
              <a:gd name="connsiteY45" fmla="*/ 6817538 h 6858000"/>
              <a:gd name="connsiteX46" fmla="*/ 7809954 w 7809954"/>
              <a:gd name="connsiteY46" fmla="*/ 6858000 h 6858000"/>
              <a:gd name="connsiteX47" fmla="*/ 7157124 w 7809954"/>
              <a:gd name="connsiteY47" fmla="*/ 6858000 h 6858000"/>
              <a:gd name="connsiteX48" fmla="*/ 7157124 w 7809954"/>
              <a:gd name="connsiteY48" fmla="*/ 6858000 h 6858000"/>
              <a:gd name="connsiteX49" fmla="*/ 0 w 7809954"/>
              <a:gd name="connsiteY49" fmla="*/ 6858000 h 6858000"/>
              <a:gd name="connsiteX50" fmla="*/ 0 w 7809954"/>
              <a:gd name="connsiteY50" fmla="*/ 0 h 6858000"/>
              <a:gd name="connsiteX51" fmla="*/ 6465239 w 7809954"/>
              <a:gd name="connsiteY5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7809954" h="6858000">
                <a:moveTo>
                  <a:pt x="6465239" y="0"/>
                </a:moveTo>
                <a:lnTo>
                  <a:pt x="7808777" y="0"/>
                </a:lnTo>
                <a:lnTo>
                  <a:pt x="7783732" y="155676"/>
                </a:lnTo>
                <a:lnTo>
                  <a:pt x="7759863" y="310667"/>
                </a:lnTo>
                <a:lnTo>
                  <a:pt x="7736499" y="466344"/>
                </a:lnTo>
                <a:lnTo>
                  <a:pt x="7716496" y="622706"/>
                </a:lnTo>
                <a:lnTo>
                  <a:pt x="7696325" y="778383"/>
                </a:lnTo>
                <a:lnTo>
                  <a:pt x="7677499" y="934745"/>
                </a:lnTo>
                <a:lnTo>
                  <a:pt x="7661363" y="1089050"/>
                </a:lnTo>
                <a:lnTo>
                  <a:pt x="7646067" y="1245413"/>
                </a:lnTo>
                <a:lnTo>
                  <a:pt x="7632115" y="1401089"/>
                </a:lnTo>
                <a:lnTo>
                  <a:pt x="7620013" y="1554023"/>
                </a:lnTo>
                <a:lnTo>
                  <a:pt x="7607910" y="1709013"/>
                </a:lnTo>
                <a:lnTo>
                  <a:pt x="7597825" y="1861947"/>
                </a:lnTo>
                <a:lnTo>
                  <a:pt x="7589925" y="2014880"/>
                </a:lnTo>
                <a:lnTo>
                  <a:pt x="7581688" y="2167128"/>
                </a:lnTo>
                <a:lnTo>
                  <a:pt x="7574797" y="2318004"/>
                </a:lnTo>
                <a:lnTo>
                  <a:pt x="7569922" y="2467508"/>
                </a:lnTo>
                <a:lnTo>
                  <a:pt x="7565720" y="2617013"/>
                </a:lnTo>
                <a:lnTo>
                  <a:pt x="7561686" y="2765145"/>
                </a:lnTo>
                <a:lnTo>
                  <a:pt x="7559837" y="2911221"/>
                </a:lnTo>
                <a:lnTo>
                  <a:pt x="7557820" y="3057296"/>
                </a:lnTo>
                <a:lnTo>
                  <a:pt x="7556811" y="3201314"/>
                </a:lnTo>
                <a:lnTo>
                  <a:pt x="7557820" y="3343960"/>
                </a:lnTo>
                <a:lnTo>
                  <a:pt x="7557820" y="3485235"/>
                </a:lnTo>
                <a:lnTo>
                  <a:pt x="7559837" y="3625138"/>
                </a:lnTo>
                <a:lnTo>
                  <a:pt x="7562862" y="3762298"/>
                </a:lnTo>
                <a:lnTo>
                  <a:pt x="7565720" y="3898087"/>
                </a:lnTo>
                <a:lnTo>
                  <a:pt x="7568914" y="4031132"/>
                </a:lnTo>
                <a:lnTo>
                  <a:pt x="7573788" y="4163491"/>
                </a:lnTo>
                <a:lnTo>
                  <a:pt x="7578999" y="4293793"/>
                </a:lnTo>
                <a:lnTo>
                  <a:pt x="7583705" y="4421352"/>
                </a:lnTo>
                <a:lnTo>
                  <a:pt x="7596985" y="4670298"/>
                </a:lnTo>
                <a:lnTo>
                  <a:pt x="7611104" y="4908956"/>
                </a:lnTo>
                <a:lnTo>
                  <a:pt x="7625896" y="5138013"/>
                </a:lnTo>
                <a:lnTo>
                  <a:pt x="7642201" y="5354726"/>
                </a:lnTo>
                <a:lnTo>
                  <a:pt x="7659178" y="5561838"/>
                </a:lnTo>
                <a:lnTo>
                  <a:pt x="7677499" y="5753862"/>
                </a:lnTo>
                <a:lnTo>
                  <a:pt x="7695485" y="5934227"/>
                </a:lnTo>
                <a:lnTo>
                  <a:pt x="7713470" y="6100191"/>
                </a:lnTo>
                <a:lnTo>
                  <a:pt x="7730447" y="6252438"/>
                </a:lnTo>
                <a:lnTo>
                  <a:pt x="7746584" y="6387541"/>
                </a:lnTo>
                <a:lnTo>
                  <a:pt x="7761880" y="6509613"/>
                </a:lnTo>
                <a:lnTo>
                  <a:pt x="7774655" y="6612483"/>
                </a:lnTo>
                <a:lnTo>
                  <a:pt x="7786757" y="6698894"/>
                </a:lnTo>
                <a:lnTo>
                  <a:pt x="7804071" y="6817538"/>
                </a:lnTo>
                <a:lnTo>
                  <a:pt x="7809954" y="6858000"/>
                </a:lnTo>
                <a:lnTo>
                  <a:pt x="7157124" y="6858000"/>
                </a:lnTo>
                <a:lnTo>
                  <a:pt x="7157124" y="6858000"/>
                </a:lnTo>
                <a:lnTo>
                  <a:pt x="0" y="6858000"/>
                </a:lnTo>
                <a:lnTo>
                  <a:pt x="0" y="0"/>
                </a:lnTo>
                <a:lnTo>
                  <a:pt x="6465239" y="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98810A7-E114-447A-A7D6-69B27CFB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4" name="Picture 3" descr="A screenshot of a computer screen">
            <a:extLst>
              <a:ext uri="{FF2B5EF4-FFF2-40B4-BE49-F238E27FC236}">
                <a16:creationId xmlns:a16="http://schemas.microsoft.com/office/drawing/2014/main" id="{A579E943-7885-0849-E31A-F381FE866B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7544225" cy="685800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52701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4FE26-361F-01BC-DBFA-D4A8F8D4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Using bootstrapped sampling to develop roughly approximated 95% confidence interval for the Resnet50 model: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5715E-E9A1-D548-9EB1-520931299187}"/>
              </a:ext>
            </a:extLst>
          </p:cNvPr>
          <p:cNvSpPr txBox="1"/>
          <p:nvPr/>
        </p:nvSpPr>
        <p:spPr>
          <a:xfrm>
            <a:off x="762000" y="3241040"/>
            <a:ext cx="843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100k bootstrapped samples used</a:t>
            </a:r>
          </a:p>
          <a:p>
            <a:r>
              <a:rPr lang="en-US" sz="2800" dirty="0"/>
              <a:t>Result:</a:t>
            </a:r>
            <a:endParaRPr lang="ru-RU" sz="2800" dirty="0"/>
          </a:p>
        </p:txBody>
      </p:sp>
      <p:pic>
        <p:nvPicPr>
          <p:cNvPr id="5" name="Picture 4" descr="A close up of words&#10;&#10;AI-generated content may be incorrect.">
            <a:extLst>
              <a:ext uri="{FF2B5EF4-FFF2-40B4-BE49-F238E27FC236}">
                <a16:creationId xmlns:a16="http://schemas.microsoft.com/office/drawing/2014/main" id="{5AAC725D-7D1C-0786-6E93-7672F61A0A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4195146"/>
            <a:ext cx="8544560" cy="2093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16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91000"/>
                <a:satMod val="164000"/>
                <a:lumMod val="74000"/>
              </a:schemeClr>
              <a:schemeClr val="bg2">
                <a:hueMod val="124000"/>
                <a:satMod val="140000"/>
                <a:lumMod val="14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C9134821-5D8B-4373-BA74-CFE9AB35A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44"/>
          <a:stretch/>
        </p:blipFill>
        <p:spPr>
          <a:xfrm>
            <a:off x="0" y="2669685"/>
            <a:ext cx="4035669" cy="4188315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965195F-79F5-4911-907D-13CB3F534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34" name="Oval 33">
            <a:extLst>
              <a:ext uri="{FF2B5EF4-FFF2-40B4-BE49-F238E27FC236}">
                <a16:creationId xmlns:a16="http://schemas.microsoft.com/office/drawing/2014/main" id="{8A610DC7-FE1B-47B9-8452-CFC389786C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accent5">
                  <a:alpha val="7000"/>
                </a:schemeClr>
              </a:gs>
              <a:gs pos="69000">
                <a:schemeClr val="accent5">
                  <a:alpha val="0"/>
                </a:schemeClr>
              </a:gs>
              <a:gs pos="36000">
                <a:schemeClr val="accent5"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742ADC1-2286-40B7-A3C6-D6C3362FA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78FBDC-78F2-4D49-8DB3-1A48CA9F7F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40" name="Rectangle 39">
            <a:extLst>
              <a:ext uri="{FF2B5EF4-FFF2-40B4-BE49-F238E27FC236}">
                <a16:creationId xmlns:a16="http://schemas.microsoft.com/office/drawing/2014/main" id="{DC9A0934-0C2C-4565-9290-A345B19BD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1A109AF-B0E7-46FF-880E-3C8ADD57BA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5068DCA-C5E1-4C5C-8F45-14D8E6688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46" name="Freeform 16">
            <a:extLst>
              <a:ext uri="{FF2B5EF4-FFF2-40B4-BE49-F238E27FC236}">
                <a16:creationId xmlns:a16="http://schemas.microsoft.com/office/drawing/2014/main" id="{EE4C3CD0-43BB-4FE5-A39C-9ABB0BAC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bg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6923918A-9F67-48CB-9A42-0E16A8493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70824"/>
            <a:ext cx="12191695" cy="14871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50" name="Freeform 5">
            <a:extLst>
              <a:ext uri="{FF2B5EF4-FFF2-40B4-BE49-F238E27FC236}">
                <a16:creationId xmlns:a16="http://schemas.microsoft.com/office/drawing/2014/main" id="{D1063EC9-752C-4FC1-8C0F-CFFB7BF714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1" y="3136999"/>
            <a:ext cx="12191695" cy="2802467"/>
          </a:xfrm>
          <a:custGeom>
            <a:avLst/>
            <a:gdLst/>
            <a:ahLst/>
            <a:cxnLst/>
            <a:rect l="l" t="t" r="r" b="b"/>
            <a:pathLst>
              <a:path w="10000" h="8000">
                <a:moveTo>
                  <a:pt x="0" y="0"/>
                </a:moveTo>
                <a:lnTo>
                  <a:pt x="0" y="7970"/>
                </a:lnTo>
                <a:lnTo>
                  <a:pt x="10000" y="8000"/>
                </a:lnTo>
                <a:lnTo>
                  <a:pt x="10000" y="7"/>
                </a:lnTo>
                <a:lnTo>
                  <a:pt x="10000" y="7"/>
                </a:lnTo>
                <a:lnTo>
                  <a:pt x="9773" y="156"/>
                </a:lnTo>
                <a:lnTo>
                  <a:pt x="9547" y="298"/>
                </a:lnTo>
                <a:lnTo>
                  <a:pt x="9320" y="437"/>
                </a:lnTo>
                <a:lnTo>
                  <a:pt x="9092" y="556"/>
                </a:lnTo>
                <a:lnTo>
                  <a:pt x="8865" y="676"/>
                </a:lnTo>
                <a:lnTo>
                  <a:pt x="8637" y="788"/>
                </a:lnTo>
                <a:lnTo>
                  <a:pt x="8412" y="884"/>
                </a:lnTo>
                <a:lnTo>
                  <a:pt x="8184" y="975"/>
                </a:lnTo>
                <a:lnTo>
                  <a:pt x="7957" y="1058"/>
                </a:lnTo>
                <a:lnTo>
                  <a:pt x="7734" y="1130"/>
                </a:lnTo>
                <a:lnTo>
                  <a:pt x="7508" y="1202"/>
                </a:lnTo>
                <a:lnTo>
                  <a:pt x="7285" y="1262"/>
                </a:lnTo>
                <a:lnTo>
                  <a:pt x="7062" y="1309"/>
                </a:lnTo>
                <a:lnTo>
                  <a:pt x="6840" y="1358"/>
                </a:lnTo>
                <a:lnTo>
                  <a:pt x="6620" y="1399"/>
                </a:lnTo>
                <a:lnTo>
                  <a:pt x="6402" y="1428"/>
                </a:lnTo>
                <a:lnTo>
                  <a:pt x="6184" y="1453"/>
                </a:lnTo>
                <a:lnTo>
                  <a:pt x="5968" y="1477"/>
                </a:lnTo>
                <a:lnTo>
                  <a:pt x="5755" y="1488"/>
                </a:lnTo>
                <a:lnTo>
                  <a:pt x="5542" y="1500"/>
                </a:lnTo>
                <a:lnTo>
                  <a:pt x="5332" y="1506"/>
                </a:lnTo>
                <a:lnTo>
                  <a:pt x="5124" y="1500"/>
                </a:lnTo>
                <a:lnTo>
                  <a:pt x="4918" y="1500"/>
                </a:lnTo>
                <a:lnTo>
                  <a:pt x="4714" y="1488"/>
                </a:lnTo>
                <a:lnTo>
                  <a:pt x="4514" y="1470"/>
                </a:lnTo>
                <a:lnTo>
                  <a:pt x="4316" y="1453"/>
                </a:lnTo>
                <a:lnTo>
                  <a:pt x="4122" y="1434"/>
                </a:lnTo>
                <a:lnTo>
                  <a:pt x="3929" y="1405"/>
                </a:lnTo>
                <a:lnTo>
                  <a:pt x="3739" y="1374"/>
                </a:lnTo>
                <a:lnTo>
                  <a:pt x="3553" y="1346"/>
                </a:lnTo>
                <a:lnTo>
                  <a:pt x="3190" y="1267"/>
                </a:lnTo>
                <a:lnTo>
                  <a:pt x="2842" y="1183"/>
                </a:lnTo>
                <a:lnTo>
                  <a:pt x="2508" y="1095"/>
                </a:lnTo>
                <a:lnTo>
                  <a:pt x="2192" y="998"/>
                </a:lnTo>
                <a:lnTo>
                  <a:pt x="1890" y="897"/>
                </a:lnTo>
                <a:lnTo>
                  <a:pt x="1610" y="788"/>
                </a:lnTo>
                <a:lnTo>
                  <a:pt x="1347" y="681"/>
                </a:lnTo>
                <a:lnTo>
                  <a:pt x="1105" y="574"/>
                </a:lnTo>
                <a:lnTo>
                  <a:pt x="883" y="473"/>
                </a:lnTo>
                <a:lnTo>
                  <a:pt x="686" y="377"/>
                </a:lnTo>
                <a:lnTo>
                  <a:pt x="508" y="286"/>
                </a:lnTo>
                <a:lnTo>
                  <a:pt x="358" y="210"/>
                </a:lnTo>
                <a:lnTo>
                  <a:pt x="232" y="138"/>
                </a:lnTo>
                <a:lnTo>
                  <a:pt x="59" y="35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5C001-DE2C-A4E0-0DA6-6078C597B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761" y="4887273"/>
            <a:ext cx="9149350" cy="179339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US" sz="4000" dirty="0"/>
              <a:t>Using binomial distribution for approximating 95% confidence interval for per class accuracies.</a:t>
            </a:r>
            <a:br>
              <a:rPr lang="en-US" sz="4000" dirty="0"/>
            </a:br>
            <a:r>
              <a:rPr lang="en-US" sz="4000" dirty="0"/>
              <a:t>Note that conf. interval for No damage is not valid as it violated normality assumption for binomial distribution.</a:t>
            </a:r>
          </a:p>
        </p:txBody>
      </p:sp>
      <p:pic>
        <p:nvPicPr>
          <p:cNvPr id="4" name="Picture 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C121723A-DEEB-782A-D08C-90F842083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458" y="0"/>
            <a:ext cx="11231422" cy="3136999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9E1D3D3-719B-C354-60B3-0D2C10FEDA35}"/>
              </a:ext>
            </a:extLst>
          </p:cNvPr>
          <p:cNvSpPr txBox="1"/>
          <p:nvPr/>
        </p:nvSpPr>
        <p:spPr>
          <a:xfrm>
            <a:off x="9441134" y="1671857"/>
            <a:ext cx="23689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Not valid!</a:t>
            </a:r>
            <a:endParaRPr lang="ru-RU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99572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9000"/>
                <a:hueMod val="108000"/>
                <a:satMod val="164000"/>
                <a:lumMod val="74000"/>
              </a:schemeClr>
              <a:schemeClr val="bg2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Picture 54">
            <a:extLst>
              <a:ext uri="{FF2B5EF4-FFF2-40B4-BE49-F238E27FC236}">
                <a16:creationId xmlns:a16="http://schemas.microsoft.com/office/drawing/2014/main" id="{DF19BAF3-7E20-4B9D-B544-BABAEEA1F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950648F4-ABCD-4DF0-8641-76CFB23547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59" name="Oval 58">
            <a:extLst>
              <a:ext uri="{FF2B5EF4-FFF2-40B4-BE49-F238E27FC236}">
                <a16:creationId xmlns:a16="http://schemas.microsoft.com/office/drawing/2014/main" id="{989BE678-777B-482A-A616-FEDC47B162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CF1EB4BD-9C7E-4AA3-9681-C7EB0DA625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4AAE3AA-3759-4D28-B0EF-575F25A51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65" name="Rectangle 64">
            <a:extLst>
              <a:ext uri="{FF2B5EF4-FFF2-40B4-BE49-F238E27FC236}">
                <a16:creationId xmlns:a16="http://schemas.microsoft.com/office/drawing/2014/main" id="{D28BE0C3-2102-4820-B88B-A448B184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3F4807A-5068-4492-8025-D75F320E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47813B-B5A6-05A7-F863-D03A294B7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0837" y="1325880"/>
            <a:ext cx="3543464" cy="306650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dirty="0">
                <a:solidFill>
                  <a:srgbClr val="EBEBEB"/>
                </a:solidFill>
              </a:rPr>
              <a:t>Testing the pretrained model on the same picture as scratch was tested</a:t>
            </a:r>
          </a:p>
        </p:txBody>
      </p:sp>
      <p:sp>
        <p:nvSpPr>
          <p:cNvPr id="69" name="Freeform 36">
            <a:extLst>
              <a:ext uri="{FF2B5EF4-FFF2-40B4-BE49-F238E27FC236}">
                <a16:creationId xmlns:a16="http://schemas.microsoft.com/office/drawing/2014/main" id="{B24996F8-180C-4DCB-8A26-DFA336CDE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413666" y="0"/>
            <a:ext cx="559472" cy="3709642"/>
          </a:xfrm>
          <a:custGeom>
            <a:avLst/>
            <a:gdLst>
              <a:gd name="connsiteX0" fmla="*/ 0 w 559472"/>
              <a:gd name="connsiteY0" fmla="*/ 0 h 3709642"/>
              <a:gd name="connsiteX1" fmla="*/ 473952 w 559472"/>
              <a:gd name="connsiteY1" fmla="*/ 0 h 3709642"/>
              <a:gd name="connsiteX2" fmla="*/ 485840 w 559472"/>
              <a:gd name="connsiteY2" fmla="*/ 161194 h 3709642"/>
              <a:gd name="connsiteX3" fmla="*/ 523949 w 559472"/>
              <a:gd name="connsiteY3" fmla="*/ 3672197 h 3709642"/>
              <a:gd name="connsiteX4" fmla="*/ 454748 w 559472"/>
              <a:gd name="connsiteY4" fmla="*/ 3709642 h 3709642"/>
              <a:gd name="connsiteX5" fmla="*/ 448224 w 559472"/>
              <a:gd name="connsiteY5" fmla="*/ 3510471 h 3709642"/>
              <a:gd name="connsiteX6" fmla="*/ 443564 w 559472"/>
              <a:gd name="connsiteY6" fmla="*/ 3408563 h 3709642"/>
              <a:gd name="connsiteX7" fmla="*/ 438902 w 559472"/>
              <a:gd name="connsiteY7" fmla="*/ 3304407 h 3709642"/>
              <a:gd name="connsiteX8" fmla="*/ 433941 w 559472"/>
              <a:gd name="connsiteY8" fmla="*/ 3198777 h 3709642"/>
              <a:gd name="connsiteX9" fmla="*/ 427584 w 559472"/>
              <a:gd name="connsiteY9" fmla="*/ 3092510 h 3709642"/>
              <a:gd name="connsiteX10" fmla="*/ 420988 w 559472"/>
              <a:gd name="connsiteY10" fmla="*/ 2984390 h 3709642"/>
              <a:gd name="connsiteX11" fmla="*/ 414330 w 559472"/>
              <a:gd name="connsiteY11" fmla="*/ 2874401 h 3709642"/>
              <a:gd name="connsiteX12" fmla="*/ 406840 w 559472"/>
              <a:gd name="connsiteY12" fmla="*/ 2762980 h 3709642"/>
              <a:gd name="connsiteX13" fmla="*/ 397745 w 559472"/>
              <a:gd name="connsiteY13" fmla="*/ 2650566 h 3709642"/>
              <a:gd name="connsiteX14" fmla="*/ 389154 w 559472"/>
              <a:gd name="connsiteY14" fmla="*/ 2536612 h 3709642"/>
              <a:gd name="connsiteX15" fmla="*/ 379225 w 559472"/>
              <a:gd name="connsiteY15" fmla="*/ 2421642 h 3709642"/>
              <a:gd name="connsiteX16" fmla="*/ 368316 w 559472"/>
              <a:gd name="connsiteY16" fmla="*/ 2305627 h 3709642"/>
              <a:gd name="connsiteX17" fmla="*/ 357466 w 559472"/>
              <a:gd name="connsiteY17" fmla="*/ 2189233 h 3709642"/>
              <a:gd name="connsiteX18" fmla="*/ 344982 w 559472"/>
              <a:gd name="connsiteY18" fmla="*/ 2071473 h 3709642"/>
              <a:gd name="connsiteX19" fmla="*/ 332466 w 559472"/>
              <a:gd name="connsiteY19" fmla="*/ 1952216 h 3709642"/>
              <a:gd name="connsiteX20" fmla="*/ 319121 w 559472"/>
              <a:gd name="connsiteY20" fmla="*/ 1833776 h 3709642"/>
              <a:gd name="connsiteX21" fmla="*/ 304408 w 559472"/>
              <a:gd name="connsiteY21" fmla="*/ 1713948 h 3709642"/>
              <a:gd name="connsiteX22" fmla="*/ 288685 w 559472"/>
              <a:gd name="connsiteY22" fmla="*/ 1592703 h 3709642"/>
              <a:gd name="connsiteX23" fmla="*/ 273050 w 559472"/>
              <a:gd name="connsiteY23" fmla="*/ 1471451 h 3709642"/>
              <a:gd name="connsiteX24" fmla="*/ 255813 w 559472"/>
              <a:gd name="connsiteY24" fmla="*/ 1350328 h 3709642"/>
              <a:gd name="connsiteX25" fmla="*/ 237060 w 559472"/>
              <a:gd name="connsiteY25" fmla="*/ 1227080 h 3709642"/>
              <a:gd name="connsiteX26" fmla="*/ 218488 w 559472"/>
              <a:gd name="connsiteY26" fmla="*/ 1106065 h 3709642"/>
              <a:gd name="connsiteX27" fmla="*/ 198221 w 559472"/>
              <a:gd name="connsiteY27" fmla="*/ 982940 h 3709642"/>
              <a:gd name="connsiteX28" fmla="*/ 177152 w 559472"/>
              <a:gd name="connsiteY28" fmla="*/ 858755 h 3709642"/>
              <a:gd name="connsiteX29" fmla="*/ 155551 w 559472"/>
              <a:gd name="connsiteY29" fmla="*/ 736861 h 3709642"/>
              <a:gd name="connsiteX30" fmla="*/ 131782 w 559472"/>
              <a:gd name="connsiteY30" fmla="*/ 613645 h 3709642"/>
              <a:gd name="connsiteX31" fmla="*/ 107123 w 559472"/>
              <a:gd name="connsiteY31" fmla="*/ 490500 h 3709642"/>
              <a:gd name="connsiteX32" fmla="*/ 82552 w 559472"/>
              <a:gd name="connsiteY32" fmla="*/ 367348 h 3709642"/>
              <a:gd name="connsiteX33" fmla="*/ 55608 w 559472"/>
              <a:gd name="connsiteY33" fmla="*/ 244762 h 3709642"/>
              <a:gd name="connsiteX34" fmla="*/ 28130 w 559472"/>
              <a:gd name="connsiteY34" fmla="*/ 122220 h 3709642"/>
              <a:gd name="connsiteX35" fmla="*/ 0 w 559472"/>
              <a:gd name="connsiteY35" fmla="*/ 0 h 37096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559472" h="3709642">
                <a:moveTo>
                  <a:pt x="0" y="0"/>
                </a:moveTo>
                <a:lnTo>
                  <a:pt x="473952" y="0"/>
                </a:lnTo>
                <a:lnTo>
                  <a:pt x="485840" y="161194"/>
                </a:lnTo>
                <a:cubicBezTo>
                  <a:pt x="552063" y="1147770"/>
                  <a:pt x="592441" y="3086737"/>
                  <a:pt x="523949" y="3672197"/>
                </a:cubicBezTo>
                <a:cubicBezTo>
                  <a:pt x="500842" y="3684557"/>
                  <a:pt x="477855" y="3697282"/>
                  <a:pt x="454748" y="3709642"/>
                </a:cubicBezTo>
                <a:lnTo>
                  <a:pt x="448224" y="3510471"/>
                </a:lnTo>
                <a:lnTo>
                  <a:pt x="443564" y="3408563"/>
                </a:lnTo>
                <a:lnTo>
                  <a:pt x="438902" y="3304407"/>
                </a:lnTo>
                <a:lnTo>
                  <a:pt x="433941" y="3198777"/>
                </a:lnTo>
                <a:lnTo>
                  <a:pt x="427584" y="3092510"/>
                </a:lnTo>
                <a:lnTo>
                  <a:pt x="420988" y="2984390"/>
                </a:lnTo>
                <a:lnTo>
                  <a:pt x="414330" y="2874401"/>
                </a:lnTo>
                <a:lnTo>
                  <a:pt x="406840" y="2762980"/>
                </a:lnTo>
                <a:lnTo>
                  <a:pt x="397745" y="2650566"/>
                </a:lnTo>
                <a:lnTo>
                  <a:pt x="389154" y="2536612"/>
                </a:lnTo>
                <a:lnTo>
                  <a:pt x="379225" y="2421642"/>
                </a:lnTo>
                <a:lnTo>
                  <a:pt x="368316" y="2305627"/>
                </a:lnTo>
                <a:lnTo>
                  <a:pt x="357466" y="2189233"/>
                </a:lnTo>
                <a:lnTo>
                  <a:pt x="344982" y="2071473"/>
                </a:lnTo>
                <a:lnTo>
                  <a:pt x="332466" y="1952216"/>
                </a:lnTo>
                <a:lnTo>
                  <a:pt x="319121" y="1833776"/>
                </a:lnTo>
                <a:lnTo>
                  <a:pt x="304408" y="1713948"/>
                </a:lnTo>
                <a:lnTo>
                  <a:pt x="288685" y="1592703"/>
                </a:lnTo>
                <a:lnTo>
                  <a:pt x="273050" y="1471451"/>
                </a:lnTo>
                <a:lnTo>
                  <a:pt x="255813" y="1350328"/>
                </a:lnTo>
                <a:lnTo>
                  <a:pt x="237060" y="1227080"/>
                </a:lnTo>
                <a:lnTo>
                  <a:pt x="218488" y="1106065"/>
                </a:lnTo>
                <a:lnTo>
                  <a:pt x="198221" y="982940"/>
                </a:lnTo>
                <a:lnTo>
                  <a:pt x="177152" y="858755"/>
                </a:lnTo>
                <a:lnTo>
                  <a:pt x="155551" y="736861"/>
                </a:lnTo>
                <a:lnTo>
                  <a:pt x="131782" y="613645"/>
                </a:lnTo>
                <a:lnTo>
                  <a:pt x="107123" y="490500"/>
                </a:lnTo>
                <a:lnTo>
                  <a:pt x="82552" y="367348"/>
                </a:lnTo>
                <a:lnTo>
                  <a:pt x="55608" y="244762"/>
                </a:lnTo>
                <a:lnTo>
                  <a:pt x="28130" y="12222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0" name="Picture 49" descr="A car that has been crashed">
            <a:extLst>
              <a:ext uri="{FF2B5EF4-FFF2-40B4-BE49-F238E27FC236}">
                <a16:creationId xmlns:a16="http://schemas.microsoft.com/office/drawing/2014/main" id="{6F2B61B8-D5AB-8FCB-9C9B-5FB1F9A45B4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73" b="-2"/>
          <a:stretch>
            <a:fillRect/>
          </a:stretch>
        </p:blipFill>
        <p:spPr>
          <a:xfrm>
            <a:off x="20" y="10"/>
            <a:ext cx="7759920" cy="6857991"/>
          </a:xfrm>
          <a:custGeom>
            <a:avLst/>
            <a:gdLst/>
            <a:ahLst/>
            <a:cxnLst/>
            <a:rect l="l" t="t" r="r" b="b"/>
            <a:pathLst>
              <a:path w="7759940" h="6858001">
                <a:moveTo>
                  <a:pt x="0" y="0"/>
                </a:moveTo>
                <a:lnTo>
                  <a:pt x="1296537" y="0"/>
                </a:lnTo>
                <a:lnTo>
                  <a:pt x="1296537" y="1"/>
                </a:lnTo>
                <a:lnTo>
                  <a:pt x="6415225" y="1"/>
                </a:lnTo>
                <a:lnTo>
                  <a:pt x="6415225" y="0"/>
                </a:lnTo>
                <a:lnTo>
                  <a:pt x="7758763" y="0"/>
                </a:lnTo>
                <a:lnTo>
                  <a:pt x="7733718" y="155677"/>
                </a:lnTo>
                <a:lnTo>
                  <a:pt x="7709849" y="310668"/>
                </a:lnTo>
                <a:lnTo>
                  <a:pt x="7686485" y="466344"/>
                </a:lnTo>
                <a:lnTo>
                  <a:pt x="7666482" y="622707"/>
                </a:lnTo>
                <a:lnTo>
                  <a:pt x="7646311" y="778383"/>
                </a:lnTo>
                <a:lnTo>
                  <a:pt x="7627485" y="934746"/>
                </a:lnTo>
                <a:lnTo>
                  <a:pt x="7611349" y="1089051"/>
                </a:lnTo>
                <a:lnTo>
                  <a:pt x="7596053" y="1245413"/>
                </a:lnTo>
                <a:lnTo>
                  <a:pt x="7582101" y="1401090"/>
                </a:lnTo>
                <a:lnTo>
                  <a:pt x="7569999" y="1554023"/>
                </a:lnTo>
                <a:lnTo>
                  <a:pt x="7557896" y="1709014"/>
                </a:lnTo>
                <a:lnTo>
                  <a:pt x="7547811" y="1861947"/>
                </a:lnTo>
                <a:lnTo>
                  <a:pt x="7539911" y="2014881"/>
                </a:lnTo>
                <a:lnTo>
                  <a:pt x="7531674" y="2167128"/>
                </a:lnTo>
                <a:lnTo>
                  <a:pt x="7524783" y="2318004"/>
                </a:lnTo>
                <a:lnTo>
                  <a:pt x="7519908" y="2467509"/>
                </a:lnTo>
                <a:lnTo>
                  <a:pt x="7515706" y="2617013"/>
                </a:lnTo>
                <a:lnTo>
                  <a:pt x="7511672" y="2765146"/>
                </a:lnTo>
                <a:lnTo>
                  <a:pt x="7509823" y="2911221"/>
                </a:lnTo>
                <a:lnTo>
                  <a:pt x="7507806" y="3057297"/>
                </a:lnTo>
                <a:lnTo>
                  <a:pt x="7506797" y="3201315"/>
                </a:lnTo>
                <a:lnTo>
                  <a:pt x="7507806" y="3343961"/>
                </a:lnTo>
                <a:lnTo>
                  <a:pt x="7507806" y="3485236"/>
                </a:lnTo>
                <a:lnTo>
                  <a:pt x="7509823" y="3625139"/>
                </a:lnTo>
                <a:lnTo>
                  <a:pt x="7512848" y="3762299"/>
                </a:lnTo>
                <a:lnTo>
                  <a:pt x="7515706" y="3898087"/>
                </a:lnTo>
                <a:lnTo>
                  <a:pt x="7518900" y="4031133"/>
                </a:lnTo>
                <a:lnTo>
                  <a:pt x="7523774" y="4163492"/>
                </a:lnTo>
                <a:lnTo>
                  <a:pt x="7528985" y="4293793"/>
                </a:lnTo>
                <a:lnTo>
                  <a:pt x="7533691" y="4421352"/>
                </a:lnTo>
                <a:lnTo>
                  <a:pt x="7546971" y="4670298"/>
                </a:lnTo>
                <a:lnTo>
                  <a:pt x="7561090" y="4908956"/>
                </a:lnTo>
                <a:lnTo>
                  <a:pt x="7575882" y="5138013"/>
                </a:lnTo>
                <a:lnTo>
                  <a:pt x="7592187" y="5354726"/>
                </a:lnTo>
                <a:lnTo>
                  <a:pt x="7609164" y="5561838"/>
                </a:lnTo>
                <a:lnTo>
                  <a:pt x="7627485" y="5753862"/>
                </a:lnTo>
                <a:lnTo>
                  <a:pt x="7645471" y="5934227"/>
                </a:lnTo>
                <a:lnTo>
                  <a:pt x="7663456" y="6100191"/>
                </a:lnTo>
                <a:lnTo>
                  <a:pt x="7680433" y="6252438"/>
                </a:lnTo>
                <a:lnTo>
                  <a:pt x="7696570" y="6387541"/>
                </a:lnTo>
                <a:lnTo>
                  <a:pt x="7711866" y="6509613"/>
                </a:lnTo>
                <a:lnTo>
                  <a:pt x="7724641" y="6612483"/>
                </a:lnTo>
                <a:lnTo>
                  <a:pt x="7736743" y="6698894"/>
                </a:lnTo>
                <a:lnTo>
                  <a:pt x="7754057" y="6817538"/>
                </a:lnTo>
                <a:lnTo>
                  <a:pt x="7759940" y="6858000"/>
                </a:lnTo>
                <a:lnTo>
                  <a:pt x="6854586" y="6858000"/>
                </a:lnTo>
                <a:lnTo>
                  <a:pt x="6854586" y="6858001"/>
                </a:lnTo>
                <a:lnTo>
                  <a:pt x="764022" y="6858001"/>
                </a:lnTo>
                <a:lnTo>
                  <a:pt x="764022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71" name="Rectangle 70">
            <a:extLst>
              <a:ext uri="{FF2B5EF4-FFF2-40B4-BE49-F238E27FC236}">
                <a16:creationId xmlns:a16="http://schemas.microsoft.com/office/drawing/2014/main" id="{630182B0-3559-41D5-9EBC-0BD86BEDA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15319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1B68C77-138E-4BF7-A276-BD0C78A421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68552-D473-46ED-B1B8-422042C4DE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>
            <a:extLst>
              <a:ext uri="{FF2B5EF4-FFF2-40B4-BE49-F238E27FC236}">
                <a16:creationId xmlns:a16="http://schemas.microsoft.com/office/drawing/2014/main" id="{4AC0CD9D-7610-4620-93B4-798CCD9AB5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B9238B3E-24AA-439A-B527-6C5DF6D721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9F01145-BEA3-4CBF-AA21-10077B948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DE4D62F9-188E-4530-84C2-24BDEE4BEB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E92A8BB-07B9-40DB-984F-2CB1A2535B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5"/>
            <a:ext cx="12191695" cy="473074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CDDB745-6C26-4B79-9EF2-08E3E4AB9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ru-RU"/>
          </a:p>
        </p:txBody>
      </p:sp>
      <p:sp>
        <p:nvSpPr>
          <p:cNvPr id="28" name="Freeform 16">
            <a:extLst>
              <a:ext uri="{FF2B5EF4-FFF2-40B4-BE49-F238E27FC236}">
                <a16:creationId xmlns:a16="http://schemas.microsoft.com/office/drawing/2014/main" id="{80B3FE6C-0A59-4114-88CB-3C3172D6A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19939" y="2835162"/>
            <a:ext cx="3472060" cy="825932"/>
          </a:xfrm>
          <a:custGeom>
            <a:avLst/>
            <a:gdLst>
              <a:gd name="connsiteX0" fmla="*/ 3470310 w 3472060"/>
              <a:gd name="connsiteY0" fmla="*/ 0 h 825932"/>
              <a:gd name="connsiteX1" fmla="*/ 3472060 w 3472060"/>
              <a:gd name="connsiteY1" fmla="*/ 12850 h 825932"/>
              <a:gd name="connsiteX2" fmla="*/ 3472060 w 3472060"/>
              <a:gd name="connsiteY2" fmla="*/ 480529 h 825932"/>
              <a:gd name="connsiteX3" fmla="*/ 3363699 w 3472060"/>
              <a:gd name="connsiteY3" fmla="*/ 498471 h 825932"/>
              <a:gd name="connsiteX4" fmla="*/ 42060 w 3472060"/>
              <a:gd name="connsiteY4" fmla="*/ 824486 h 825932"/>
              <a:gd name="connsiteX5" fmla="*/ 0 w 3472060"/>
              <a:gd name="connsiteY5" fmla="*/ 758452 h 825932"/>
              <a:gd name="connsiteX6" fmla="*/ 188014 w 3472060"/>
              <a:gd name="connsiteY6" fmla="*/ 735602 h 825932"/>
              <a:gd name="connsiteX7" fmla="*/ 284087 w 3472060"/>
              <a:gd name="connsiteY7" fmla="*/ 722590 h 825932"/>
              <a:gd name="connsiteX8" fmla="*/ 382288 w 3472060"/>
              <a:gd name="connsiteY8" fmla="*/ 709392 h 825932"/>
              <a:gd name="connsiteX9" fmla="*/ 481858 w 3472060"/>
              <a:gd name="connsiteY9" fmla="*/ 695774 h 825932"/>
              <a:gd name="connsiteX10" fmla="*/ 581897 w 3472060"/>
              <a:gd name="connsiteY10" fmla="*/ 680711 h 825932"/>
              <a:gd name="connsiteX11" fmla="*/ 683670 w 3472060"/>
              <a:gd name="connsiteY11" fmla="*/ 665256 h 825932"/>
              <a:gd name="connsiteX12" fmla="*/ 787206 w 3472060"/>
              <a:gd name="connsiteY12" fmla="*/ 649587 h 825932"/>
              <a:gd name="connsiteX13" fmla="*/ 892019 w 3472060"/>
              <a:gd name="connsiteY13" fmla="*/ 632968 h 825932"/>
              <a:gd name="connsiteX14" fmla="*/ 997620 w 3472060"/>
              <a:gd name="connsiteY14" fmla="*/ 614667 h 825932"/>
              <a:gd name="connsiteX15" fmla="*/ 1104727 w 3472060"/>
              <a:gd name="connsiteY15" fmla="*/ 596741 h 825932"/>
              <a:gd name="connsiteX16" fmla="*/ 1212669 w 3472060"/>
              <a:gd name="connsiteY16" fmla="*/ 577397 h 825932"/>
              <a:gd name="connsiteX17" fmla="*/ 1321506 w 3472060"/>
              <a:gd name="connsiteY17" fmla="*/ 556988 h 825932"/>
              <a:gd name="connsiteX18" fmla="*/ 1430709 w 3472060"/>
              <a:gd name="connsiteY18" fmla="*/ 536607 h 825932"/>
              <a:gd name="connsiteX19" fmla="*/ 1541050 w 3472060"/>
              <a:gd name="connsiteY19" fmla="*/ 514481 h 825932"/>
              <a:gd name="connsiteX20" fmla="*/ 1652805 w 3472060"/>
              <a:gd name="connsiteY20" fmla="*/ 492202 h 825932"/>
              <a:gd name="connsiteX21" fmla="*/ 1763708 w 3472060"/>
              <a:gd name="connsiteY21" fmla="*/ 469161 h 825932"/>
              <a:gd name="connsiteX22" fmla="*/ 1875795 w 3472060"/>
              <a:gd name="connsiteY22" fmla="*/ 444641 h 825932"/>
              <a:gd name="connsiteX23" fmla="*/ 1989128 w 3472060"/>
              <a:gd name="connsiteY23" fmla="*/ 418995 h 825932"/>
              <a:gd name="connsiteX24" fmla="*/ 2102476 w 3472060"/>
              <a:gd name="connsiteY24" fmla="*/ 393438 h 825932"/>
              <a:gd name="connsiteX25" fmla="*/ 2215549 w 3472060"/>
              <a:gd name="connsiteY25" fmla="*/ 366291 h 825932"/>
              <a:gd name="connsiteX26" fmla="*/ 2330490 w 3472060"/>
              <a:gd name="connsiteY26" fmla="*/ 337455 h 825932"/>
              <a:gd name="connsiteX27" fmla="*/ 2443333 w 3472060"/>
              <a:gd name="connsiteY27" fmla="*/ 308983 h 825932"/>
              <a:gd name="connsiteX28" fmla="*/ 2558014 w 3472060"/>
              <a:gd name="connsiteY28" fmla="*/ 278646 h 825932"/>
              <a:gd name="connsiteX29" fmla="*/ 2673621 w 3472060"/>
              <a:gd name="connsiteY29" fmla="*/ 247421 h 825932"/>
              <a:gd name="connsiteX30" fmla="*/ 2787008 w 3472060"/>
              <a:gd name="connsiteY30" fmla="*/ 215853 h 825932"/>
              <a:gd name="connsiteX31" fmla="*/ 2901442 w 3472060"/>
              <a:gd name="connsiteY31" fmla="*/ 182011 h 825932"/>
              <a:gd name="connsiteX32" fmla="*/ 3015722 w 3472060"/>
              <a:gd name="connsiteY32" fmla="*/ 147286 h 825932"/>
              <a:gd name="connsiteX33" fmla="*/ 3130018 w 3472060"/>
              <a:gd name="connsiteY33" fmla="*/ 112649 h 825932"/>
              <a:gd name="connsiteX34" fmla="*/ 3243551 w 3472060"/>
              <a:gd name="connsiteY34" fmla="*/ 75688 h 825932"/>
              <a:gd name="connsiteX35" fmla="*/ 3356992 w 3472060"/>
              <a:gd name="connsiteY35" fmla="*/ 38197 h 825932"/>
              <a:gd name="connsiteX36" fmla="*/ 3470310 w 3472060"/>
              <a:gd name="connsiteY36" fmla="*/ 0 h 825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3472060" h="825932">
                <a:moveTo>
                  <a:pt x="3470310" y="0"/>
                </a:moveTo>
                <a:lnTo>
                  <a:pt x="3472060" y="12850"/>
                </a:lnTo>
                <a:lnTo>
                  <a:pt x="3472060" y="480529"/>
                </a:lnTo>
                <a:lnTo>
                  <a:pt x="3363699" y="498471"/>
                </a:lnTo>
                <a:cubicBezTo>
                  <a:pt x="2435623" y="645518"/>
                  <a:pt x="603076" y="844866"/>
                  <a:pt x="42060" y="824486"/>
                </a:cubicBezTo>
                <a:cubicBezTo>
                  <a:pt x="28151" y="802425"/>
                  <a:pt x="13909" y="780513"/>
                  <a:pt x="0" y="758452"/>
                </a:cubicBezTo>
                <a:lnTo>
                  <a:pt x="188014" y="735602"/>
                </a:lnTo>
                <a:lnTo>
                  <a:pt x="284087" y="722590"/>
                </a:lnTo>
                <a:lnTo>
                  <a:pt x="382288" y="709392"/>
                </a:lnTo>
                <a:lnTo>
                  <a:pt x="481858" y="695774"/>
                </a:lnTo>
                <a:lnTo>
                  <a:pt x="581897" y="680711"/>
                </a:lnTo>
                <a:lnTo>
                  <a:pt x="683670" y="665256"/>
                </a:lnTo>
                <a:lnTo>
                  <a:pt x="787206" y="649587"/>
                </a:lnTo>
                <a:lnTo>
                  <a:pt x="892019" y="632968"/>
                </a:lnTo>
                <a:lnTo>
                  <a:pt x="997620" y="614667"/>
                </a:lnTo>
                <a:lnTo>
                  <a:pt x="1104727" y="596741"/>
                </a:lnTo>
                <a:lnTo>
                  <a:pt x="1212669" y="577397"/>
                </a:lnTo>
                <a:lnTo>
                  <a:pt x="1321506" y="556988"/>
                </a:lnTo>
                <a:lnTo>
                  <a:pt x="1430709" y="536607"/>
                </a:lnTo>
                <a:lnTo>
                  <a:pt x="1541050" y="514481"/>
                </a:lnTo>
                <a:lnTo>
                  <a:pt x="1652805" y="492202"/>
                </a:lnTo>
                <a:lnTo>
                  <a:pt x="1763708" y="469161"/>
                </a:lnTo>
                <a:lnTo>
                  <a:pt x="1875795" y="444641"/>
                </a:lnTo>
                <a:lnTo>
                  <a:pt x="1989128" y="418995"/>
                </a:lnTo>
                <a:lnTo>
                  <a:pt x="2102476" y="393438"/>
                </a:lnTo>
                <a:lnTo>
                  <a:pt x="2215549" y="366291"/>
                </a:lnTo>
                <a:lnTo>
                  <a:pt x="2330490" y="337455"/>
                </a:lnTo>
                <a:lnTo>
                  <a:pt x="2443333" y="308983"/>
                </a:lnTo>
                <a:lnTo>
                  <a:pt x="2558014" y="278646"/>
                </a:lnTo>
                <a:lnTo>
                  <a:pt x="2673621" y="247421"/>
                </a:lnTo>
                <a:lnTo>
                  <a:pt x="2787008" y="215853"/>
                </a:lnTo>
                <a:lnTo>
                  <a:pt x="2901442" y="182011"/>
                </a:lnTo>
                <a:lnTo>
                  <a:pt x="3015722" y="147286"/>
                </a:lnTo>
                <a:lnTo>
                  <a:pt x="3130018" y="112649"/>
                </a:lnTo>
                <a:lnTo>
                  <a:pt x="3243551" y="75688"/>
                </a:lnTo>
                <a:lnTo>
                  <a:pt x="3356992" y="38197"/>
                </a:lnTo>
                <a:lnTo>
                  <a:pt x="347031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6010A-48AD-7D35-4EBE-D5F881F0A8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-5"/>
            <a:ext cx="12191694" cy="4185925"/>
          </a:xfrm>
          <a:prstGeom prst="rect">
            <a:avLst/>
          </a:prstGeom>
          <a:effectLst/>
        </p:spPr>
      </p:pic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DA3A238-516A-4076-B3C2-230D913508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3136999"/>
            <a:ext cx="12191696" cy="3721001"/>
          </a:xfrm>
          <a:custGeom>
            <a:avLst/>
            <a:gdLst>
              <a:gd name="connsiteX0" fmla="*/ 1 w 12191696"/>
              <a:gd name="connsiteY0" fmla="*/ 0 h 3721001"/>
              <a:gd name="connsiteX1" fmla="*/ 71932 w 12191696"/>
              <a:gd name="connsiteY1" fmla="*/ 12261 h 3721001"/>
              <a:gd name="connsiteX2" fmla="*/ 282849 w 12191696"/>
              <a:gd name="connsiteY2" fmla="*/ 48342 h 3721001"/>
              <a:gd name="connsiteX3" fmla="*/ 436464 w 12191696"/>
              <a:gd name="connsiteY3" fmla="*/ 73565 h 3721001"/>
              <a:gd name="connsiteX4" fmla="*/ 619339 w 12191696"/>
              <a:gd name="connsiteY4" fmla="*/ 100188 h 3721001"/>
              <a:gd name="connsiteX5" fmla="*/ 836351 w 12191696"/>
              <a:gd name="connsiteY5" fmla="*/ 132066 h 3721001"/>
              <a:gd name="connsiteX6" fmla="*/ 1076528 w 12191696"/>
              <a:gd name="connsiteY6" fmla="*/ 165696 h 3721001"/>
              <a:gd name="connsiteX7" fmla="*/ 1347183 w 12191696"/>
              <a:gd name="connsiteY7" fmla="*/ 201077 h 3721001"/>
              <a:gd name="connsiteX8" fmla="*/ 1642223 w 12191696"/>
              <a:gd name="connsiteY8" fmla="*/ 238560 h 3721001"/>
              <a:gd name="connsiteX9" fmla="*/ 1962864 w 12191696"/>
              <a:gd name="connsiteY9" fmla="*/ 276043 h 3721001"/>
              <a:gd name="connsiteX10" fmla="*/ 2304232 w 12191696"/>
              <a:gd name="connsiteY10" fmla="*/ 314226 h 3721001"/>
              <a:gd name="connsiteX11" fmla="*/ 2672421 w 12191696"/>
              <a:gd name="connsiteY11" fmla="*/ 349608 h 3721001"/>
              <a:gd name="connsiteX12" fmla="*/ 3057678 w 12191696"/>
              <a:gd name="connsiteY12" fmla="*/ 383588 h 3721001"/>
              <a:gd name="connsiteX13" fmla="*/ 3464881 w 12191696"/>
              <a:gd name="connsiteY13" fmla="*/ 414415 h 3721001"/>
              <a:gd name="connsiteX14" fmla="*/ 3889152 w 12191696"/>
              <a:gd name="connsiteY14" fmla="*/ 443841 h 3721001"/>
              <a:gd name="connsiteX15" fmla="*/ 4331710 w 12191696"/>
              <a:gd name="connsiteY15" fmla="*/ 471515 h 3721001"/>
              <a:gd name="connsiteX16" fmla="*/ 4558476 w 12191696"/>
              <a:gd name="connsiteY16" fmla="*/ 481324 h 3721001"/>
              <a:gd name="connsiteX17" fmla="*/ 4790118 w 12191696"/>
              <a:gd name="connsiteY17" fmla="*/ 492183 h 3721001"/>
              <a:gd name="connsiteX18" fmla="*/ 5025418 w 12191696"/>
              <a:gd name="connsiteY18" fmla="*/ 502342 h 3721001"/>
              <a:gd name="connsiteX19" fmla="*/ 5261937 w 12191696"/>
              <a:gd name="connsiteY19" fmla="*/ 508998 h 3721001"/>
              <a:gd name="connsiteX20" fmla="*/ 5503333 w 12191696"/>
              <a:gd name="connsiteY20" fmla="*/ 514953 h 3721001"/>
              <a:gd name="connsiteX21" fmla="*/ 5747166 w 12191696"/>
              <a:gd name="connsiteY21" fmla="*/ 521259 h 3721001"/>
              <a:gd name="connsiteX22" fmla="*/ 5995877 w 12191696"/>
              <a:gd name="connsiteY22" fmla="*/ 525462 h 3721001"/>
              <a:gd name="connsiteX23" fmla="*/ 6247026 w 12191696"/>
              <a:gd name="connsiteY23" fmla="*/ 525462 h 3721001"/>
              <a:gd name="connsiteX24" fmla="*/ 6500613 w 12191696"/>
              <a:gd name="connsiteY24" fmla="*/ 527564 h 3721001"/>
              <a:gd name="connsiteX25" fmla="*/ 6756639 w 12191696"/>
              <a:gd name="connsiteY25" fmla="*/ 525462 h 3721001"/>
              <a:gd name="connsiteX26" fmla="*/ 7016322 w 12191696"/>
              <a:gd name="connsiteY26" fmla="*/ 521259 h 3721001"/>
              <a:gd name="connsiteX27" fmla="*/ 7276005 w 12191696"/>
              <a:gd name="connsiteY27" fmla="*/ 517405 h 3721001"/>
              <a:gd name="connsiteX28" fmla="*/ 7539345 w 12191696"/>
              <a:gd name="connsiteY28" fmla="*/ 508998 h 3721001"/>
              <a:gd name="connsiteX29" fmla="*/ 7805124 w 12191696"/>
              <a:gd name="connsiteY29" fmla="*/ 500240 h 3721001"/>
              <a:gd name="connsiteX30" fmla="*/ 8070903 w 12191696"/>
              <a:gd name="connsiteY30" fmla="*/ 490081 h 3721001"/>
              <a:gd name="connsiteX31" fmla="*/ 8339121 w 12191696"/>
              <a:gd name="connsiteY31" fmla="*/ 475719 h 3721001"/>
              <a:gd name="connsiteX32" fmla="*/ 8609776 w 12191696"/>
              <a:gd name="connsiteY32" fmla="*/ 458554 h 3721001"/>
              <a:gd name="connsiteX33" fmla="*/ 8881651 w 12191696"/>
              <a:gd name="connsiteY33" fmla="*/ 442089 h 3721001"/>
              <a:gd name="connsiteX34" fmla="*/ 9153526 w 12191696"/>
              <a:gd name="connsiteY34" fmla="*/ 421071 h 3721001"/>
              <a:gd name="connsiteX35" fmla="*/ 9429058 w 12191696"/>
              <a:gd name="connsiteY35" fmla="*/ 395848 h 3721001"/>
              <a:gd name="connsiteX36" fmla="*/ 9700933 w 12191696"/>
              <a:gd name="connsiteY36" fmla="*/ 370626 h 3721001"/>
              <a:gd name="connsiteX37" fmla="*/ 9977684 w 12191696"/>
              <a:gd name="connsiteY37" fmla="*/ 341551 h 3721001"/>
              <a:gd name="connsiteX38" fmla="*/ 10255655 w 12191696"/>
              <a:gd name="connsiteY38" fmla="*/ 309672 h 3721001"/>
              <a:gd name="connsiteX39" fmla="*/ 10529968 w 12191696"/>
              <a:gd name="connsiteY39" fmla="*/ 276043 h 3721001"/>
              <a:gd name="connsiteX40" fmla="*/ 10807939 w 12191696"/>
              <a:gd name="connsiteY40" fmla="*/ 236808 h 3721001"/>
              <a:gd name="connsiteX41" fmla="*/ 11084690 w 12191696"/>
              <a:gd name="connsiteY41" fmla="*/ 194771 h 3721001"/>
              <a:gd name="connsiteX42" fmla="*/ 11362661 w 12191696"/>
              <a:gd name="connsiteY42" fmla="*/ 153085 h 3721001"/>
              <a:gd name="connsiteX43" fmla="*/ 11639412 w 12191696"/>
              <a:gd name="connsiteY43" fmla="*/ 104392 h 3721001"/>
              <a:gd name="connsiteX44" fmla="*/ 11914945 w 12191696"/>
              <a:gd name="connsiteY44" fmla="*/ 54648 h 3721001"/>
              <a:gd name="connsiteX45" fmla="*/ 12191696 w 12191696"/>
              <a:gd name="connsiteY45" fmla="*/ 2452 h 3721001"/>
              <a:gd name="connsiteX46" fmla="*/ 12191696 w 12191696"/>
              <a:gd name="connsiteY46" fmla="*/ 2802467 h 3721001"/>
              <a:gd name="connsiteX47" fmla="*/ 12191695 w 12191696"/>
              <a:gd name="connsiteY47" fmla="*/ 2802467 h 3721001"/>
              <a:gd name="connsiteX48" fmla="*/ 12191695 w 12191696"/>
              <a:gd name="connsiteY48" fmla="*/ 3721001 h 3721001"/>
              <a:gd name="connsiteX49" fmla="*/ 0 w 12191696"/>
              <a:gd name="connsiteY49" fmla="*/ 3721001 h 3721001"/>
              <a:gd name="connsiteX50" fmla="*/ 0 w 12191696"/>
              <a:gd name="connsiteY50" fmla="*/ 2233825 h 3721001"/>
              <a:gd name="connsiteX51" fmla="*/ 1 w 12191696"/>
              <a:gd name="connsiteY51" fmla="*/ 2233825 h 3721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1696" h="3721001">
                <a:moveTo>
                  <a:pt x="1" y="0"/>
                </a:moveTo>
                <a:lnTo>
                  <a:pt x="71932" y="12261"/>
                </a:lnTo>
                <a:lnTo>
                  <a:pt x="282849" y="48342"/>
                </a:lnTo>
                <a:lnTo>
                  <a:pt x="436464" y="73565"/>
                </a:lnTo>
                <a:lnTo>
                  <a:pt x="619339" y="100188"/>
                </a:lnTo>
                <a:lnTo>
                  <a:pt x="836351" y="132066"/>
                </a:lnTo>
                <a:lnTo>
                  <a:pt x="1076528" y="165696"/>
                </a:lnTo>
                <a:lnTo>
                  <a:pt x="1347183" y="201077"/>
                </a:lnTo>
                <a:lnTo>
                  <a:pt x="1642223" y="238560"/>
                </a:lnTo>
                <a:lnTo>
                  <a:pt x="1962864" y="276043"/>
                </a:lnTo>
                <a:lnTo>
                  <a:pt x="2304232" y="314226"/>
                </a:lnTo>
                <a:lnTo>
                  <a:pt x="2672421" y="349608"/>
                </a:lnTo>
                <a:lnTo>
                  <a:pt x="3057678" y="383588"/>
                </a:lnTo>
                <a:lnTo>
                  <a:pt x="3464881" y="414415"/>
                </a:lnTo>
                <a:lnTo>
                  <a:pt x="3889152" y="443841"/>
                </a:lnTo>
                <a:lnTo>
                  <a:pt x="4331710" y="471515"/>
                </a:lnTo>
                <a:lnTo>
                  <a:pt x="4558476" y="481324"/>
                </a:lnTo>
                <a:lnTo>
                  <a:pt x="4790118" y="492183"/>
                </a:lnTo>
                <a:lnTo>
                  <a:pt x="5025418" y="502342"/>
                </a:lnTo>
                <a:lnTo>
                  <a:pt x="5261937" y="508998"/>
                </a:lnTo>
                <a:lnTo>
                  <a:pt x="5503333" y="514953"/>
                </a:lnTo>
                <a:lnTo>
                  <a:pt x="5747166" y="521259"/>
                </a:lnTo>
                <a:lnTo>
                  <a:pt x="5995877" y="525462"/>
                </a:lnTo>
                <a:lnTo>
                  <a:pt x="6247026" y="525462"/>
                </a:lnTo>
                <a:lnTo>
                  <a:pt x="6500613" y="527564"/>
                </a:lnTo>
                <a:lnTo>
                  <a:pt x="6756639" y="525462"/>
                </a:lnTo>
                <a:lnTo>
                  <a:pt x="7016322" y="521259"/>
                </a:lnTo>
                <a:lnTo>
                  <a:pt x="7276005" y="517405"/>
                </a:lnTo>
                <a:lnTo>
                  <a:pt x="7539345" y="508998"/>
                </a:lnTo>
                <a:lnTo>
                  <a:pt x="7805124" y="500240"/>
                </a:lnTo>
                <a:lnTo>
                  <a:pt x="8070903" y="490081"/>
                </a:lnTo>
                <a:lnTo>
                  <a:pt x="8339121" y="475719"/>
                </a:lnTo>
                <a:lnTo>
                  <a:pt x="8609776" y="458554"/>
                </a:lnTo>
                <a:lnTo>
                  <a:pt x="8881651" y="442089"/>
                </a:lnTo>
                <a:lnTo>
                  <a:pt x="9153526" y="421071"/>
                </a:lnTo>
                <a:lnTo>
                  <a:pt x="9429058" y="395848"/>
                </a:lnTo>
                <a:lnTo>
                  <a:pt x="9700933" y="370626"/>
                </a:lnTo>
                <a:lnTo>
                  <a:pt x="9977684" y="341551"/>
                </a:lnTo>
                <a:lnTo>
                  <a:pt x="10255655" y="309672"/>
                </a:lnTo>
                <a:lnTo>
                  <a:pt x="10529968" y="276043"/>
                </a:lnTo>
                <a:lnTo>
                  <a:pt x="10807939" y="236808"/>
                </a:lnTo>
                <a:lnTo>
                  <a:pt x="11084690" y="194771"/>
                </a:lnTo>
                <a:lnTo>
                  <a:pt x="11362661" y="153085"/>
                </a:lnTo>
                <a:lnTo>
                  <a:pt x="11639412" y="104392"/>
                </a:lnTo>
                <a:lnTo>
                  <a:pt x="11914945" y="54648"/>
                </a:lnTo>
                <a:lnTo>
                  <a:pt x="12191696" y="2452"/>
                </a:lnTo>
                <a:lnTo>
                  <a:pt x="12191696" y="2802467"/>
                </a:lnTo>
                <a:lnTo>
                  <a:pt x="12191695" y="2802467"/>
                </a:lnTo>
                <a:lnTo>
                  <a:pt x="12191695" y="3721001"/>
                </a:lnTo>
                <a:lnTo>
                  <a:pt x="0" y="3721001"/>
                </a:lnTo>
                <a:lnTo>
                  <a:pt x="0" y="2233825"/>
                </a:lnTo>
                <a:lnTo>
                  <a:pt x="1" y="223382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9A5EE9-62D9-B7A4-E5B5-1234BD783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915" y="3928983"/>
            <a:ext cx="9182945" cy="179339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600" b="0" i="0" kern="1200" dirty="0">
                <a:solidFill>
                  <a:srgbClr val="EBEBEB"/>
                </a:solidFill>
                <a:latin typeface="+mj-lt"/>
                <a:ea typeface="+mj-ea"/>
                <a:cs typeface="+mj-cs"/>
              </a:rPr>
              <a:t>Comparison of scratch vs pretrained model results.</a:t>
            </a:r>
          </a:p>
        </p:txBody>
      </p:sp>
    </p:spTree>
    <p:extLst>
      <p:ext uri="{BB962C8B-B14F-4D97-AF65-F5344CB8AC3E}">
        <p14:creationId xmlns:p14="http://schemas.microsoft.com/office/powerpoint/2010/main" val="18204571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 spd="slow">
    <p:cover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28919-0FD5-CED2-9B55-83FADFDB8A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396240"/>
            <a:ext cx="8825658" cy="1251861"/>
          </a:xfrm>
        </p:spPr>
        <p:txBody>
          <a:bodyPr/>
          <a:lstStyle/>
          <a:p>
            <a:r>
              <a:rPr lang="en-US" sz="5400" dirty="0"/>
              <a:t>Potential improvements if data was available :</a:t>
            </a:r>
            <a:endParaRPr lang="ru-RU" sz="5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A729-1A25-EBAC-FA5C-E9BC7215FF69}"/>
              </a:ext>
            </a:extLst>
          </p:cNvPr>
          <p:cNvSpPr txBox="1"/>
          <p:nvPr/>
        </p:nvSpPr>
        <p:spPr>
          <a:xfrm>
            <a:off x="973394" y="1809135"/>
            <a:ext cx="900721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add missing parts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also add interior damage assessment related classes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set to boost the accuracy of both scratch and pretrained models</a:t>
            </a:r>
          </a:p>
          <a:p>
            <a:r>
              <a:rPr lang="en-US" sz="2800" i="1" dirty="0">
                <a:solidFill>
                  <a:srgbClr val="FF0000"/>
                </a:solidFill>
              </a:rPr>
              <a:t>I would </a:t>
            </a:r>
            <a:r>
              <a:rPr lang="en-US" sz="2800" dirty="0"/>
              <a:t>increase number of pictures in the train and validation sets too to make inferences that are statistically stronger, while maintaining balance of the Validation and Test in each class.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66293903"/>
      </p:ext>
    </p:extLst>
  </p:cSld>
  <p:clrMapOvr>
    <a:masterClrMapping/>
  </p:clrMapOvr>
  <p:transition spd="slow">
    <p:cover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537F-A61E-196E-5D8A-79D1AB5AAA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807" y="99419"/>
            <a:ext cx="8825658" cy="3329581"/>
          </a:xfrm>
        </p:spPr>
        <p:txBody>
          <a:bodyPr/>
          <a:lstStyle/>
          <a:p>
            <a:r>
              <a:rPr lang="en-US" b="1" dirty="0"/>
              <a:t>Thank you for your attention!</a:t>
            </a:r>
            <a:endParaRPr lang="ru-RU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24DC47-61E8-6780-6FA5-5448E0CEC5BB}"/>
              </a:ext>
            </a:extLst>
          </p:cNvPr>
          <p:cNvSpPr txBox="1"/>
          <p:nvPr/>
        </p:nvSpPr>
        <p:spPr>
          <a:xfrm>
            <a:off x="1076297" y="3618271"/>
            <a:ext cx="53487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lgerian" panose="04020705040A02060702" pitchFamily="82" charset="0"/>
              </a:rPr>
              <a:t>Any questions?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370734452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3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4.xml><?xml version="1.0" encoding="utf-8"?>
<a:theme xmlns:a="http://schemas.openxmlformats.org/drawingml/2006/main" name="1_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5.xml><?xml version="1.0" encoding="utf-8"?>
<a:theme xmlns:a="http://schemas.openxmlformats.org/drawingml/2006/main" name="1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6.xml><?xml version="1.0" encoding="utf-8"?>
<a:theme xmlns:a="http://schemas.openxmlformats.org/drawingml/2006/main" name="2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7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8.xml><?xml version="1.0" encoding="utf-8"?>
<a:theme xmlns:a="http://schemas.openxmlformats.org/drawingml/2006/main" name="3_Ion">
  <a:themeElements>
    <a:clrScheme name="Ion">
      <a:dk1>
        <a:sysClr val="windowText" lastClr="000000"/>
      </a:dk1>
      <a:lt1>
        <a:sysClr val="window" lastClr="FFFFFF"/>
      </a:lt1>
      <a:dk2>
        <a:srgbClr val="EE5818"/>
      </a:dk2>
      <a:lt2>
        <a:srgbClr val="EBEBEB"/>
      </a:lt2>
      <a:accent1>
        <a:srgbClr val="F5A408"/>
      </a:accent1>
      <a:accent2>
        <a:srgbClr val="FA731A"/>
      </a:accent2>
      <a:accent3>
        <a:srgbClr val="AB9281"/>
      </a:accent3>
      <a:accent4>
        <a:srgbClr val="A18CD0"/>
      </a:accent4>
      <a:accent5>
        <a:srgbClr val="8EBBD2"/>
      </a:accent5>
      <a:accent6>
        <a:srgbClr val="ACC995"/>
      </a:accent6>
      <a:hlink>
        <a:srgbClr val="FAC96A"/>
      </a:hlink>
      <a:folHlink>
        <a:srgbClr val="FCDB9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04000"/>
                <a:satMod val="128000"/>
                <a:lumMod val="10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68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42000"/>
                <a:hueMod val="42000"/>
                <a:satMod val="124000"/>
                <a:lumMod val="62000"/>
              </a:schemeClr>
              <a:schemeClr val="phClr">
                <a:tint val="96000"/>
                <a:satMod val="13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5A2F9111-B2DB-470C-BA56-608F9B658826}"/>
    </a:ext>
  </a:extLst>
</a:theme>
</file>

<file path=ppt/theme/theme9.xml><?xml version="1.0" encoding="utf-8"?>
<a:theme xmlns:a="http://schemas.openxmlformats.org/drawingml/2006/main" name="4_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ppt/theme/theme10.xml><?xml version="1.0" encoding="utf-8"?>
<a:theme xmlns:a="http://schemas.openxmlformats.org/drawingml/2006/main" name="5_Ion">
  <a:themeElements>
    <a:clrScheme name="Ion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EC76B5"/>
      </a:hlink>
      <a:folHlink>
        <a:srgbClr val="E8ACCD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A207AED3-9ABC-4A18-9978-A59B65688B15}"/>
    </a:ext>
  </a:extLst>
</a:theme>
</file>

<file path=ppt/theme/themeOverride1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3.xml><?xml version="1.0" encoding="utf-8"?>
<a:themeOverride xmlns:a="http://schemas.openxmlformats.org/drawingml/2006/main">
  <a:clrScheme name="Red">
    <a:dk1>
      <a:sysClr val="windowText" lastClr="000000"/>
    </a:dk1>
    <a:lt1>
      <a:sysClr val="window" lastClr="FFFFFF"/>
    </a:lt1>
    <a:dk2>
      <a:srgbClr val="323232"/>
    </a:dk2>
    <a:lt2>
      <a:srgbClr val="E5C243"/>
    </a:lt2>
    <a:accent1>
      <a:srgbClr val="A5300F"/>
    </a:accent1>
    <a:accent2>
      <a:srgbClr val="D55816"/>
    </a:accent2>
    <a:accent3>
      <a:srgbClr val="E19825"/>
    </a:accent3>
    <a:accent4>
      <a:srgbClr val="B19C7D"/>
    </a:accent4>
    <a:accent5>
      <a:srgbClr val="7F5F52"/>
    </a:accent5>
    <a:accent6>
      <a:srgbClr val="B27D49"/>
    </a:accent6>
    <a:hlink>
      <a:srgbClr val="6B9F25"/>
    </a:hlink>
    <a:folHlink>
      <a:srgbClr val="B26B02"/>
    </a:folHlink>
  </a:clrScheme>
</a:themeOverride>
</file>

<file path=ppt/theme/themeOverride4.xml><?xml version="1.0" encoding="utf-8"?>
<a:themeOverride xmlns:a="http://schemas.openxmlformats.org/drawingml/2006/main">
  <a:clrScheme name="Orange">
    <a:dk1>
      <a:srgbClr val="000000"/>
    </a:dk1>
    <a:lt1>
      <a:sysClr val="window" lastClr="FFFFFF"/>
    </a:lt1>
    <a:dk2>
      <a:srgbClr val="637052"/>
    </a:dk2>
    <a:lt2>
      <a:srgbClr val="CCDDEA"/>
    </a:lt2>
    <a:accent1>
      <a:srgbClr val="E48312"/>
    </a:accent1>
    <a:accent2>
      <a:srgbClr val="BD582C"/>
    </a:accent2>
    <a:accent3>
      <a:srgbClr val="865640"/>
    </a:accent3>
    <a:accent4>
      <a:srgbClr val="9B8357"/>
    </a:accent4>
    <a:accent5>
      <a:srgbClr val="C2BC80"/>
    </a:accent5>
    <a:accent6>
      <a:srgbClr val="94A088"/>
    </a:accent6>
    <a:hlink>
      <a:srgbClr val="2998E3"/>
    </a:hlink>
    <a:folHlink>
      <a:srgbClr val="8C8C8C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265</TotalTime>
  <Words>1047</Words>
  <Application>Microsoft Office PowerPoint</Application>
  <PresentationFormat>Widescreen</PresentationFormat>
  <Paragraphs>119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10</vt:i4>
      </vt:variant>
      <vt:variant>
        <vt:lpstr>Slide Titles</vt:lpstr>
      </vt:variant>
      <vt:variant>
        <vt:i4>36</vt:i4>
      </vt:variant>
    </vt:vector>
  </HeadingPairs>
  <TitlesOfParts>
    <vt:vector size="54" baseType="lpstr">
      <vt:lpstr>Algerian</vt:lpstr>
      <vt:lpstr>Arial</vt:lpstr>
      <vt:lpstr>Calisto MT</vt:lpstr>
      <vt:lpstr>Century Gothic</vt:lpstr>
      <vt:lpstr>Gill Sans MT</vt:lpstr>
      <vt:lpstr>Trebuchet MS</vt:lpstr>
      <vt:lpstr>Univers Condensed</vt:lpstr>
      <vt:lpstr>Wingdings 3</vt:lpstr>
      <vt:lpstr>ChronicleVTI</vt:lpstr>
      <vt:lpstr>Gallery</vt:lpstr>
      <vt:lpstr>Ion</vt:lpstr>
      <vt:lpstr>1_Gallery</vt:lpstr>
      <vt:lpstr>1_Ion</vt:lpstr>
      <vt:lpstr>2_Ion</vt:lpstr>
      <vt:lpstr>Facet</vt:lpstr>
      <vt:lpstr>3_Ion</vt:lpstr>
      <vt:lpstr>4_Ion</vt:lpstr>
      <vt:lpstr>5_Ion</vt:lpstr>
      <vt:lpstr>Car Damage Classification For insurance verification</vt:lpstr>
      <vt:lpstr>Introduction &amp; Motivation</vt:lpstr>
      <vt:lpstr>Datasets OvervieW &amp; Preprocessing:</vt:lpstr>
      <vt:lpstr>Initial raw dataset imbalance visualization:</vt:lpstr>
      <vt:lpstr>Initial dataset distribution after cleaning from duplicates and similar redundant pictures:</vt:lpstr>
      <vt:lpstr>Then I separated dataset manually into Train, Validation and test parts. </vt:lpstr>
      <vt:lpstr>Augmentations used on train set to upscale remaining pictures to 700 per class: </vt:lpstr>
      <vt:lpstr>Data augmentation results:</vt:lpstr>
      <vt:lpstr>The final dataset structure used:</vt:lpstr>
      <vt:lpstr>The scratch model characteristics </vt:lpstr>
      <vt:lpstr>The training loop characteristics:</vt:lpstr>
      <vt:lpstr>Training Results </vt:lpstr>
      <vt:lpstr>Results in terms of peak validation percentage and the test set result:</vt:lpstr>
      <vt:lpstr>Results analysis:</vt:lpstr>
      <vt:lpstr>Per class accuracy:</vt:lpstr>
      <vt:lpstr>Confusion matrix showing what class the model confused with incorrect another one:</vt:lpstr>
      <vt:lpstr>I also tried training on residuals and combining the results, but model was not able to get any useful additional useful information</vt:lpstr>
      <vt:lpstr>In the next slides I’ll be discussing using bootstrap sampling and binomial distribution for approximating 95% confidence intervals</vt:lpstr>
      <vt:lpstr>Validity of Bootstrap Sampling for Confidence Interval</vt:lpstr>
      <vt:lpstr>Validity of Binomial Approximation (Per-Class Accuracy)</vt:lpstr>
      <vt:lpstr>Developing approximated 95% confidence interval for aggregated model accuracy using bootstrap sampling</vt:lpstr>
      <vt:lpstr>How my bootstrap sampling distribution of model accuracy looks like</vt:lpstr>
      <vt:lpstr>95% confidence intervals for per class accuracies using binomial distribution.</vt:lpstr>
      <vt:lpstr>Testing my model on some external unseen picture:</vt:lpstr>
      <vt:lpstr>Now the final upgrade, using pretrained model Resnet50</vt:lpstr>
      <vt:lpstr>Pretrained model training results:</vt:lpstr>
      <vt:lpstr>Pretrained model Validation vs Test accuracy:</vt:lpstr>
      <vt:lpstr>Per class accuracies: Flat Tire : 112/120 -&gt; 93.33%  Glass Shatter : 113/120 -&gt; 94.17%  Lamp Broken : 113/120 -&gt; 94.17%  No Damage : 116/120 -&gt; 96.67%   Note that it has more than 115/120 accuracy violating normality assumption in binomial conf. interval Significant Damage: 114/120 -&gt; 95.00%  Surface Damage(Dents , Scratches): 109/120 -&gt; 90.83%</vt:lpstr>
      <vt:lpstr>Comparison of scratch model per class accuracy vs pretrained model</vt:lpstr>
      <vt:lpstr>Let’s check the confusion matrix to see whether or not pretrained model still suffers from notable confusion.</vt:lpstr>
      <vt:lpstr>Using bootstrapped sampling to develop roughly approximated 95% confidence interval for the Resnet50 model:</vt:lpstr>
      <vt:lpstr>Using binomial distribution for approximating 95% confidence interval for per class accuracies. Note that conf. interval for No damage is not valid as it violated normality assumption for binomial distribution.</vt:lpstr>
      <vt:lpstr>Testing the pretrained model on the same picture as scratch was tested</vt:lpstr>
      <vt:lpstr>Comparison of scratch vs pretrained model results.</vt:lpstr>
      <vt:lpstr>Potential improvements if data was available :</vt:lpstr>
      <vt:lpstr>Thank you for your attention!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Durmishkhan Gigineishvili</dc:creator>
  <cp:lastModifiedBy>Durmishkhan Gigineishvili</cp:lastModifiedBy>
  <cp:revision>9</cp:revision>
  <dcterms:created xsi:type="dcterms:W3CDTF">2025-07-08T14:55:56Z</dcterms:created>
  <dcterms:modified xsi:type="dcterms:W3CDTF">2025-07-21T17:59:33Z</dcterms:modified>
</cp:coreProperties>
</file>