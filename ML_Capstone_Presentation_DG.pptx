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7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8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theme/theme9.xml" ContentType="application/vnd.openxmlformats-officedocument.theme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0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  <p:sldMasterId id="2147483714" r:id="rId2"/>
    <p:sldMasterId id="2147483726" r:id="rId3"/>
    <p:sldMasterId id="2147483744" r:id="rId4"/>
    <p:sldMasterId id="2147483756" r:id="rId5"/>
    <p:sldMasterId id="2147483774" r:id="rId6"/>
    <p:sldMasterId id="2147483792" r:id="rId7"/>
    <p:sldMasterId id="2147483809" r:id="rId8"/>
    <p:sldMasterId id="2147483827" r:id="rId9"/>
    <p:sldMasterId id="2147483845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89" r:id="rId28"/>
    <p:sldId id="290" r:id="rId29"/>
    <p:sldId id="291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4" r:id="rId40"/>
    <p:sldId id="282" r:id="rId41"/>
    <p:sldId id="283" r:id="rId42"/>
    <p:sldId id="285" r:id="rId43"/>
    <p:sldId id="286" r:id="rId44"/>
    <p:sldId id="287" r:id="rId45"/>
    <p:sldId id="288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D03BD-23FF-42D7-BDD6-2B3CB57020E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E0BC0C-7E71-4557-B0A2-060B5BEA0C60}">
      <dgm:prSet/>
      <dgm:spPr/>
      <dgm:t>
        <a:bodyPr/>
        <a:lstStyle/>
        <a:p>
          <a:r>
            <a:rPr lang="en-US"/>
            <a:t>Trained FCNN part for 5 epochs</a:t>
          </a:r>
        </a:p>
      </dgm:t>
    </dgm:pt>
    <dgm:pt modelId="{36329D8E-4FB4-43ED-A877-3B019F748C4D}" type="parTrans" cxnId="{6264C73A-59C3-4E11-8EC9-87F8F61742CB}">
      <dgm:prSet/>
      <dgm:spPr/>
      <dgm:t>
        <a:bodyPr/>
        <a:lstStyle/>
        <a:p>
          <a:endParaRPr lang="en-US"/>
        </a:p>
      </dgm:t>
    </dgm:pt>
    <dgm:pt modelId="{85EEDD78-1892-47BE-A70A-96A98F2F2475}" type="sibTrans" cxnId="{6264C73A-59C3-4E11-8EC9-87F8F61742CB}">
      <dgm:prSet/>
      <dgm:spPr/>
      <dgm:t>
        <a:bodyPr/>
        <a:lstStyle/>
        <a:p>
          <a:endParaRPr lang="en-US"/>
        </a:p>
      </dgm:t>
    </dgm:pt>
    <dgm:pt modelId="{AECCA48B-2DF4-4C74-A812-6168722B67C6}">
      <dgm:prSet/>
      <dgm:spPr/>
      <dgm:t>
        <a:bodyPr/>
        <a:lstStyle/>
        <a:p>
          <a:r>
            <a:rPr lang="en-US"/>
            <a:t>Another 5 epochs unfreezed last convolutional block of the Resnet 50</a:t>
          </a:r>
        </a:p>
      </dgm:t>
    </dgm:pt>
    <dgm:pt modelId="{02301886-D15A-4563-A252-28DD3E8C1AC7}" type="parTrans" cxnId="{903DA47E-D48D-4ECD-BF95-4D37ADC17CDF}">
      <dgm:prSet/>
      <dgm:spPr/>
      <dgm:t>
        <a:bodyPr/>
        <a:lstStyle/>
        <a:p>
          <a:endParaRPr lang="en-US"/>
        </a:p>
      </dgm:t>
    </dgm:pt>
    <dgm:pt modelId="{13F728C2-6B09-454C-B62B-6F9248053CB7}" type="sibTrans" cxnId="{903DA47E-D48D-4ECD-BF95-4D37ADC17CDF}">
      <dgm:prSet/>
      <dgm:spPr/>
      <dgm:t>
        <a:bodyPr/>
        <a:lstStyle/>
        <a:p>
          <a:endParaRPr lang="en-US"/>
        </a:p>
      </dgm:t>
    </dgm:pt>
    <dgm:pt modelId="{3C7011AF-7117-48D5-ACCD-9DD8017FFDA1}">
      <dgm:prSet/>
      <dgm:spPr/>
      <dgm:t>
        <a:bodyPr/>
        <a:lstStyle/>
        <a:p>
          <a:r>
            <a:rPr lang="en-US"/>
            <a:t>Finally with patience 5, ReduceLRonPlateatu LR scheduler, and validation tracking unfreezed and trained using whole Resnet50 model</a:t>
          </a:r>
        </a:p>
      </dgm:t>
    </dgm:pt>
    <dgm:pt modelId="{F75C4362-3A0C-4940-BD1F-94CE5CFA1E2B}" type="parTrans" cxnId="{35E6DCD3-F597-486A-BFB1-3DBC75152752}">
      <dgm:prSet/>
      <dgm:spPr/>
      <dgm:t>
        <a:bodyPr/>
        <a:lstStyle/>
        <a:p>
          <a:endParaRPr lang="en-US"/>
        </a:p>
      </dgm:t>
    </dgm:pt>
    <dgm:pt modelId="{766E4812-87FA-47A0-8C8D-32E84DAD5F34}" type="sibTrans" cxnId="{35E6DCD3-F597-486A-BFB1-3DBC75152752}">
      <dgm:prSet/>
      <dgm:spPr/>
      <dgm:t>
        <a:bodyPr/>
        <a:lstStyle/>
        <a:p>
          <a:endParaRPr lang="en-US"/>
        </a:p>
      </dgm:t>
    </dgm:pt>
    <dgm:pt modelId="{368B7CF3-5159-4287-93B4-E1251C1FEA0B}" type="pres">
      <dgm:prSet presAssocID="{154D03BD-23FF-42D7-BDD6-2B3CB57020EE}" presName="root" presStyleCnt="0">
        <dgm:presLayoutVars>
          <dgm:dir/>
          <dgm:resizeHandles val="exact"/>
        </dgm:presLayoutVars>
      </dgm:prSet>
      <dgm:spPr/>
    </dgm:pt>
    <dgm:pt modelId="{BE5782F6-37D3-4484-9F7C-1D16E7075EE6}" type="pres">
      <dgm:prSet presAssocID="{30E0BC0C-7E71-4557-B0A2-060B5BEA0C60}" presName="compNode" presStyleCnt="0"/>
      <dgm:spPr/>
    </dgm:pt>
    <dgm:pt modelId="{F9B360A5-1C0F-432D-AD53-5034814A9B3B}" type="pres">
      <dgm:prSet presAssocID="{30E0BC0C-7E71-4557-B0A2-060B5BEA0C60}" presName="bgRect" presStyleLbl="bgShp" presStyleIdx="0" presStyleCnt="3"/>
      <dgm:spPr/>
    </dgm:pt>
    <dgm:pt modelId="{0EAD3B3D-EAD9-4ED1-A1F5-81363C632BCE}" type="pres">
      <dgm:prSet presAssocID="{30E0BC0C-7E71-4557-B0A2-060B5BEA0C6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8B4D41D5-A12C-41B0-B688-0F33C3C27717}" type="pres">
      <dgm:prSet presAssocID="{30E0BC0C-7E71-4557-B0A2-060B5BEA0C60}" presName="spaceRect" presStyleCnt="0"/>
      <dgm:spPr/>
    </dgm:pt>
    <dgm:pt modelId="{F735B5CE-4A0E-4A5D-9003-F4512E4FDD33}" type="pres">
      <dgm:prSet presAssocID="{30E0BC0C-7E71-4557-B0A2-060B5BEA0C60}" presName="parTx" presStyleLbl="revTx" presStyleIdx="0" presStyleCnt="3">
        <dgm:presLayoutVars>
          <dgm:chMax val="0"/>
          <dgm:chPref val="0"/>
        </dgm:presLayoutVars>
      </dgm:prSet>
      <dgm:spPr/>
    </dgm:pt>
    <dgm:pt modelId="{EBA31054-B9CC-434D-84BC-95FD2D3BEB24}" type="pres">
      <dgm:prSet presAssocID="{85EEDD78-1892-47BE-A70A-96A98F2F2475}" presName="sibTrans" presStyleCnt="0"/>
      <dgm:spPr/>
    </dgm:pt>
    <dgm:pt modelId="{B4E11A9A-1757-460A-8D28-ED381E093F31}" type="pres">
      <dgm:prSet presAssocID="{AECCA48B-2DF4-4C74-A812-6168722B67C6}" presName="compNode" presStyleCnt="0"/>
      <dgm:spPr/>
    </dgm:pt>
    <dgm:pt modelId="{852A110B-CF05-472B-AF03-945C4A84B62D}" type="pres">
      <dgm:prSet presAssocID="{AECCA48B-2DF4-4C74-A812-6168722B67C6}" presName="bgRect" presStyleLbl="bgShp" presStyleIdx="1" presStyleCnt="3"/>
      <dgm:spPr/>
    </dgm:pt>
    <dgm:pt modelId="{89F58C33-FBFC-4303-BE40-13F5276EF775}" type="pres">
      <dgm:prSet presAssocID="{AECCA48B-2DF4-4C74-A812-6168722B67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EFC02380-C03D-43A5-899B-A6F62DC8FB5E}" type="pres">
      <dgm:prSet presAssocID="{AECCA48B-2DF4-4C74-A812-6168722B67C6}" presName="spaceRect" presStyleCnt="0"/>
      <dgm:spPr/>
    </dgm:pt>
    <dgm:pt modelId="{DFD5B725-5404-4016-B78A-2BC983AE0142}" type="pres">
      <dgm:prSet presAssocID="{AECCA48B-2DF4-4C74-A812-6168722B67C6}" presName="parTx" presStyleLbl="revTx" presStyleIdx="1" presStyleCnt="3">
        <dgm:presLayoutVars>
          <dgm:chMax val="0"/>
          <dgm:chPref val="0"/>
        </dgm:presLayoutVars>
      </dgm:prSet>
      <dgm:spPr/>
    </dgm:pt>
    <dgm:pt modelId="{AE582C03-06A8-4572-AF60-F4E96C1B4450}" type="pres">
      <dgm:prSet presAssocID="{13F728C2-6B09-454C-B62B-6F9248053CB7}" presName="sibTrans" presStyleCnt="0"/>
      <dgm:spPr/>
    </dgm:pt>
    <dgm:pt modelId="{03002C02-0BCF-4FD0-A0C9-2EAF71A5D782}" type="pres">
      <dgm:prSet presAssocID="{3C7011AF-7117-48D5-ACCD-9DD8017FFDA1}" presName="compNode" presStyleCnt="0"/>
      <dgm:spPr/>
    </dgm:pt>
    <dgm:pt modelId="{13DF8563-64C6-4FA9-AF00-1608C1D6F842}" type="pres">
      <dgm:prSet presAssocID="{3C7011AF-7117-48D5-ACCD-9DD8017FFDA1}" presName="bgRect" presStyleLbl="bgShp" presStyleIdx="2" presStyleCnt="3"/>
      <dgm:spPr/>
    </dgm:pt>
    <dgm:pt modelId="{5CFFF1C9-EE79-4E3F-9B9A-304638E11CB4}" type="pres">
      <dgm:prSet presAssocID="{3C7011AF-7117-48D5-ACCD-9DD8017FFDA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82AC13B-772E-4586-8299-052BAD5CB0CF}" type="pres">
      <dgm:prSet presAssocID="{3C7011AF-7117-48D5-ACCD-9DD8017FFDA1}" presName="spaceRect" presStyleCnt="0"/>
      <dgm:spPr/>
    </dgm:pt>
    <dgm:pt modelId="{EDE0746D-D8FB-4F73-A209-A10EC1765667}" type="pres">
      <dgm:prSet presAssocID="{3C7011AF-7117-48D5-ACCD-9DD8017FFD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28D4C19-14C0-43BB-B21C-1AC4950E8308}" type="presOf" srcId="{3C7011AF-7117-48D5-ACCD-9DD8017FFDA1}" destId="{EDE0746D-D8FB-4F73-A209-A10EC1765667}" srcOrd="0" destOrd="0" presId="urn:microsoft.com/office/officeart/2018/2/layout/IconVerticalSolidList"/>
    <dgm:cxn modelId="{A754832A-4CF0-4707-B759-7EAEFA00B3A8}" type="presOf" srcId="{AECCA48B-2DF4-4C74-A812-6168722B67C6}" destId="{DFD5B725-5404-4016-B78A-2BC983AE0142}" srcOrd="0" destOrd="0" presId="urn:microsoft.com/office/officeart/2018/2/layout/IconVerticalSolidList"/>
    <dgm:cxn modelId="{6264C73A-59C3-4E11-8EC9-87F8F61742CB}" srcId="{154D03BD-23FF-42D7-BDD6-2B3CB57020EE}" destId="{30E0BC0C-7E71-4557-B0A2-060B5BEA0C60}" srcOrd="0" destOrd="0" parTransId="{36329D8E-4FB4-43ED-A877-3B019F748C4D}" sibTransId="{85EEDD78-1892-47BE-A70A-96A98F2F2475}"/>
    <dgm:cxn modelId="{903DA47E-D48D-4ECD-BF95-4D37ADC17CDF}" srcId="{154D03BD-23FF-42D7-BDD6-2B3CB57020EE}" destId="{AECCA48B-2DF4-4C74-A812-6168722B67C6}" srcOrd="1" destOrd="0" parTransId="{02301886-D15A-4563-A252-28DD3E8C1AC7}" sibTransId="{13F728C2-6B09-454C-B62B-6F9248053CB7}"/>
    <dgm:cxn modelId="{69D02493-2C02-431F-9794-23AF93823BC7}" type="presOf" srcId="{30E0BC0C-7E71-4557-B0A2-060B5BEA0C60}" destId="{F735B5CE-4A0E-4A5D-9003-F4512E4FDD33}" srcOrd="0" destOrd="0" presId="urn:microsoft.com/office/officeart/2018/2/layout/IconVerticalSolidList"/>
    <dgm:cxn modelId="{35E6DCD3-F597-486A-BFB1-3DBC75152752}" srcId="{154D03BD-23FF-42D7-BDD6-2B3CB57020EE}" destId="{3C7011AF-7117-48D5-ACCD-9DD8017FFDA1}" srcOrd="2" destOrd="0" parTransId="{F75C4362-3A0C-4940-BD1F-94CE5CFA1E2B}" sibTransId="{766E4812-87FA-47A0-8C8D-32E84DAD5F34}"/>
    <dgm:cxn modelId="{0817A9D6-2BE4-48CB-950B-12FEB9D7EBB3}" type="presOf" srcId="{154D03BD-23FF-42D7-BDD6-2B3CB57020EE}" destId="{368B7CF3-5159-4287-93B4-E1251C1FEA0B}" srcOrd="0" destOrd="0" presId="urn:microsoft.com/office/officeart/2018/2/layout/IconVerticalSolidList"/>
    <dgm:cxn modelId="{1370A7AE-9B84-43BE-80DD-45ED171F43A8}" type="presParOf" srcId="{368B7CF3-5159-4287-93B4-E1251C1FEA0B}" destId="{BE5782F6-37D3-4484-9F7C-1D16E7075EE6}" srcOrd="0" destOrd="0" presId="urn:microsoft.com/office/officeart/2018/2/layout/IconVerticalSolidList"/>
    <dgm:cxn modelId="{6EBB4D57-C212-42B7-857B-A8D3D5CAE4A0}" type="presParOf" srcId="{BE5782F6-37D3-4484-9F7C-1D16E7075EE6}" destId="{F9B360A5-1C0F-432D-AD53-5034814A9B3B}" srcOrd="0" destOrd="0" presId="urn:microsoft.com/office/officeart/2018/2/layout/IconVerticalSolidList"/>
    <dgm:cxn modelId="{EAFF962E-444A-4968-A397-FCF837BF435E}" type="presParOf" srcId="{BE5782F6-37D3-4484-9F7C-1D16E7075EE6}" destId="{0EAD3B3D-EAD9-4ED1-A1F5-81363C632BCE}" srcOrd="1" destOrd="0" presId="urn:microsoft.com/office/officeart/2018/2/layout/IconVerticalSolidList"/>
    <dgm:cxn modelId="{720F4DBC-661C-404F-BB20-BEA515F2D5B7}" type="presParOf" srcId="{BE5782F6-37D3-4484-9F7C-1D16E7075EE6}" destId="{8B4D41D5-A12C-41B0-B688-0F33C3C27717}" srcOrd="2" destOrd="0" presId="urn:microsoft.com/office/officeart/2018/2/layout/IconVerticalSolidList"/>
    <dgm:cxn modelId="{2E71AF34-D76F-4BD9-A3C0-37E7F346FA4C}" type="presParOf" srcId="{BE5782F6-37D3-4484-9F7C-1D16E7075EE6}" destId="{F735B5CE-4A0E-4A5D-9003-F4512E4FDD33}" srcOrd="3" destOrd="0" presId="urn:microsoft.com/office/officeart/2018/2/layout/IconVerticalSolidList"/>
    <dgm:cxn modelId="{BAC54DCB-095A-4966-A26B-87C585795768}" type="presParOf" srcId="{368B7CF3-5159-4287-93B4-E1251C1FEA0B}" destId="{EBA31054-B9CC-434D-84BC-95FD2D3BEB24}" srcOrd="1" destOrd="0" presId="urn:microsoft.com/office/officeart/2018/2/layout/IconVerticalSolidList"/>
    <dgm:cxn modelId="{3C49B98A-311A-4B27-9D33-FFCD5B7216F7}" type="presParOf" srcId="{368B7CF3-5159-4287-93B4-E1251C1FEA0B}" destId="{B4E11A9A-1757-460A-8D28-ED381E093F31}" srcOrd="2" destOrd="0" presId="urn:microsoft.com/office/officeart/2018/2/layout/IconVerticalSolidList"/>
    <dgm:cxn modelId="{3DD7D11B-F863-48E1-A2EB-C91E5E3E1689}" type="presParOf" srcId="{B4E11A9A-1757-460A-8D28-ED381E093F31}" destId="{852A110B-CF05-472B-AF03-945C4A84B62D}" srcOrd="0" destOrd="0" presId="urn:microsoft.com/office/officeart/2018/2/layout/IconVerticalSolidList"/>
    <dgm:cxn modelId="{1D77DC37-15AB-4DE1-80F4-416112626CE7}" type="presParOf" srcId="{B4E11A9A-1757-460A-8D28-ED381E093F31}" destId="{89F58C33-FBFC-4303-BE40-13F5276EF775}" srcOrd="1" destOrd="0" presId="urn:microsoft.com/office/officeart/2018/2/layout/IconVerticalSolidList"/>
    <dgm:cxn modelId="{492E1D58-7610-475B-BC58-3C15E88204F4}" type="presParOf" srcId="{B4E11A9A-1757-460A-8D28-ED381E093F31}" destId="{EFC02380-C03D-43A5-899B-A6F62DC8FB5E}" srcOrd="2" destOrd="0" presId="urn:microsoft.com/office/officeart/2018/2/layout/IconVerticalSolidList"/>
    <dgm:cxn modelId="{A41B4F7A-AE61-47BA-A72C-C78F584A0BC3}" type="presParOf" srcId="{B4E11A9A-1757-460A-8D28-ED381E093F31}" destId="{DFD5B725-5404-4016-B78A-2BC983AE0142}" srcOrd="3" destOrd="0" presId="urn:microsoft.com/office/officeart/2018/2/layout/IconVerticalSolidList"/>
    <dgm:cxn modelId="{0ECFC8D5-06C3-47A7-8005-79E4A2067170}" type="presParOf" srcId="{368B7CF3-5159-4287-93B4-E1251C1FEA0B}" destId="{AE582C03-06A8-4572-AF60-F4E96C1B4450}" srcOrd="3" destOrd="0" presId="urn:microsoft.com/office/officeart/2018/2/layout/IconVerticalSolidList"/>
    <dgm:cxn modelId="{DBFC3522-B23B-40B4-83EC-EFADFD703CB2}" type="presParOf" srcId="{368B7CF3-5159-4287-93B4-E1251C1FEA0B}" destId="{03002C02-0BCF-4FD0-A0C9-2EAF71A5D782}" srcOrd="4" destOrd="0" presId="urn:microsoft.com/office/officeart/2018/2/layout/IconVerticalSolidList"/>
    <dgm:cxn modelId="{72EA4C80-E902-4101-AF41-BBCD1F6DB9C3}" type="presParOf" srcId="{03002C02-0BCF-4FD0-A0C9-2EAF71A5D782}" destId="{13DF8563-64C6-4FA9-AF00-1608C1D6F842}" srcOrd="0" destOrd="0" presId="urn:microsoft.com/office/officeart/2018/2/layout/IconVerticalSolidList"/>
    <dgm:cxn modelId="{3C7FDF36-B60F-46BA-B717-8EEEA8E7F692}" type="presParOf" srcId="{03002C02-0BCF-4FD0-A0C9-2EAF71A5D782}" destId="{5CFFF1C9-EE79-4E3F-9B9A-304638E11CB4}" srcOrd="1" destOrd="0" presId="urn:microsoft.com/office/officeart/2018/2/layout/IconVerticalSolidList"/>
    <dgm:cxn modelId="{4FC73D9F-713F-4A32-9B63-DE09AE48BF15}" type="presParOf" srcId="{03002C02-0BCF-4FD0-A0C9-2EAF71A5D782}" destId="{382AC13B-772E-4586-8299-052BAD5CB0CF}" srcOrd="2" destOrd="0" presId="urn:microsoft.com/office/officeart/2018/2/layout/IconVerticalSolidList"/>
    <dgm:cxn modelId="{B7F4F52C-E770-4F18-9798-ADD32CDAA309}" type="presParOf" srcId="{03002C02-0BCF-4FD0-A0C9-2EAF71A5D782}" destId="{EDE0746D-D8FB-4F73-A209-A10EC17656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360A5-1C0F-432D-AD53-5034814A9B3B}">
      <dsp:nvSpPr>
        <dsp:cNvPr id="0" name=""/>
        <dsp:cNvSpPr/>
      </dsp:nvSpPr>
      <dsp:spPr>
        <a:xfrm>
          <a:off x="0" y="558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D3B3D-EAD9-4ED1-A1F5-81363C632BCE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5B5CE-4A0E-4A5D-9003-F4512E4FDD33}">
      <dsp:nvSpPr>
        <dsp:cNvPr id="0" name=""/>
        <dsp:cNvSpPr/>
      </dsp:nvSpPr>
      <dsp:spPr>
        <a:xfrm>
          <a:off x="1508391" y="558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Trained FCNN part for 5 epochs</a:t>
          </a:r>
        </a:p>
      </dsp:txBody>
      <dsp:txXfrm>
        <a:off x="1508391" y="558"/>
        <a:ext cx="4987658" cy="1305966"/>
      </dsp:txXfrm>
    </dsp:sp>
    <dsp:sp modelId="{852A110B-CF05-472B-AF03-945C4A84B62D}">
      <dsp:nvSpPr>
        <dsp:cNvPr id="0" name=""/>
        <dsp:cNvSpPr/>
      </dsp:nvSpPr>
      <dsp:spPr>
        <a:xfrm>
          <a:off x="0" y="1633016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58C33-FBFC-4303-BE40-13F5276EF775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5B725-5404-4016-B78A-2BC983AE0142}">
      <dsp:nvSpPr>
        <dsp:cNvPr id="0" name=""/>
        <dsp:cNvSpPr/>
      </dsp:nvSpPr>
      <dsp:spPr>
        <a:xfrm>
          <a:off x="1508391" y="1633016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Another 5 epochs unfreezed last convolutional block of the Resnet 50</a:t>
          </a:r>
        </a:p>
      </dsp:txBody>
      <dsp:txXfrm>
        <a:off x="1508391" y="1633016"/>
        <a:ext cx="4987658" cy="1305966"/>
      </dsp:txXfrm>
    </dsp:sp>
    <dsp:sp modelId="{13DF8563-64C6-4FA9-AF00-1608C1D6F842}">
      <dsp:nvSpPr>
        <dsp:cNvPr id="0" name=""/>
        <dsp:cNvSpPr/>
      </dsp:nvSpPr>
      <dsp:spPr>
        <a:xfrm>
          <a:off x="0" y="3265475"/>
          <a:ext cx="6496050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FF1C9-EE79-4E3F-9B9A-304638E11CB4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0746D-D8FB-4F73-A209-A10EC1765667}">
      <dsp:nvSpPr>
        <dsp:cNvPr id="0" name=""/>
        <dsp:cNvSpPr/>
      </dsp:nvSpPr>
      <dsp:spPr>
        <a:xfrm>
          <a:off x="1508391" y="3265475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Finally with patience 5, ReduceLRonPlateatu LR scheduler, and validation tracking unfreezed and trained using whole Resnet50 model</a:t>
          </a:r>
        </a:p>
      </dsp:txBody>
      <dsp:txXfrm>
        <a:off x="1508391" y="3265475"/>
        <a:ext cx="4987658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78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6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7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4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7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69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6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60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21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719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995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554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59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8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667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5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8344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055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1391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46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727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297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63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731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571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538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615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26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613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17713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576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5952355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04028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70877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25264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644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298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50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4792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7809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7256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3450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9298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915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495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1246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035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0150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847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697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284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142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011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943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756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33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431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1491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65766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5948684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08092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763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69905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91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676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4714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5802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4371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4886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7065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9794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665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25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5360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80763"/>
      </p:ext>
    </p:extLst>
  </p:cSld>
  <p:clrMapOvr>
    <a:masterClrMapping/>
  </p:clrMapOvr>
  <p:hf sldNum="0"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96558"/>
      </p:ext>
    </p:extLst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5581272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73634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22815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82740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1719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850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0429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052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6817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018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3924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7925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9121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715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5870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7822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5764103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4352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9514101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05903"/>
      </p:ext>
    </p:extLst>
  </p:cSld>
  <p:clrMapOvr>
    <a:masterClrMapping/>
  </p:clrMapOvr>
  <p:hf sldNum="0"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0975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7617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121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5934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5230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7217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7085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5480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7321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4794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7796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02853"/>
      </p:ext>
    </p:extLst>
  </p:cSld>
  <p:clrMapOvr>
    <a:masterClrMapping/>
  </p:clrMapOvr>
  <p:hf sldNum="0" hdr="0" ft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80129"/>
      </p:ext>
    </p:extLst>
  </p:cSld>
  <p:clrMapOvr>
    <a:masterClrMapping/>
  </p:clrMapOvr>
  <p:hf sldNum="0"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2163305"/>
      </p:ext>
    </p:extLst>
  </p:cSld>
  <p:clrMapOvr>
    <a:masterClrMapping/>
  </p:clrMapOvr>
  <p:hf sldNum="0" hdr="0" ft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89231"/>
      </p:ext>
    </p:extLst>
  </p:cSld>
  <p:clrMapOvr>
    <a:masterClrMapping/>
  </p:clrMapOvr>
  <p:hf sldNum="0" hdr="0" ft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78619"/>
      </p:ext>
    </p:extLst>
  </p:cSld>
  <p:clrMapOvr>
    <a:masterClrMapping/>
  </p:clrMapOvr>
  <p:hf sldNum="0" hdr="0" ft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79432"/>
      </p:ext>
    </p:extLst>
  </p:cSld>
  <p:clrMapOvr>
    <a:masterClrMapping/>
  </p:clrMapOvr>
  <p:hf sldNum="0" hdr="0" ftr="0" dt="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455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8343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9385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6537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0087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5051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500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9038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0489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1408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1748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57168"/>
      </p:ext>
    </p:extLst>
  </p:cSld>
  <p:clrMapOvr>
    <a:masterClrMapping/>
  </p:clrMapOvr>
  <p:hf sldNum="0" hdr="0" ft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50692"/>
      </p:ext>
    </p:extLst>
  </p:cSld>
  <p:clrMapOvr>
    <a:masterClrMapping/>
  </p:clrMapOvr>
  <p:hf sldNum="0" hdr="0" ft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5811810"/>
      </p:ext>
    </p:extLst>
  </p:cSld>
  <p:clrMapOvr>
    <a:masterClrMapping/>
  </p:clrMapOvr>
  <p:hf sldNum="0" hdr="0" ft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85178"/>
      </p:ext>
    </p:extLst>
  </p:cSld>
  <p:clrMapOvr>
    <a:masterClrMapping/>
  </p:clrMapOvr>
  <p:hf sldNum="0" hdr="0" ft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9965"/>
      </p:ext>
    </p:extLst>
  </p:cSld>
  <p:clrMapOvr>
    <a:masterClrMapping/>
  </p:clrMapOvr>
  <p:hf sldNum="0" hdr="0" ftr="0" dt="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26942"/>
      </p:ext>
    </p:extLst>
  </p:cSld>
  <p:clrMapOvr>
    <a:masterClrMapping/>
  </p:clrMapOvr>
  <p:hf sldNum="0" hdr="0" ftr="0" dt="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79125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4811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217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300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3407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9390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218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3094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8244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3797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6273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52342"/>
      </p:ext>
    </p:extLst>
  </p:cSld>
  <p:clrMapOvr>
    <a:masterClrMapping/>
  </p:clrMapOvr>
  <p:hf sldNum="0" hdr="0" ftr="0" dt="0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12176"/>
      </p:ext>
    </p:extLst>
  </p:cSld>
  <p:clrMapOvr>
    <a:masterClrMapping/>
  </p:clrMapOvr>
  <p:hf sldNum="0" hdr="0" ftr="0" dt="0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6962496"/>
      </p:ext>
    </p:extLst>
  </p:cSld>
  <p:clrMapOvr>
    <a:masterClrMapping/>
  </p:clrMapOvr>
  <p:hf sldNum="0" hdr="0" ftr="0" dt="0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7488"/>
      </p:ext>
    </p:extLst>
  </p:cSld>
  <p:clrMapOvr>
    <a:masterClrMapping/>
  </p:clrMapOvr>
  <p:hf sldNum="0" hdr="0" ftr="0" dt="0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15160"/>
      </p:ext>
    </p:extLst>
  </p:cSld>
  <p:clrMapOvr>
    <a:masterClrMapping/>
  </p:clrMapOvr>
  <p:hf sldNum="0" hdr="0" ftr="0" dt="0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10015"/>
      </p:ext>
    </p:extLst>
  </p:cSld>
  <p:clrMapOvr>
    <a:masterClrMapping/>
  </p:clrMapOvr>
  <p:hf sldNum="0" hdr="0" ftr="0" dt="0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4979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5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70.xml"/><Relationship Id="rId21" Type="http://schemas.openxmlformats.org/officeDocument/2006/relationships/image" Target="../media/image13.png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image" Target="../media/image14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theme" Target="../theme/theme7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slideLayout" Target="../slideLayouts/slideLayout113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03.xml"/><Relationship Id="rId21" Type="http://schemas.openxmlformats.org/officeDocument/2006/relationships/image" Target="../media/image17.png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17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16.xml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0.xml"/><Relationship Id="rId19" Type="http://schemas.openxmlformats.org/officeDocument/2006/relationships/image" Target="../media/image15.png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14.xml"/><Relationship Id="rId22" Type="http://schemas.openxmlformats.org/officeDocument/2006/relationships/image" Target="../media/image18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30.xml"/><Relationship Id="rId18" Type="http://schemas.openxmlformats.org/officeDocument/2006/relationships/theme" Target="../theme/theme9.xml"/><Relationship Id="rId3" Type="http://schemas.openxmlformats.org/officeDocument/2006/relationships/slideLayout" Target="../slideLayouts/slideLayout120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27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image" Target="../media/image10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7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37.xml"/><Relationship Id="rId21" Type="http://schemas.openxmlformats.org/officeDocument/2006/relationships/image" Target="../media/image13.png"/><Relationship Id="rId7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6.xml"/><Relationship Id="rId17" Type="http://schemas.openxmlformats.org/officeDocument/2006/relationships/slideLayout" Target="../slideLayouts/slideLayout151.xml"/><Relationship Id="rId2" Type="http://schemas.openxmlformats.org/officeDocument/2006/relationships/slideLayout" Target="../slideLayouts/slideLayout136.xml"/><Relationship Id="rId16" Type="http://schemas.openxmlformats.org/officeDocument/2006/relationships/slideLayout" Target="../slideLayouts/slideLayout150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39.xml"/><Relationship Id="rId15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44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8.xml"/><Relationship Id="rId22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6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33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00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43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51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94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8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44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377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42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8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8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3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3.png"/><Relationship Id="rId7" Type="http://schemas.openxmlformats.org/officeDocument/2006/relationships/diagramData" Target="../diagrams/data1.xml"/><Relationship Id="rId2" Type="http://schemas.openxmlformats.org/officeDocument/2006/relationships/slideLayout" Target="../slideLayouts/slideLayout28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6.png"/><Relationship Id="rId11" Type="http://schemas.microsoft.com/office/2007/relationships/diagramDrawing" Target="../diagrams/drawing1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4.png"/><Relationship Id="rId9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15029-5368-65ED-C2CA-1CC33CA42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656" y="914400"/>
            <a:ext cx="6236208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Car Damage Classification For insurance verification</a:t>
            </a:r>
          </a:p>
        </p:txBody>
      </p:sp>
      <p:pic>
        <p:nvPicPr>
          <p:cNvPr id="6" name="Picture 5" descr="Cars parked in a line">
            <a:extLst>
              <a:ext uri="{FF2B5EF4-FFF2-40B4-BE49-F238E27FC236}">
                <a16:creationId xmlns:a16="http://schemas.microsoft.com/office/drawing/2014/main" id="{D4FCE205-926E-F676-E79B-020A691E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9" r="11081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2F7824E-AA57-D72B-64EB-BCC3AE05D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656" y="2665477"/>
            <a:ext cx="6236208" cy="39410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Course: ML 2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Lecturers: Lasha </a:t>
            </a:r>
            <a:r>
              <a:rPr lang="en-US" sz="2400" dirty="0" err="1"/>
              <a:t>Chochua</a:t>
            </a:r>
            <a:r>
              <a:rPr lang="en-US" sz="2400" dirty="0"/>
              <a:t>, Shota </a:t>
            </a:r>
            <a:r>
              <a:rPr lang="en-US" sz="2400" dirty="0" err="1"/>
              <a:t>Natenadze</a:t>
            </a:r>
            <a:endParaRPr lang="en-US" sz="24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Student: Durmishkhan(Ucha) Gigineishvili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July, 2025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67647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D2B3A-6E14-4F75-2795-3D5B3049C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3343" y="1137215"/>
            <a:ext cx="5804426" cy="3376766"/>
          </a:xfrm>
        </p:spPr>
        <p:txBody>
          <a:bodyPr anchor="t">
            <a:normAutofit/>
          </a:bodyPr>
          <a:lstStyle/>
          <a:p>
            <a:r>
              <a:rPr lang="en-US" sz="6600" b="1" dirty="0"/>
              <a:t>Introduction &amp; Motivation</a:t>
            </a:r>
            <a:endParaRPr lang="ru-RU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DA6CD-09EF-2A90-F890-5D58819F4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3343" y="3429000"/>
            <a:ext cx="5412440" cy="2272025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Why is it economics related?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insurance fraud detection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automation/reducing losses/costs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 reducing corruption</a:t>
            </a:r>
            <a:endParaRPr lang="ru-RU" sz="2800" dirty="0"/>
          </a:p>
        </p:txBody>
      </p:sp>
      <p:pic>
        <p:nvPicPr>
          <p:cNvPr id="7" name="Graphic 6" descr="Lightbulb">
            <a:extLst>
              <a:ext uri="{FF2B5EF4-FFF2-40B4-BE49-F238E27FC236}">
                <a16:creationId xmlns:a16="http://schemas.microsoft.com/office/drawing/2014/main" id="{74DEF969-F721-81F1-718E-A014E8433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383" y="1171349"/>
            <a:ext cx="4515301" cy="45153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E634B8-311A-4810-A5DB-7043D028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343" y="61341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8428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9AEC-6A77-5DD8-BAF3-512846E20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40" y="1265162"/>
            <a:ext cx="5740400" cy="2163838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Datasets </a:t>
            </a:r>
            <a:r>
              <a:rPr lang="en-US" dirty="0" err="1"/>
              <a:t>OvervieW</a:t>
            </a:r>
            <a:r>
              <a:rPr lang="en-US" dirty="0"/>
              <a:t> &amp; Preprocessing: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9784A-F851-207F-0BBA-0FFE605E4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6560" y="396240"/>
            <a:ext cx="6601534" cy="2703871"/>
          </a:xfrm>
        </p:spPr>
        <p:txBody>
          <a:bodyPr>
            <a:noAutofit/>
          </a:bodyPr>
          <a:lstStyle/>
          <a:p>
            <a:r>
              <a:rPr lang="en-US" sz="2000" dirty="0"/>
              <a:t> </a:t>
            </a:r>
            <a:r>
              <a:rPr lang="en-US" sz="2000" b="1" i="1" dirty="0"/>
              <a:t>Data sources</a:t>
            </a:r>
            <a:r>
              <a:rPr lang="en-US" sz="2000" dirty="0"/>
              <a:t>: 3 different Kaggle datasets used to collect the 6 classes</a:t>
            </a:r>
          </a:p>
          <a:p>
            <a:r>
              <a:rPr lang="en-US" sz="2000" b="1" i="1" dirty="0"/>
              <a:t>Classes: </a:t>
            </a:r>
            <a:br>
              <a:rPr lang="en-US" sz="2000" dirty="0"/>
            </a:br>
            <a:r>
              <a:rPr lang="en-US" sz="2000" dirty="0"/>
              <a:t>1) Flat_Tire</a:t>
            </a:r>
          </a:p>
          <a:p>
            <a:r>
              <a:rPr lang="en-US" sz="2000" dirty="0"/>
              <a:t>2)Glass shatter</a:t>
            </a:r>
          </a:p>
          <a:p>
            <a:r>
              <a:rPr lang="en-US" sz="2000" dirty="0"/>
              <a:t>3)Lamp broken</a:t>
            </a:r>
          </a:p>
          <a:p>
            <a:r>
              <a:rPr lang="en-US" sz="2000" dirty="0"/>
              <a:t>4)No damage</a:t>
            </a:r>
            <a:br>
              <a:rPr lang="en-US" sz="2000" dirty="0"/>
            </a:br>
            <a:r>
              <a:rPr lang="en-US" sz="2000" dirty="0"/>
              <a:t>5)Significant damage</a:t>
            </a:r>
          </a:p>
          <a:p>
            <a:r>
              <a:rPr lang="en-US" sz="2000" dirty="0"/>
              <a:t>6) Surface damage (dents , scratches)</a:t>
            </a:r>
          </a:p>
        </p:txBody>
      </p:sp>
      <p:pic>
        <p:nvPicPr>
          <p:cNvPr id="5" name="Picture 4" descr="A collage of a white car&#10;&#10;AI-generated content may be incorrect.">
            <a:extLst>
              <a:ext uri="{FF2B5EF4-FFF2-40B4-BE49-F238E27FC236}">
                <a16:creationId xmlns:a16="http://schemas.microsoft.com/office/drawing/2014/main" id="{554D40D1-1354-9B81-8DAE-BE55CB3E3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4162"/>
            <a:ext cx="12192000" cy="216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10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FD8E-587A-7F33-6CEE-0B45C91D2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09350"/>
            <a:ext cx="11279540" cy="889379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Initial raw dataset imbalance visualization:</a:t>
            </a:r>
            <a:endParaRPr lang="ru-RU" sz="4800" dirty="0"/>
          </a:p>
        </p:txBody>
      </p:sp>
      <p:pic>
        <p:nvPicPr>
          <p:cNvPr id="5" name="Picture 4" descr="A graph of a bar chart">
            <a:extLst>
              <a:ext uri="{FF2B5EF4-FFF2-40B4-BE49-F238E27FC236}">
                <a16:creationId xmlns:a16="http://schemas.microsoft.com/office/drawing/2014/main" id="{6CF25092-14A2-144D-3903-814FC8CB6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0239"/>
            <a:ext cx="11125200" cy="564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247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915C-F42C-F078-00E9-E886CC392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/>
              <a:t>Initial dataset distribution after cleaning from duplicates and similar redundant pictures:</a:t>
            </a:r>
            <a:endParaRPr lang="ru-RU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3AAF34A-F1AE-B5F5-9699-2140F9178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26644"/>
            <a:ext cx="11104880" cy="483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500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532D1-ABCE-A78F-393C-8C44CD95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742950" indent="-742950">
              <a:lnSpc>
                <a:spcPct val="90000"/>
              </a:lnSpc>
            </a:pPr>
            <a:r>
              <a:rPr lang="en-US" sz="44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Then I separated dataset manually into Train, Validation and test parts.</a:t>
            </a:r>
            <a:br>
              <a:rPr lang="en-US" sz="29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900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63FE1-1A49-C84C-40C5-47C0A85AEFB5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0" indent="-571500" defTabSz="45720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3600" dirty="0">
                <a:latin typeface="+mj-lt"/>
                <a:ea typeface="+mj-ea"/>
                <a:cs typeface="+mj-cs"/>
              </a:rPr>
              <a:t>120-120 per class for validation-test. </a:t>
            </a:r>
            <a:br>
              <a:rPr lang="en-US" sz="3600" dirty="0">
                <a:latin typeface="+mj-lt"/>
                <a:ea typeface="+mj-ea"/>
                <a:cs typeface="+mj-cs"/>
              </a:rPr>
            </a:br>
            <a:r>
              <a:rPr lang="en-US" sz="3600" dirty="0">
                <a:latin typeface="+mj-lt"/>
                <a:ea typeface="+mj-ea"/>
                <a:cs typeface="+mj-cs"/>
              </a:rPr>
              <a:t>In total 720-720 validation-test unique pictures, remaining were dedicated to train set.</a:t>
            </a:r>
          </a:p>
        </p:txBody>
      </p:sp>
    </p:spTree>
    <p:extLst>
      <p:ext uri="{BB962C8B-B14F-4D97-AF65-F5344CB8AC3E}">
        <p14:creationId xmlns:p14="http://schemas.microsoft.com/office/powerpoint/2010/main" val="610807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>
                  <a:alpha val="20000"/>
                </a:schemeClr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  <a:effec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E1BD8-55EC-2371-D6E5-A60F2C142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3" y="1645920"/>
            <a:ext cx="3522879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3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Augmentations used on train set to upscale remaining pictures to 700 per class:</a:t>
            </a:r>
            <a:br>
              <a:rPr lang="en-US" sz="33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300" b="0" i="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6A3CA-E8E9-D393-2C3F-A5AF8C4DC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4109" y="1645920"/>
            <a:ext cx="5919503" cy="447082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b="1" dirty="0">
                <a:solidFill>
                  <a:schemeClr val="tx1"/>
                </a:solidFill>
              </a:rPr>
              <a:t>Random horizontal flip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mirroring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 3" charset="2"/>
              <a:buChar char=""/>
            </a:pPr>
            <a:r>
              <a:rPr lang="en-US" b="1" dirty="0">
                <a:solidFill>
                  <a:schemeClr val="tx1"/>
                </a:solidFill>
              </a:rPr>
              <a:t>Collor jitter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modifying colors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 3" charset="2"/>
              <a:buChar char=""/>
            </a:pPr>
            <a:r>
              <a:rPr lang="en-US" b="1" dirty="0">
                <a:solidFill>
                  <a:schemeClr val="tx1"/>
                </a:solidFill>
              </a:rPr>
              <a:t>Random rotation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rotating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 3" charset="2"/>
              <a:buChar char=""/>
            </a:pPr>
            <a:r>
              <a:rPr lang="en-US" b="1" dirty="0">
                <a:solidFill>
                  <a:schemeClr val="tx1"/>
                </a:solidFill>
              </a:rPr>
              <a:t>Random affine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moving up, down </a:t>
            </a:r>
            <a:r>
              <a:rPr lang="en-US" i="1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 3" charset="2"/>
              <a:buChar char=""/>
            </a:pPr>
            <a:r>
              <a:rPr lang="en-US" b="1" dirty="0">
                <a:solidFill>
                  <a:schemeClr val="tx1"/>
                </a:solidFill>
              </a:rPr>
              <a:t>Random perspective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changing perspective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 3" charset="2"/>
              <a:buChar char=""/>
            </a:pPr>
            <a:r>
              <a:rPr lang="en-US" b="1" dirty="0">
                <a:solidFill>
                  <a:schemeClr val="tx1"/>
                </a:solidFill>
              </a:rPr>
              <a:t>Gaussian blur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adding some blur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buFont typeface="Wingdings 3" charset="2"/>
              <a:buChar char="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905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4799-98AD-0EAB-2888-305092EB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augmentation results:</a:t>
            </a:r>
            <a:endParaRPr lang="ru-RU" dirty="0"/>
          </a:p>
        </p:txBody>
      </p:sp>
      <p:pic>
        <p:nvPicPr>
          <p:cNvPr id="3" name="Picture 2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44137CCF-DA32-7E02-0874-B66A33F7F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15" y="1152983"/>
            <a:ext cx="9381033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5298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F052D-7677-CFD3-85E2-415B60C9C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5967" y="1325880"/>
            <a:ext cx="4158334" cy="306650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>
                <a:solidFill>
                  <a:srgbClr val="EBEBEB"/>
                </a:solidFill>
              </a:rPr>
              <a:t>The final dataset structure used:</a:t>
            </a:r>
            <a:endParaRPr lang="ru-RU" sz="5400">
              <a:solidFill>
                <a:srgbClr val="EBEBEB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90E6F-D8A9-881B-0769-BDAD11DB5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5967" y="4588329"/>
            <a:ext cx="4158334" cy="1621508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>
                    <a:lumMod val="40000"/>
                    <a:lumOff val="60000"/>
                  </a:schemeClr>
                </a:solidFill>
              </a:rPr>
              <a:t>Train: 4200 pictures</a:t>
            </a:r>
          </a:p>
          <a:p>
            <a:r>
              <a:rPr lang="en-US" sz="1800">
                <a:solidFill>
                  <a:schemeClr val="tx2">
                    <a:lumMod val="40000"/>
                    <a:lumOff val="60000"/>
                  </a:schemeClr>
                </a:solidFill>
              </a:rPr>
              <a:t>Test: 720 pictures</a:t>
            </a:r>
          </a:p>
          <a:p>
            <a:r>
              <a:rPr lang="en-US" sz="1800">
                <a:solidFill>
                  <a:schemeClr val="tx2">
                    <a:lumMod val="40000"/>
                    <a:lumOff val="60000"/>
                  </a:schemeClr>
                </a:solidFill>
              </a:rPr>
              <a:t>Validation: 720 pictures</a:t>
            </a:r>
            <a:endParaRPr lang="ru-RU" sz="180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8B22DE2-C518-4F77-BE90-E1B6B190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68960" y="-68960"/>
            <a:ext cx="6858001" cy="6995918"/>
          </a:xfrm>
          <a:custGeom>
            <a:avLst/>
            <a:gdLst>
              <a:gd name="connsiteX0" fmla="*/ 6858001 w 6858001"/>
              <a:gd name="connsiteY0" fmla="*/ 1344715 h 6995918"/>
              <a:gd name="connsiteX1" fmla="*/ 6858001 w 6858001"/>
              <a:gd name="connsiteY1" fmla="*/ 1177 h 6995918"/>
              <a:gd name="connsiteX2" fmla="*/ 6702324 w 6858001"/>
              <a:gd name="connsiteY2" fmla="*/ 26222 h 6995918"/>
              <a:gd name="connsiteX3" fmla="*/ 6547333 w 6858001"/>
              <a:gd name="connsiteY3" fmla="*/ 50091 h 6995918"/>
              <a:gd name="connsiteX4" fmla="*/ 6391657 w 6858001"/>
              <a:gd name="connsiteY4" fmla="*/ 73455 h 6995918"/>
              <a:gd name="connsiteX5" fmla="*/ 6235294 w 6858001"/>
              <a:gd name="connsiteY5" fmla="*/ 93458 h 6995918"/>
              <a:gd name="connsiteX6" fmla="*/ 6079618 w 6858001"/>
              <a:gd name="connsiteY6" fmla="*/ 113629 h 6995918"/>
              <a:gd name="connsiteX7" fmla="*/ 5923255 w 6858001"/>
              <a:gd name="connsiteY7" fmla="*/ 132455 h 6995918"/>
              <a:gd name="connsiteX8" fmla="*/ 5768950 w 6858001"/>
              <a:gd name="connsiteY8" fmla="*/ 148591 h 6995918"/>
              <a:gd name="connsiteX9" fmla="*/ 5612588 w 6858001"/>
              <a:gd name="connsiteY9" fmla="*/ 163887 h 6995918"/>
              <a:gd name="connsiteX10" fmla="*/ 5456911 w 6858001"/>
              <a:gd name="connsiteY10" fmla="*/ 177839 h 6995918"/>
              <a:gd name="connsiteX11" fmla="*/ 5303978 w 6858001"/>
              <a:gd name="connsiteY11" fmla="*/ 189941 h 6995918"/>
              <a:gd name="connsiteX12" fmla="*/ 5148987 w 6858001"/>
              <a:gd name="connsiteY12" fmla="*/ 202044 h 6995918"/>
              <a:gd name="connsiteX13" fmla="*/ 4996054 w 6858001"/>
              <a:gd name="connsiteY13" fmla="*/ 212129 h 6995918"/>
              <a:gd name="connsiteX14" fmla="*/ 4843120 w 6858001"/>
              <a:gd name="connsiteY14" fmla="*/ 220029 h 6995918"/>
              <a:gd name="connsiteX15" fmla="*/ 4690873 w 6858001"/>
              <a:gd name="connsiteY15" fmla="*/ 228266 h 6995918"/>
              <a:gd name="connsiteX16" fmla="*/ 4539997 w 6858001"/>
              <a:gd name="connsiteY16" fmla="*/ 235157 h 6995918"/>
              <a:gd name="connsiteX17" fmla="*/ 4390492 w 6858001"/>
              <a:gd name="connsiteY17" fmla="*/ 240032 h 6995918"/>
              <a:gd name="connsiteX18" fmla="*/ 4240988 w 6858001"/>
              <a:gd name="connsiteY18" fmla="*/ 244234 h 6995918"/>
              <a:gd name="connsiteX19" fmla="*/ 4092855 w 6858001"/>
              <a:gd name="connsiteY19" fmla="*/ 248268 h 6995918"/>
              <a:gd name="connsiteX20" fmla="*/ 3946780 w 6858001"/>
              <a:gd name="connsiteY20" fmla="*/ 250117 h 6995918"/>
              <a:gd name="connsiteX21" fmla="*/ 3800704 w 6858001"/>
              <a:gd name="connsiteY21" fmla="*/ 252134 h 6995918"/>
              <a:gd name="connsiteX22" fmla="*/ 3656686 w 6858001"/>
              <a:gd name="connsiteY22" fmla="*/ 253143 h 6995918"/>
              <a:gd name="connsiteX23" fmla="*/ 3514040 w 6858001"/>
              <a:gd name="connsiteY23" fmla="*/ 252134 h 6995918"/>
              <a:gd name="connsiteX24" fmla="*/ 3372765 w 6858001"/>
              <a:gd name="connsiteY24" fmla="*/ 252134 h 6995918"/>
              <a:gd name="connsiteX25" fmla="*/ 3232862 w 6858001"/>
              <a:gd name="connsiteY25" fmla="*/ 250117 h 6995918"/>
              <a:gd name="connsiteX26" fmla="*/ 3095702 w 6858001"/>
              <a:gd name="connsiteY26" fmla="*/ 247092 h 6995918"/>
              <a:gd name="connsiteX27" fmla="*/ 2959914 w 6858001"/>
              <a:gd name="connsiteY27" fmla="*/ 244234 h 6995918"/>
              <a:gd name="connsiteX28" fmla="*/ 2826868 w 6858001"/>
              <a:gd name="connsiteY28" fmla="*/ 241040 h 6995918"/>
              <a:gd name="connsiteX29" fmla="*/ 2694509 w 6858001"/>
              <a:gd name="connsiteY29" fmla="*/ 236166 h 6995918"/>
              <a:gd name="connsiteX30" fmla="*/ 2564208 w 6858001"/>
              <a:gd name="connsiteY30" fmla="*/ 230955 h 6995918"/>
              <a:gd name="connsiteX31" fmla="*/ 2436649 w 6858001"/>
              <a:gd name="connsiteY31" fmla="*/ 226249 h 6995918"/>
              <a:gd name="connsiteX32" fmla="*/ 2187703 w 6858001"/>
              <a:gd name="connsiteY32" fmla="*/ 212969 h 6995918"/>
              <a:gd name="connsiteX33" fmla="*/ 1949045 w 6858001"/>
              <a:gd name="connsiteY33" fmla="*/ 198850 h 6995918"/>
              <a:gd name="connsiteX34" fmla="*/ 1719988 w 6858001"/>
              <a:gd name="connsiteY34" fmla="*/ 184058 h 6995918"/>
              <a:gd name="connsiteX35" fmla="*/ 1503275 w 6858001"/>
              <a:gd name="connsiteY35" fmla="*/ 167753 h 6995918"/>
              <a:gd name="connsiteX36" fmla="*/ 1296163 w 6858001"/>
              <a:gd name="connsiteY36" fmla="*/ 150776 h 6995918"/>
              <a:gd name="connsiteX37" fmla="*/ 1104139 w 6858001"/>
              <a:gd name="connsiteY37" fmla="*/ 132455 h 6995918"/>
              <a:gd name="connsiteX38" fmla="*/ 923774 w 6858001"/>
              <a:gd name="connsiteY38" fmla="*/ 114469 h 6995918"/>
              <a:gd name="connsiteX39" fmla="*/ 757810 w 6858001"/>
              <a:gd name="connsiteY39" fmla="*/ 96484 h 6995918"/>
              <a:gd name="connsiteX40" fmla="*/ 605563 w 6858001"/>
              <a:gd name="connsiteY40" fmla="*/ 79507 h 6995918"/>
              <a:gd name="connsiteX41" fmla="*/ 470460 w 6858001"/>
              <a:gd name="connsiteY41" fmla="*/ 63370 h 6995918"/>
              <a:gd name="connsiteX42" fmla="*/ 348388 w 6858001"/>
              <a:gd name="connsiteY42" fmla="*/ 48074 h 6995918"/>
              <a:gd name="connsiteX43" fmla="*/ 245518 w 6858001"/>
              <a:gd name="connsiteY43" fmla="*/ 35299 h 6995918"/>
              <a:gd name="connsiteX44" fmla="*/ 159107 w 6858001"/>
              <a:gd name="connsiteY44" fmla="*/ 23197 h 6995918"/>
              <a:gd name="connsiteX45" fmla="*/ 40463 w 6858001"/>
              <a:gd name="connsiteY45" fmla="*/ 5883 h 6995918"/>
              <a:gd name="connsiteX46" fmla="*/ 1 w 6858001"/>
              <a:gd name="connsiteY46" fmla="*/ 0 h 6995918"/>
              <a:gd name="connsiteX47" fmla="*/ 1 w 6858001"/>
              <a:gd name="connsiteY47" fmla="*/ 905354 h 6995918"/>
              <a:gd name="connsiteX48" fmla="*/ 0 w 6858001"/>
              <a:gd name="connsiteY48" fmla="*/ 905354 h 6995918"/>
              <a:gd name="connsiteX49" fmla="*/ 0 w 6858001"/>
              <a:gd name="connsiteY49" fmla="*/ 6995918 h 6995918"/>
              <a:gd name="connsiteX50" fmla="*/ 6858000 w 6858001"/>
              <a:gd name="connsiteY50" fmla="*/ 6995918 h 6995918"/>
              <a:gd name="connsiteX51" fmla="*/ 6858000 w 6858001"/>
              <a:gd name="connsiteY51" fmla="*/ 1344715 h 699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95918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5" name="Picture 4" descr="A pie chart with numbers and a number of data&#10;&#10;AI-generated content may be incorrect.">
            <a:extLst>
              <a:ext uri="{FF2B5EF4-FFF2-40B4-BE49-F238E27FC236}">
                <a16:creationId xmlns:a16="http://schemas.microsoft.com/office/drawing/2014/main" id="{97CEC63C-83A6-3F9F-1193-72DC43BF9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495" y="647698"/>
            <a:ext cx="5395274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79001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E9AE7-AEE5-C744-4BBA-C6B3DE3790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The scratch model characteristics </a:t>
            </a: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573A8-40BA-24D4-360B-25206E497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931" y="2548281"/>
            <a:ext cx="5122606" cy="365868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6 convolutional layers</a:t>
            </a:r>
          </a:p>
          <a:p>
            <a:pPr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Pooling+Batchnorm2d at the end of each layer </a:t>
            </a:r>
          </a:p>
          <a:p>
            <a:pPr>
              <a:buFont typeface="Wingdings 3" charset="2"/>
              <a:buChar char=""/>
            </a:pPr>
            <a:r>
              <a:rPr lang="en-US" dirty="0">
                <a:solidFill>
                  <a:schemeClr val="tx1"/>
                </a:solidFill>
              </a:rPr>
              <a:t>Fcnn with 4 main layers with batchnorm1d+dropout</a:t>
            </a:r>
          </a:p>
          <a:p>
            <a:pPr>
              <a:buFont typeface="Wingdings 3" charset="2"/>
              <a:buChar char="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diagram of a machine&#10;&#10;AI-generated content may be incorrect.">
            <a:extLst>
              <a:ext uri="{FF2B5EF4-FFF2-40B4-BE49-F238E27FC236}">
                <a16:creationId xmlns:a16="http://schemas.microsoft.com/office/drawing/2014/main" id="{834E9BBD-F1BB-E3A8-5793-5366E4F5B3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6" y="2559809"/>
            <a:ext cx="6420463" cy="418831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97301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8180-6BC0-BA6D-C1D4-C6964240B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8825658" cy="2191497"/>
          </a:xfrm>
        </p:spPr>
        <p:txBody>
          <a:bodyPr/>
          <a:lstStyle/>
          <a:p>
            <a:r>
              <a:rPr lang="en-US" dirty="0"/>
              <a:t>The training loop characteristics: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9B478-49FF-0EED-319E-6B9668604EFA}"/>
              </a:ext>
            </a:extLst>
          </p:cNvPr>
          <p:cNvSpPr txBox="1"/>
          <p:nvPr/>
        </p:nvSpPr>
        <p:spPr>
          <a:xfrm>
            <a:off x="-1" y="3783729"/>
            <a:ext cx="5191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Early stopping: Patience of 5 epochs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243AD-AB07-BFD8-32CC-00146A4DDC2B}"/>
              </a:ext>
            </a:extLst>
          </p:cNvPr>
          <p:cNvSpPr txBox="1"/>
          <p:nvPr/>
        </p:nvSpPr>
        <p:spPr>
          <a:xfrm>
            <a:off x="-101600" y="4654038"/>
            <a:ext cx="46113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Flexible learning rate schedule: </a:t>
            </a:r>
            <a:r>
              <a:rPr lang="en-US" sz="2400" dirty="0" err="1"/>
              <a:t>ReduceLRonPlateau</a:t>
            </a:r>
            <a:r>
              <a:rPr lang="en-US" sz="2400" dirty="0"/>
              <a:t> function with patience 2 , coefficient 0.5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5CAE0-AB30-1781-F11A-DB296364413F}"/>
              </a:ext>
            </a:extLst>
          </p:cNvPr>
          <p:cNvSpPr txBox="1"/>
          <p:nvPr/>
        </p:nvSpPr>
        <p:spPr>
          <a:xfrm>
            <a:off x="-1" y="3191935"/>
            <a:ext cx="4827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ADAM optimizer used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E97F6-B177-D267-215D-E563D9771D1B}"/>
              </a:ext>
            </a:extLst>
          </p:cNvPr>
          <p:cNvSpPr txBox="1"/>
          <p:nvPr/>
        </p:nvSpPr>
        <p:spPr>
          <a:xfrm>
            <a:off x="0" y="2230809"/>
            <a:ext cx="64453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 parameters with best validation gets saved automatically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11321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1EE9D-28D5-5EB1-33AF-9B3660F5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1378" y="81273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Training Results </a:t>
            </a:r>
            <a:endParaRPr lang="en-US" sz="5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1E981B-F06E-48B4-9275-F4B261AFC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5712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312E2C24-0CD2-4071-8CE2-B059993A9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24F1DC13-C830-4B86-A9C6-927F5C55D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370859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pic>
        <p:nvPicPr>
          <p:cNvPr id="6" name="Picture 5" descr="A graph of a graph and a graph of a graph">
            <a:extLst>
              <a:ext uri="{FF2B5EF4-FFF2-40B4-BE49-F238E27FC236}">
                <a16:creationId xmlns:a16="http://schemas.microsoft.com/office/drawing/2014/main" id="{C4EEF596-0742-448E-CFE4-B66E6636AD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110" y="1230273"/>
            <a:ext cx="9108030" cy="56896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09538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2A251-7AB5-03BF-E071-F381B0E9F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388" y="822903"/>
            <a:ext cx="8825658" cy="164089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Results in terms of peak validation percentage and the test set result:</a:t>
            </a:r>
            <a:endParaRPr lang="ru-RU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781C8-0A79-14D0-3500-CDD1300BF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88" y="2998290"/>
            <a:ext cx="8825658" cy="2114484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Validation peak: 86.5%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Result on test set: 84.72% accuracy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Inference about overfitting: slightly overfitted to the validation set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826772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C6B52-0C09-F0D1-08F0-AB05A60DB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3" y="1645920"/>
            <a:ext cx="3522879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600" b="0" i="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Results analysis: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C3728-2A60-953E-EAD3-6AE3DCABD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4109" y="1645920"/>
            <a:ext cx="6269434" cy="447082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sz="3200" dirty="0">
                <a:solidFill>
                  <a:schemeClr val="tx1"/>
                </a:solidFill>
              </a:rPr>
              <a:t>1) Per class accuracy</a:t>
            </a:r>
          </a:p>
          <a:p>
            <a:pPr>
              <a:buFont typeface="Wingdings 3" charset="2"/>
              <a:buChar char=""/>
            </a:pPr>
            <a:r>
              <a:rPr lang="en-US" sz="3200" dirty="0">
                <a:solidFill>
                  <a:schemeClr val="tx1"/>
                </a:solidFill>
              </a:rPr>
              <a:t>2) Confusion matrix</a:t>
            </a:r>
          </a:p>
          <a:p>
            <a:pPr>
              <a:buFont typeface="Wingdings 3" charset="2"/>
              <a:buChar char=""/>
            </a:pPr>
            <a:r>
              <a:rPr lang="en-US" sz="3200" dirty="0">
                <a:solidFill>
                  <a:schemeClr val="tx1"/>
                </a:solidFill>
              </a:rPr>
              <a:t>3) Confidence interval for the average            model accuracy</a:t>
            </a:r>
          </a:p>
          <a:p>
            <a:pPr>
              <a:buFont typeface="Wingdings 3" charset="2"/>
              <a:buChar char=""/>
            </a:pPr>
            <a:r>
              <a:rPr lang="en-US" sz="3200" dirty="0">
                <a:solidFill>
                  <a:schemeClr val="tx1"/>
                </a:solidFill>
              </a:rPr>
              <a:t>4) Confidence intervals for per class accuracies</a:t>
            </a:r>
          </a:p>
        </p:txBody>
      </p:sp>
    </p:spTree>
    <p:extLst>
      <p:ext uri="{BB962C8B-B14F-4D97-AF65-F5344CB8AC3E}">
        <p14:creationId xmlns:p14="http://schemas.microsoft.com/office/powerpoint/2010/main" val="397618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2E284-F397-1E5B-29D8-4FF361EE3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875" y="190859"/>
            <a:ext cx="8825658" cy="1028341"/>
          </a:xfrm>
        </p:spPr>
        <p:txBody>
          <a:bodyPr/>
          <a:lstStyle/>
          <a:p>
            <a:r>
              <a:rPr lang="en-US" dirty="0"/>
              <a:t>Per class accuracy:</a:t>
            </a:r>
            <a:endParaRPr lang="ru-RU" dirty="0"/>
          </a:p>
        </p:txBody>
      </p:sp>
      <p:pic>
        <p:nvPicPr>
          <p:cNvPr id="5" name="Picture 4" descr="A screenshot of a graph">
            <a:extLst>
              <a:ext uri="{FF2B5EF4-FFF2-40B4-BE49-F238E27FC236}">
                <a16:creationId xmlns:a16="http://schemas.microsoft.com/office/drawing/2014/main" id="{DBB4F59D-E3CC-4C64-AB83-72F379EEF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833" y="1333021"/>
            <a:ext cx="7545818" cy="552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F6A574-CCA1-B7B7-1011-B5B48FC466A0}"/>
              </a:ext>
            </a:extLst>
          </p:cNvPr>
          <p:cNvSpPr txBox="1"/>
          <p:nvPr/>
        </p:nvSpPr>
        <p:spPr>
          <a:xfrm>
            <a:off x="64349" y="1299358"/>
            <a:ext cx="44146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Per-Class Accuracy: </a:t>
            </a:r>
          </a:p>
          <a:p>
            <a:r>
              <a:rPr lang="en-US" dirty="0"/>
              <a:t>Flat_Tire : 96/120 -&gt; 80.00% </a:t>
            </a:r>
          </a:p>
          <a:p>
            <a:r>
              <a:rPr lang="en-US" dirty="0"/>
              <a:t>Glass Shatter : 101/120 -&gt; 84.17% Lamp Broken : 98/120 -&gt; 81.67% </a:t>
            </a:r>
          </a:p>
          <a:p>
            <a:r>
              <a:rPr lang="en-US" dirty="0"/>
              <a:t>No Damage : 106/120 -&gt; 88.33% Significant Damage: 106/120 -&gt; 88.33% </a:t>
            </a:r>
          </a:p>
          <a:p>
            <a:r>
              <a:rPr lang="en-US" dirty="0"/>
              <a:t>Surface Damage(Dents , Scratches): 103/120 -&gt; 85.83%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599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5E214-B0C9-3D81-C4FF-A70D9A422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6" y="1015265"/>
            <a:ext cx="333928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/>
              <a:t>Confusion matrix showing what class the model confused with incorrect another one:</a:t>
            </a:r>
          </a:p>
        </p:txBody>
      </p:sp>
      <p:pic>
        <p:nvPicPr>
          <p:cNvPr id="4" name="Picture 3" descr="A blue and white grid with black text&#10;&#10;AI-generated content may be incorrect.">
            <a:extLst>
              <a:ext uri="{FF2B5EF4-FFF2-40B4-BE49-F238E27FC236}">
                <a16:creationId xmlns:a16="http://schemas.microsoft.com/office/drawing/2014/main" id="{685CF1BE-C37A-046F-65F2-9B62746732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5" r="2" b="2"/>
          <a:stretch>
            <a:fillRect/>
          </a:stretch>
        </p:blipFill>
        <p:spPr>
          <a:xfrm>
            <a:off x="3241040" y="10"/>
            <a:ext cx="8950961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6004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C7492-F9F1-9BF6-F687-4DCD14643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000" dirty="0">
                <a:solidFill>
                  <a:srgbClr val="FFFFFF"/>
                </a:solidFill>
              </a:rPr>
              <a:t>I also tried training on residuals and combining the results, but model was not able to get any useful additional information</a:t>
            </a:r>
            <a:endParaRPr lang="ru-RU" sz="5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B09E4-C3C4-12AC-06AF-B585F1B33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505" y="4777380"/>
            <a:ext cx="10260990" cy="1209763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Result of the training:</a:t>
            </a:r>
          </a:p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Scratch Model Accuracy: 84.72% Combined Model Accuracy after Residual Training: 84.58% ⚠️ No improvement after residual training. Using original model predictions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378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48EBC-5B4F-B842-80AE-D135E75FC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304" y="543232"/>
            <a:ext cx="8825658" cy="3329581"/>
          </a:xfrm>
        </p:spPr>
        <p:txBody>
          <a:bodyPr/>
          <a:lstStyle/>
          <a:p>
            <a:r>
              <a:rPr lang="en-US" sz="4800" dirty="0"/>
              <a:t>In the next slides I’ll be discussing using bootstrap sampling and binomial distribution for approximating 95% confidence intervals</a:t>
            </a:r>
            <a:endParaRPr lang="ru-RU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F6878-178A-EF85-9FA3-60D127771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304" y="3961301"/>
            <a:ext cx="8825658" cy="2353467"/>
          </a:xfrm>
        </p:spPr>
        <p:txBody>
          <a:bodyPr>
            <a:normAutofit/>
          </a:bodyPr>
          <a:lstStyle/>
          <a:p>
            <a:r>
              <a:rPr lang="en-US" dirty="0"/>
              <a:t>Bootstrap sampling: used  for aggregated model accuracy</a:t>
            </a:r>
          </a:p>
          <a:p>
            <a:r>
              <a:rPr lang="en-US" dirty="0"/>
              <a:t>Binomial distribution: used for per class accuracies</a:t>
            </a:r>
          </a:p>
          <a:p>
            <a:r>
              <a:rPr lang="en-US" dirty="0"/>
              <a:t>Discussion of when those approaches are valid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6405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5BB76-2F8C-A251-727C-41F0B673D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Validity of Bootstrap Sampling for Confidence Interval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D0FF6-8BE0-700F-465C-48F3B341B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🔹 When Used: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To estimate confidence intervals for overall model accuracy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🔹 Why It's Valid: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Does not assume identical probability of success across examples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Captures variability through resampling with replacement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Approximates the empirical sampling distribution of accuracy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Works well even when class accuracies differ significantly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🔹 Why Binomial Doesn’t Work Here: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Accuracy varies by class → trials are not identically distributed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Violates binomial assumptions → bootstrap is a better choice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endParaRPr 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154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179A0-4306-A703-A5EB-46FB23CFD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Validity of Binomial Approximation (Per-Class Accuracy)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C45FC-36EB-7C3A-D7F4-D7D1C6B38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🔹 When Used: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To estimate confidence intervals for per-class accuracies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🔹 Why It's Valid: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Each class forms a set of i.i.d. Bernoulli trials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Constant probability of success within the same class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Allows modeling with binomial distribution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🔹 Normal Approximation Condition: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Valid if: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n⋅p≥5 &amp; n⋅(1−p)≥5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r>
              <a:rPr lang="en-US" sz="1900">
                <a:solidFill>
                  <a:schemeClr val="tx1"/>
                </a:solidFill>
              </a:rPr>
              <a:t>For n=120, this fails when there are fewer than 5 misclassifications</a:t>
            </a:r>
          </a:p>
          <a:p>
            <a:pPr>
              <a:lnSpc>
                <a:spcPct val="90000"/>
              </a:lnSpc>
              <a:buFont typeface="Wingdings 3" charset="2"/>
              <a:buChar char=""/>
            </a:pPr>
            <a:endParaRPr lang="en-US" sz="19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Font typeface="Wingdings 3" charset="2"/>
              <a:buChar char=""/>
            </a:pPr>
            <a:endParaRPr 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071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0807-EF54-9E25-A548-58C8478CF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0039"/>
            <a:ext cx="8825658" cy="3329581"/>
          </a:xfrm>
        </p:spPr>
        <p:txBody>
          <a:bodyPr/>
          <a:lstStyle/>
          <a:p>
            <a:r>
              <a:rPr lang="en-US" sz="4800" dirty="0"/>
              <a:t>Developing approximated 95% confidence interval for aggregated model accuracy using bootstrap sampling</a:t>
            </a:r>
            <a:endParaRPr lang="ru-RU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8FEA0-878C-0228-0D18-78176DF1B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95" y="3649620"/>
            <a:ext cx="8825658" cy="86142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</a:rPr>
              <a:t>100k bootstrap samples used</a:t>
            </a:r>
          </a:p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</a:rPr>
              <a:t>Results:</a:t>
            </a:r>
          </a:p>
          <a:p>
            <a:endParaRPr lang="en-US" dirty="0"/>
          </a:p>
          <a:p>
            <a:endParaRPr lang="ru-RU" dirty="0"/>
          </a:p>
        </p:txBody>
      </p:sp>
      <p:pic>
        <p:nvPicPr>
          <p:cNvPr id="5" name="Picture 4" descr="A black text with black text&#10;&#10;AI-generated content may be incorrect.">
            <a:extLst>
              <a:ext uri="{FF2B5EF4-FFF2-40B4-BE49-F238E27FC236}">
                <a16:creationId xmlns:a16="http://schemas.microsoft.com/office/drawing/2014/main" id="{95612764-EEBF-C566-8BE4-640B0E2BC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95" y="4716421"/>
            <a:ext cx="10214085" cy="20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9513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F3214F-7155-7C7F-4DD8-AC4C6F8C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How my bootstrap sampling distribution of model accuracy looks like</a:t>
            </a: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279F64F9-7E54-A1F2-1970-DD9A760DE2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13" y="751840"/>
            <a:ext cx="6799777" cy="534416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7437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0F6071B-48FA-4685-A9C9-A7B21E1C1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text with black numbers and a black text&#10;&#10;AI-generated content may be incorrect.">
            <a:extLst>
              <a:ext uri="{FF2B5EF4-FFF2-40B4-BE49-F238E27FC236}">
                <a16:creationId xmlns:a16="http://schemas.microsoft.com/office/drawing/2014/main" id="{3F0F0944-56E2-D14D-DEAF-1FA50BB41F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8" y="243840"/>
            <a:ext cx="11007902" cy="3444239"/>
          </a:xfrm>
          <a:prstGeom prst="rect">
            <a:avLst/>
          </a:prstGeom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C56044C-1580-4C45-8AA3-F2A07478B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1A8E3CE-561F-42BE-B6A2-FBE96F9A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3579207"/>
            <a:ext cx="12191696" cy="3278793"/>
          </a:xfrm>
          <a:custGeom>
            <a:avLst/>
            <a:gdLst>
              <a:gd name="connsiteX0" fmla="*/ 1 w 12191696"/>
              <a:gd name="connsiteY0" fmla="*/ 0 h 3278793"/>
              <a:gd name="connsiteX1" fmla="*/ 71932 w 12191696"/>
              <a:gd name="connsiteY1" fmla="*/ 12261 h 3278793"/>
              <a:gd name="connsiteX2" fmla="*/ 282849 w 12191696"/>
              <a:gd name="connsiteY2" fmla="*/ 48343 h 3278793"/>
              <a:gd name="connsiteX3" fmla="*/ 436464 w 12191696"/>
              <a:gd name="connsiteY3" fmla="*/ 73565 h 3278793"/>
              <a:gd name="connsiteX4" fmla="*/ 619339 w 12191696"/>
              <a:gd name="connsiteY4" fmla="*/ 100188 h 3278793"/>
              <a:gd name="connsiteX5" fmla="*/ 836351 w 12191696"/>
              <a:gd name="connsiteY5" fmla="*/ 132066 h 3278793"/>
              <a:gd name="connsiteX6" fmla="*/ 1076528 w 12191696"/>
              <a:gd name="connsiteY6" fmla="*/ 165696 h 3278793"/>
              <a:gd name="connsiteX7" fmla="*/ 1347183 w 12191696"/>
              <a:gd name="connsiteY7" fmla="*/ 201077 h 3278793"/>
              <a:gd name="connsiteX8" fmla="*/ 1642223 w 12191696"/>
              <a:gd name="connsiteY8" fmla="*/ 238560 h 3278793"/>
              <a:gd name="connsiteX9" fmla="*/ 1962864 w 12191696"/>
              <a:gd name="connsiteY9" fmla="*/ 276043 h 3278793"/>
              <a:gd name="connsiteX10" fmla="*/ 2304232 w 12191696"/>
              <a:gd name="connsiteY10" fmla="*/ 314227 h 3278793"/>
              <a:gd name="connsiteX11" fmla="*/ 2672421 w 12191696"/>
              <a:gd name="connsiteY11" fmla="*/ 349608 h 3278793"/>
              <a:gd name="connsiteX12" fmla="*/ 3057678 w 12191696"/>
              <a:gd name="connsiteY12" fmla="*/ 383588 h 3278793"/>
              <a:gd name="connsiteX13" fmla="*/ 3464881 w 12191696"/>
              <a:gd name="connsiteY13" fmla="*/ 414415 h 3278793"/>
              <a:gd name="connsiteX14" fmla="*/ 3889152 w 12191696"/>
              <a:gd name="connsiteY14" fmla="*/ 443841 h 3278793"/>
              <a:gd name="connsiteX15" fmla="*/ 4331710 w 12191696"/>
              <a:gd name="connsiteY15" fmla="*/ 471515 h 3278793"/>
              <a:gd name="connsiteX16" fmla="*/ 4558476 w 12191696"/>
              <a:gd name="connsiteY16" fmla="*/ 481324 h 3278793"/>
              <a:gd name="connsiteX17" fmla="*/ 4790118 w 12191696"/>
              <a:gd name="connsiteY17" fmla="*/ 492183 h 3278793"/>
              <a:gd name="connsiteX18" fmla="*/ 5025418 w 12191696"/>
              <a:gd name="connsiteY18" fmla="*/ 502342 h 3278793"/>
              <a:gd name="connsiteX19" fmla="*/ 5261937 w 12191696"/>
              <a:gd name="connsiteY19" fmla="*/ 508998 h 3278793"/>
              <a:gd name="connsiteX20" fmla="*/ 5503333 w 12191696"/>
              <a:gd name="connsiteY20" fmla="*/ 514953 h 3278793"/>
              <a:gd name="connsiteX21" fmla="*/ 5747166 w 12191696"/>
              <a:gd name="connsiteY21" fmla="*/ 521259 h 3278793"/>
              <a:gd name="connsiteX22" fmla="*/ 5995877 w 12191696"/>
              <a:gd name="connsiteY22" fmla="*/ 525463 h 3278793"/>
              <a:gd name="connsiteX23" fmla="*/ 6247026 w 12191696"/>
              <a:gd name="connsiteY23" fmla="*/ 525463 h 3278793"/>
              <a:gd name="connsiteX24" fmla="*/ 6500613 w 12191696"/>
              <a:gd name="connsiteY24" fmla="*/ 527565 h 3278793"/>
              <a:gd name="connsiteX25" fmla="*/ 6756639 w 12191696"/>
              <a:gd name="connsiteY25" fmla="*/ 525463 h 3278793"/>
              <a:gd name="connsiteX26" fmla="*/ 7016322 w 12191696"/>
              <a:gd name="connsiteY26" fmla="*/ 521259 h 3278793"/>
              <a:gd name="connsiteX27" fmla="*/ 7276005 w 12191696"/>
              <a:gd name="connsiteY27" fmla="*/ 517406 h 3278793"/>
              <a:gd name="connsiteX28" fmla="*/ 7539345 w 12191696"/>
              <a:gd name="connsiteY28" fmla="*/ 508998 h 3278793"/>
              <a:gd name="connsiteX29" fmla="*/ 7805124 w 12191696"/>
              <a:gd name="connsiteY29" fmla="*/ 500241 h 3278793"/>
              <a:gd name="connsiteX30" fmla="*/ 8070903 w 12191696"/>
              <a:gd name="connsiteY30" fmla="*/ 490082 h 3278793"/>
              <a:gd name="connsiteX31" fmla="*/ 8339121 w 12191696"/>
              <a:gd name="connsiteY31" fmla="*/ 475719 h 3278793"/>
              <a:gd name="connsiteX32" fmla="*/ 8609776 w 12191696"/>
              <a:gd name="connsiteY32" fmla="*/ 458554 h 3278793"/>
              <a:gd name="connsiteX33" fmla="*/ 8881651 w 12191696"/>
              <a:gd name="connsiteY33" fmla="*/ 442089 h 3278793"/>
              <a:gd name="connsiteX34" fmla="*/ 9153526 w 12191696"/>
              <a:gd name="connsiteY34" fmla="*/ 421071 h 3278793"/>
              <a:gd name="connsiteX35" fmla="*/ 9429058 w 12191696"/>
              <a:gd name="connsiteY35" fmla="*/ 395849 h 3278793"/>
              <a:gd name="connsiteX36" fmla="*/ 9700933 w 12191696"/>
              <a:gd name="connsiteY36" fmla="*/ 370626 h 3278793"/>
              <a:gd name="connsiteX37" fmla="*/ 9977684 w 12191696"/>
              <a:gd name="connsiteY37" fmla="*/ 341551 h 3278793"/>
              <a:gd name="connsiteX38" fmla="*/ 10255655 w 12191696"/>
              <a:gd name="connsiteY38" fmla="*/ 309673 h 3278793"/>
              <a:gd name="connsiteX39" fmla="*/ 10529968 w 12191696"/>
              <a:gd name="connsiteY39" fmla="*/ 276043 h 3278793"/>
              <a:gd name="connsiteX40" fmla="*/ 10807939 w 12191696"/>
              <a:gd name="connsiteY40" fmla="*/ 236809 h 3278793"/>
              <a:gd name="connsiteX41" fmla="*/ 11084690 w 12191696"/>
              <a:gd name="connsiteY41" fmla="*/ 194772 h 3278793"/>
              <a:gd name="connsiteX42" fmla="*/ 11362661 w 12191696"/>
              <a:gd name="connsiteY42" fmla="*/ 153085 h 3278793"/>
              <a:gd name="connsiteX43" fmla="*/ 11639412 w 12191696"/>
              <a:gd name="connsiteY43" fmla="*/ 104392 h 3278793"/>
              <a:gd name="connsiteX44" fmla="*/ 11914945 w 12191696"/>
              <a:gd name="connsiteY44" fmla="*/ 54648 h 3278793"/>
              <a:gd name="connsiteX45" fmla="*/ 12191696 w 12191696"/>
              <a:gd name="connsiteY45" fmla="*/ 2452 h 3278793"/>
              <a:gd name="connsiteX46" fmla="*/ 12191696 w 12191696"/>
              <a:gd name="connsiteY46" fmla="*/ 2802467 h 3278793"/>
              <a:gd name="connsiteX47" fmla="*/ 12191695 w 12191696"/>
              <a:gd name="connsiteY47" fmla="*/ 2802467 h 3278793"/>
              <a:gd name="connsiteX48" fmla="*/ 12191695 w 12191696"/>
              <a:gd name="connsiteY48" fmla="*/ 3278793 h 3278793"/>
              <a:gd name="connsiteX49" fmla="*/ 0 w 12191696"/>
              <a:gd name="connsiteY49" fmla="*/ 3278793 h 3278793"/>
              <a:gd name="connsiteX50" fmla="*/ 0 w 12191696"/>
              <a:gd name="connsiteY50" fmla="*/ 2134639 h 3278793"/>
              <a:gd name="connsiteX51" fmla="*/ 1 w 12191696"/>
              <a:gd name="connsiteY51" fmla="*/ 2134639 h 3278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27879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278793"/>
                </a:lnTo>
                <a:lnTo>
                  <a:pt x="0" y="3278793"/>
                </a:lnTo>
                <a:lnTo>
                  <a:pt x="0" y="2134639"/>
                </a:lnTo>
                <a:lnTo>
                  <a:pt x="1" y="2134639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CBA90-F37C-9329-B554-DAB833520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371849"/>
            <a:ext cx="9149350" cy="135052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95% confidence intervals for per class accuracies using binomial distribution.</a:t>
            </a:r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7DE548AA-7E1A-497C-8B79-C74F42ACF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40" y="3280011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912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9F954-DFB2-A876-C5EC-DF89F417A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454964"/>
            <a:ext cx="3339281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/>
              <a:t>Testing my model on some external unseen picture:</a:t>
            </a:r>
          </a:p>
        </p:txBody>
      </p:sp>
      <p:pic>
        <p:nvPicPr>
          <p:cNvPr id="4" name="Picture 3" descr="A car that has been crashed&#10;&#10;AI-generated content may be incorrect.">
            <a:extLst>
              <a:ext uri="{FF2B5EF4-FFF2-40B4-BE49-F238E27FC236}">
                <a16:creationId xmlns:a16="http://schemas.microsoft.com/office/drawing/2014/main" id="{4EA2CB5C-9453-2C52-76DA-0D3A74E009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716"/>
          <a:stretch>
            <a:fillRect/>
          </a:stretch>
        </p:blipFill>
        <p:spPr>
          <a:xfrm>
            <a:off x="4634683" y="10"/>
            <a:ext cx="7557318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FEFF673-A9DE-416D-A04E-1D5090454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43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29DB7-7C58-85F7-50E8-3B452D595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Now the final upgrade, using pretrained model Resnet50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FD9AF8F-CC55-C1BB-A3AA-FD82F48858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4273310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76021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AE4C-9338-0DB1-B566-B1DD7603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Pretrained model training results:</a:t>
            </a:r>
            <a:endParaRPr lang="ru-RU" dirty="0"/>
          </a:p>
        </p:txBody>
      </p:sp>
      <p:pic>
        <p:nvPicPr>
          <p:cNvPr id="6" name="Picture 5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49D63009-ECD0-D3AB-CDEE-65988B190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361440"/>
            <a:ext cx="10728960" cy="532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38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125C-47B4-D0BA-D570-EF29E8C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715" y="2204720"/>
            <a:ext cx="8825658" cy="1224280"/>
          </a:xfrm>
        </p:spPr>
        <p:txBody>
          <a:bodyPr/>
          <a:lstStyle/>
          <a:p>
            <a:r>
              <a:rPr lang="en-US" dirty="0"/>
              <a:t>Pretrained model Validation vs Test accuracy: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DBB09-8D84-7BF3-0958-49166BC52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715" y="3832500"/>
            <a:ext cx="8825658" cy="214158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Validation peak: 93.9%</a:t>
            </a:r>
          </a:p>
          <a:p>
            <a:r>
              <a:rPr lang="en-US" sz="2800" dirty="0">
                <a:solidFill>
                  <a:schemeClr val="tx1"/>
                </a:solidFill>
              </a:rPr>
              <a:t>Accuracy on the test set: 94.1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800862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3AA5-A483-6038-F574-CFDE2E07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4876367"/>
          </a:xfrm>
        </p:spPr>
        <p:txBody>
          <a:bodyPr/>
          <a:lstStyle/>
          <a:p>
            <a:r>
              <a:rPr lang="en-US" b="1" dirty="0"/>
              <a:t>Per class accuracies:</a:t>
            </a:r>
            <a:br>
              <a:rPr lang="en-US" dirty="0"/>
            </a:br>
            <a:r>
              <a:rPr lang="en-US" sz="3200" b="1" i="1" dirty="0"/>
              <a:t>Flat Tire : </a:t>
            </a:r>
            <a:r>
              <a:rPr lang="en-US" sz="3200" dirty="0"/>
              <a:t>112/120 -&gt; 93.33% </a:t>
            </a:r>
            <a:br>
              <a:rPr lang="en-US" sz="3200" dirty="0"/>
            </a:br>
            <a:r>
              <a:rPr lang="en-US" sz="3200" b="1" i="1" dirty="0"/>
              <a:t>Glass Shatter : </a:t>
            </a:r>
            <a:r>
              <a:rPr lang="en-US" sz="3200" dirty="0"/>
              <a:t>113/120 -&gt; 94.17% </a:t>
            </a:r>
            <a:br>
              <a:rPr lang="en-US" sz="3200" dirty="0"/>
            </a:br>
            <a:r>
              <a:rPr lang="en-US" sz="3200" b="1" i="1" dirty="0"/>
              <a:t>Lamp Broken : </a:t>
            </a:r>
            <a:r>
              <a:rPr lang="en-US" sz="3200" dirty="0"/>
              <a:t>113/120 -&gt; 94.17% </a:t>
            </a:r>
            <a:br>
              <a:rPr lang="en-US" sz="3200" dirty="0"/>
            </a:br>
            <a:r>
              <a:rPr lang="en-US" sz="3200" b="1" i="1" dirty="0"/>
              <a:t>No Damage : </a:t>
            </a:r>
            <a:r>
              <a:rPr lang="en-US" sz="3200" dirty="0"/>
              <a:t>116/120 -&gt; 96.67%   </a:t>
            </a:r>
            <a:r>
              <a:rPr lang="en-US" sz="3200" b="1" dirty="0">
                <a:solidFill>
                  <a:schemeClr val="tx2">
                    <a:lumMod val="10000"/>
                  </a:schemeClr>
                </a:solidFill>
              </a:rPr>
              <a:t>Note that it has more than 115/120 accuracy violating normality assumption in binomial conf. interval</a:t>
            </a:r>
            <a:br>
              <a:rPr lang="en-US" sz="3200" dirty="0"/>
            </a:br>
            <a:r>
              <a:rPr lang="en-US" sz="3200" b="1" i="1" dirty="0"/>
              <a:t>Significant Damage: </a:t>
            </a:r>
            <a:r>
              <a:rPr lang="en-US" sz="3200" dirty="0"/>
              <a:t>114/120 -&gt; 95.00% </a:t>
            </a:r>
            <a:br>
              <a:rPr lang="en-US" sz="3200" dirty="0"/>
            </a:br>
            <a:r>
              <a:rPr lang="en-US" sz="3200" b="1" i="1" dirty="0"/>
              <a:t>Surface Damage(Dents , Scratches): </a:t>
            </a:r>
            <a:r>
              <a:rPr lang="en-US" sz="3200" dirty="0"/>
              <a:t>109/120 -&gt; 90.83%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091912028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D0C2D-6A38-D8D0-BF1A-715A2A6E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Comparison of scratch model per class accuracy vs pretrained model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4" name="Picture 3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3729291B-0A3A-3AC4-B28E-A04A9EF14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0" y="1743"/>
            <a:ext cx="7544225" cy="641096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45221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8F2D6-79E2-0F58-3283-A96EC954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Let’s check the confusion matrix to see whether or not pretrained model still suffers from notable confusion.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4" name="Picture 3" descr="A screenshot of a computer screen">
            <a:extLst>
              <a:ext uri="{FF2B5EF4-FFF2-40B4-BE49-F238E27FC236}">
                <a16:creationId xmlns:a16="http://schemas.microsoft.com/office/drawing/2014/main" id="{A579E943-7885-0849-E31A-F381FE866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7544225" cy="6858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52701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FE26-361F-01BC-DBFA-D4A8F8D4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bootstrapped sampling to develop roughly approximated 95% confidence interval for the Resnet50 model: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5715E-E9A1-D548-9EB1-520931299187}"/>
              </a:ext>
            </a:extLst>
          </p:cNvPr>
          <p:cNvSpPr txBox="1"/>
          <p:nvPr/>
        </p:nvSpPr>
        <p:spPr>
          <a:xfrm>
            <a:off x="762000" y="3241040"/>
            <a:ext cx="843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100k bootstrapped samples used</a:t>
            </a:r>
          </a:p>
          <a:p>
            <a:r>
              <a:rPr lang="en-US" sz="2800" dirty="0"/>
              <a:t>Result:</a:t>
            </a:r>
            <a:endParaRPr lang="ru-RU" sz="2800" dirty="0"/>
          </a:p>
        </p:txBody>
      </p:sp>
      <p:pic>
        <p:nvPicPr>
          <p:cNvPr id="5" name="Picture 4" descr="A close up of words&#10;&#10;AI-generated content may be incorrect.">
            <a:extLst>
              <a:ext uri="{FF2B5EF4-FFF2-40B4-BE49-F238E27FC236}">
                <a16:creationId xmlns:a16="http://schemas.microsoft.com/office/drawing/2014/main" id="{5AAC725D-7D1C-0786-6E93-7672F61A0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195146"/>
            <a:ext cx="8544560" cy="209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1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9134821-5D8B-4373-BA74-CFE9AB35A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65195F-79F5-4911-907D-13CB3F534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8A610DC7-FE1B-47B9-8452-CFC389786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742ADC1-2286-40B7-A3C6-D6C3362FA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878FBDC-78F2-4D49-8DB3-1A48CA9F7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C9A0934-0C2C-4565-9290-A345B19BD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A109AF-B0E7-46FF-880E-3C8ADD57B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5068DCA-C5E1-4C5C-8F45-14D8E6688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6" name="Freeform 16">
            <a:extLst>
              <a:ext uri="{FF2B5EF4-FFF2-40B4-BE49-F238E27FC236}">
                <a16:creationId xmlns:a16="http://schemas.microsoft.com/office/drawing/2014/main" id="{EE4C3CD0-43BB-4FE5-A39C-9ABB0BAC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2835162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923918A-9F67-48CB-9A42-0E16A8493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70824"/>
            <a:ext cx="12191695" cy="1487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0" name="Freeform 5">
            <a:extLst>
              <a:ext uri="{FF2B5EF4-FFF2-40B4-BE49-F238E27FC236}">
                <a16:creationId xmlns:a16="http://schemas.microsoft.com/office/drawing/2014/main" id="{D1063EC9-752C-4FC1-8C0F-CFFB7BF7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3136999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5C001-DE2C-A4E0-0DA6-6078C597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61" y="4887273"/>
            <a:ext cx="9149350" cy="17933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Using binomial distribution for approximating 95% confidence interval for per class accuracies.</a:t>
            </a:r>
            <a:br>
              <a:rPr lang="en-US" sz="4000" dirty="0"/>
            </a:br>
            <a:r>
              <a:rPr lang="en-US" sz="4000" dirty="0"/>
              <a:t>Note that conf. interval for No damage is not valid as it violated normality assumption for binomial distribution.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121723A-DEEB-782A-D08C-90F8420839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8" y="0"/>
            <a:ext cx="11231422" cy="3136999"/>
          </a:xfrm>
          <a:prstGeom prst="rect">
            <a:avLst/>
          </a:prstGeom>
          <a:effectLst/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9E1D3D3-719B-C354-60B3-0D2C10FEDA35}"/>
              </a:ext>
            </a:extLst>
          </p:cNvPr>
          <p:cNvSpPr txBox="1"/>
          <p:nvPr/>
        </p:nvSpPr>
        <p:spPr>
          <a:xfrm>
            <a:off x="9441134" y="1671857"/>
            <a:ext cx="23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Not valid!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9572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9" name="Oval 58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3F4807A-5068-4492-8025-D75F320E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7813B-B5A6-05A7-F863-D03A294B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837" y="1325880"/>
            <a:ext cx="3543464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solidFill>
                  <a:srgbClr val="EBEBEB"/>
                </a:solidFill>
              </a:rPr>
              <a:t>Testing the pretrained model on the same picture as scratch was tested</a:t>
            </a:r>
          </a:p>
        </p:txBody>
      </p:sp>
      <p:sp>
        <p:nvSpPr>
          <p:cNvPr id="69" name="Freeform 36">
            <a:extLst>
              <a:ext uri="{FF2B5EF4-FFF2-40B4-BE49-F238E27FC236}">
                <a16:creationId xmlns:a16="http://schemas.microsoft.com/office/drawing/2014/main" id="{B24996F8-180C-4DCB-8A26-DFA336CDE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13666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 descr="A car that has been crashed">
            <a:extLst>
              <a:ext uri="{FF2B5EF4-FFF2-40B4-BE49-F238E27FC236}">
                <a16:creationId xmlns:a16="http://schemas.microsoft.com/office/drawing/2014/main" id="{6F2B61B8-D5AB-8FCB-9C9B-5FB1F9A45B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73" b="-2"/>
          <a:stretch>
            <a:fillRect/>
          </a:stretch>
        </p:blipFill>
        <p:spPr>
          <a:xfrm>
            <a:off x="20" y="10"/>
            <a:ext cx="7759920" cy="6857991"/>
          </a:xfrm>
          <a:custGeom>
            <a:avLst/>
            <a:gdLst/>
            <a:ahLst/>
            <a:cxnLst/>
            <a:rect l="l" t="t" r="r" b="b"/>
            <a:pathLst>
              <a:path w="7759940" h="6858001">
                <a:moveTo>
                  <a:pt x="0" y="0"/>
                </a:moveTo>
                <a:lnTo>
                  <a:pt x="1296537" y="0"/>
                </a:lnTo>
                <a:lnTo>
                  <a:pt x="1296537" y="1"/>
                </a:lnTo>
                <a:lnTo>
                  <a:pt x="6415225" y="1"/>
                </a:lnTo>
                <a:lnTo>
                  <a:pt x="6415225" y="0"/>
                </a:lnTo>
                <a:lnTo>
                  <a:pt x="7758763" y="0"/>
                </a:lnTo>
                <a:lnTo>
                  <a:pt x="7733718" y="155677"/>
                </a:lnTo>
                <a:lnTo>
                  <a:pt x="7709849" y="310668"/>
                </a:lnTo>
                <a:lnTo>
                  <a:pt x="7686485" y="466344"/>
                </a:lnTo>
                <a:lnTo>
                  <a:pt x="7666482" y="622707"/>
                </a:lnTo>
                <a:lnTo>
                  <a:pt x="7646311" y="778383"/>
                </a:lnTo>
                <a:lnTo>
                  <a:pt x="7627485" y="934746"/>
                </a:lnTo>
                <a:lnTo>
                  <a:pt x="7611349" y="1089051"/>
                </a:lnTo>
                <a:lnTo>
                  <a:pt x="7596053" y="1245413"/>
                </a:lnTo>
                <a:lnTo>
                  <a:pt x="7582101" y="1401090"/>
                </a:lnTo>
                <a:lnTo>
                  <a:pt x="7569999" y="1554023"/>
                </a:lnTo>
                <a:lnTo>
                  <a:pt x="7557896" y="1709014"/>
                </a:lnTo>
                <a:lnTo>
                  <a:pt x="7547811" y="1861947"/>
                </a:lnTo>
                <a:lnTo>
                  <a:pt x="7539911" y="2014881"/>
                </a:lnTo>
                <a:lnTo>
                  <a:pt x="7531674" y="2167128"/>
                </a:lnTo>
                <a:lnTo>
                  <a:pt x="7524783" y="2318004"/>
                </a:lnTo>
                <a:lnTo>
                  <a:pt x="7519908" y="2467509"/>
                </a:lnTo>
                <a:lnTo>
                  <a:pt x="7515706" y="2617013"/>
                </a:lnTo>
                <a:lnTo>
                  <a:pt x="7511672" y="2765146"/>
                </a:lnTo>
                <a:lnTo>
                  <a:pt x="7509823" y="2911221"/>
                </a:lnTo>
                <a:lnTo>
                  <a:pt x="7507806" y="3057297"/>
                </a:lnTo>
                <a:lnTo>
                  <a:pt x="7506797" y="3201315"/>
                </a:lnTo>
                <a:lnTo>
                  <a:pt x="7507806" y="3343961"/>
                </a:lnTo>
                <a:lnTo>
                  <a:pt x="7507806" y="3485236"/>
                </a:lnTo>
                <a:lnTo>
                  <a:pt x="7509823" y="3625139"/>
                </a:lnTo>
                <a:lnTo>
                  <a:pt x="7512848" y="3762299"/>
                </a:lnTo>
                <a:lnTo>
                  <a:pt x="7515706" y="3898087"/>
                </a:lnTo>
                <a:lnTo>
                  <a:pt x="7518900" y="4031133"/>
                </a:lnTo>
                <a:lnTo>
                  <a:pt x="7523774" y="4163492"/>
                </a:lnTo>
                <a:lnTo>
                  <a:pt x="7528985" y="4293793"/>
                </a:lnTo>
                <a:lnTo>
                  <a:pt x="7533691" y="4421352"/>
                </a:lnTo>
                <a:lnTo>
                  <a:pt x="7546971" y="4670298"/>
                </a:lnTo>
                <a:lnTo>
                  <a:pt x="7561090" y="4908956"/>
                </a:lnTo>
                <a:lnTo>
                  <a:pt x="7575882" y="5138013"/>
                </a:lnTo>
                <a:lnTo>
                  <a:pt x="7592187" y="5354726"/>
                </a:lnTo>
                <a:lnTo>
                  <a:pt x="7609164" y="5561838"/>
                </a:lnTo>
                <a:lnTo>
                  <a:pt x="7627485" y="5753862"/>
                </a:lnTo>
                <a:lnTo>
                  <a:pt x="7645471" y="5934227"/>
                </a:lnTo>
                <a:lnTo>
                  <a:pt x="7663456" y="6100191"/>
                </a:lnTo>
                <a:lnTo>
                  <a:pt x="7680433" y="6252438"/>
                </a:lnTo>
                <a:lnTo>
                  <a:pt x="7696570" y="6387541"/>
                </a:lnTo>
                <a:lnTo>
                  <a:pt x="7711866" y="6509613"/>
                </a:lnTo>
                <a:lnTo>
                  <a:pt x="7724641" y="6612483"/>
                </a:lnTo>
                <a:lnTo>
                  <a:pt x="7736743" y="6698894"/>
                </a:lnTo>
                <a:lnTo>
                  <a:pt x="7754057" y="6817538"/>
                </a:lnTo>
                <a:lnTo>
                  <a:pt x="7759940" y="6858000"/>
                </a:lnTo>
                <a:lnTo>
                  <a:pt x="6854586" y="6858000"/>
                </a:lnTo>
                <a:lnTo>
                  <a:pt x="6854586" y="6858001"/>
                </a:lnTo>
                <a:lnTo>
                  <a:pt x="764022" y="6858001"/>
                </a:lnTo>
                <a:lnTo>
                  <a:pt x="76402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630182B0-3559-41D5-9EBC-0BD86BEDA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531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E92A8BB-07B9-40DB-984F-2CB1A253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DDB745-6C26-4B79-9EF2-08E3E4AB9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80B3FE6C-0A59-4114-88CB-3C3172D6A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2835162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6010A-48AD-7D35-4EBE-D5F881F0A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-5"/>
            <a:ext cx="12191694" cy="4185925"/>
          </a:xfrm>
          <a:prstGeom prst="rect">
            <a:avLst/>
          </a:prstGeom>
          <a:effectLst/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DA3A238-516A-4076-B3C2-230D913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36999"/>
            <a:ext cx="12191696" cy="3721001"/>
          </a:xfrm>
          <a:custGeom>
            <a:avLst/>
            <a:gdLst>
              <a:gd name="connsiteX0" fmla="*/ 1 w 12191696"/>
              <a:gd name="connsiteY0" fmla="*/ 0 h 3721001"/>
              <a:gd name="connsiteX1" fmla="*/ 71932 w 12191696"/>
              <a:gd name="connsiteY1" fmla="*/ 12261 h 3721001"/>
              <a:gd name="connsiteX2" fmla="*/ 282849 w 12191696"/>
              <a:gd name="connsiteY2" fmla="*/ 48342 h 3721001"/>
              <a:gd name="connsiteX3" fmla="*/ 436464 w 12191696"/>
              <a:gd name="connsiteY3" fmla="*/ 73565 h 3721001"/>
              <a:gd name="connsiteX4" fmla="*/ 619339 w 12191696"/>
              <a:gd name="connsiteY4" fmla="*/ 100188 h 3721001"/>
              <a:gd name="connsiteX5" fmla="*/ 836351 w 12191696"/>
              <a:gd name="connsiteY5" fmla="*/ 132066 h 3721001"/>
              <a:gd name="connsiteX6" fmla="*/ 1076528 w 12191696"/>
              <a:gd name="connsiteY6" fmla="*/ 165696 h 3721001"/>
              <a:gd name="connsiteX7" fmla="*/ 1347183 w 12191696"/>
              <a:gd name="connsiteY7" fmla="*/ 201077 h 3721001"/>
              <a:gd name="connsiteX8" fmla="*/ 1642223 w 12191696"/>
              <a:gd name="connsiteY8" fmla="*/ 238560 h 3721001"/>
              <a:gd name="connsiteX9" fmla="*/ 1962864 w 12191696"/>
              <a:gd name="connsiteY9" fmla="*/ 276043 h 3721001"/>
              <a:gd name="connsiteX10" fmla="*/ 2304232 w 12191696"/>
              <a:gd name="connsiteY10" fmla="*/ 314226 h 3721001"/>
              <a:gd name="connsiteX11" fmla="*/ 2672421 w 12191696"/>
              <a:gd name="connsiteY11" fmla="*/ 349608 h 3721001"/>
              <a:gd name="connsiteX12" fmla="*/ 3057678 w 12191696"/>
              <a:gd name="connsiteY12" fmla="*/ 383588 h 3721001"/>
              <a:gd name="connsiteX13" fmla="*/ 3464881 w 12191696"/>
              <a:gd name="connsiteY13" fmla="*/ 414415 h 3721001"/>
              <a:gd name="connsiteX14" fmla="*/ 3889152 w 12191696"/>
              <a:gd name="connsiteY14" fmla="*/ 443841 h 3721001"/>
              <a:gd name="connsiteX15" fmla="*/ 4331710 w 12191696"/>
              <a:gd name="connsiteY15" fmla="*/ 471515 h 3721001"/>
              <a:gd name="connsiteX16" fmla="*/ 4558476 w 12191696"/>
              <a:gd name="connsiteY16" fmla="*/ 481324 h 3721001"/>
              <a:gd name="connsiteX17" fmla="*/ 4790118 w 12191696"/>
              <a:gd name="connsiteY17" fmla="*/ 492183 h 3721001"/>
              <a:gd name="connsiteX18" fmla="*/ 5025418 w 12191696"/>
              <a:gd name="connsiteY18" fmla="*/ 502342 h 3721001"/>
              <a:gd name="connsiteX19" fmla="*/ 5261937 w 12191696"/>
              <a:gd name="connsiteY19" fmla="*/ 508998 h 3721001"/>
              <a:gd name="connsiteX20" fmla="*/ 5503333 w 12191696"/>
              <a:gd name="connsiteY20" fmla="*/ 514953 h 3721001"/>
              <a:gd name="connsiteX21" fmla="*/ 5747166 w 12191696"/>
              <a:gd name="connsiteY21" fmla="*/ 521259 h 3721001"/>
              <a:gd name="connsiteX22" fmla="*/ 5995877 w 12191696"/>
              <a:gd name="connsiteY22" fmla="*/ 525462 h 3721001"/>
              <a:gd name="connsiteX23" fmla="*/ 6247026 w 12191696"/>
              <a:gd name="connsiteY23" fmla="*/ 525462 h 3721001"/>
              <a:gd name="connsiteX24" fmla="*/ 6500613 w 12191696"/>
              <a:gd name="connsiteY24" fmla="*/ 527564 h 3721001"/>
              <a:gd name="connsiteX25" fmla="*/ 6756639 w 12191696"/>
              <a:gd name="connsiteY25" fmla="*/ 525462 h 3721001"/>
              <a:gd name="connsiteX26" fmla="*/ 7016322 w 12191696"/>
              <a:gd name="connsiteY26" fmla="*/ 521259 h 3721001"/>
              <a:gd name="connsiteX27" fmla="*/ 7276005 w 12191696"/>
              <a:gd name="connsiteY27" fmla="*/ 517405 h 3721001"/>
              <a:gd name="connsiteX28" fmla="*/ 7539345 w 12191696"/>
              <a:gd name="connsiteY28" fmla="*/ 508998 h 3721001"/>
              <a:gd name="connsiteX29" fmla="*/ 7805124 w 12191696"/>
              <a:gd name="connsiteY29" fmla="*/ 500240 h 3721001"/>
              <a:gd name="connsiteX30" fmla="*/ 8070903 w 12191696"/>
              <a:gd name="connsiteY30" fmla="*/ 490081 h 3721001"/>
              <a:gd name="connsiteX31" fmla="*/ 8339121 w 12191696"/>
              <a:gd name="connsiteY31" fmla="*/ 475719 h 3721001"/>
              <a:gd name="connsiteX32" fmla="*/ 8609776 w 12191696"/>
              <a:gd name="connsiteY32" fmla="*/ 458554 h 3721001"/>
              <a:gd name="connsiteX33" fmla="*/ 8881651 w 12191696"/>
              <a:gd name="connsiteY33" fmla="*/ 442089 h 3721001"/>
              <a:gd name="connsiteX34" fmla="*/ 9153526 w 12191696"/>
              <a:gd name="connsiteY34" fmla="*/ 421071 h 3721001"/>
              <a:gd name="connsiteX35" fmla="*/ 9429058 w 12191696"/>
              <a:gd name="connsiteY35" fmla="*/ 395848 h 3721001"/>
              <a:gd name="connsiteX36" fmla="*/ 9700933 w 12191696"/>
              <a:gd name="connsiteY36" fmla="*/ 370626 h 3721001"/>
              <a:gd name="connsiteX37" fmla="*/ 9977684 w 12191696"/>
              <a:gd name="connsiteY37" fmla="*/ 341551 h 3721001"/>
              <a:gd name="connsiteX38" fmla="*/ 10255655 w 12191696"/>
              <a:gd name="connsiteY38" fmla="*/ 309672 h 3721001"/>
              <a:gd name="connsiteX39" fmla="*/ 10529968 w 12191696"/>
              <a:gd name="connsiteY39" fmla="*/ 276043 h 3721001"/>
              <a:gd name="connsiteX40" fmla="*/ 10807939 w 12191696"/>
              <a:gd name="connsiteY40" fmla="*/ 236808 h 3721001"/>
              <a:gd name="connsiteX41" fmla="*/ 11084690 w 12191696"/>
              <a:gd name="connsiteY41" fmla="*/ 194771 h 3721001"/>
              <a:gd name="connsiteX42" fmla="*/ 11362661 w 12191696"/>
              <a:gd name="connsiteY42" fmla="*/ 153085 h 3721001"/>
              <a:gd name="connsiteX43" fmla="*/ 11639412 w 12191696"/>
              <a:gd name="connsiteY43" fmla="*/ 104392 h 3721001"/>
              <a:gd name="connsiteX44" fmla="*/ 11914945 w 12191696"/>
              <a:gd name="connsiteY44" fmla="*/ 54648 h 3721001"/>
              <a:gd name="connsiteX45" fmla="*/ 12191696 w 12191696"/>
              <a:gd name="connsiteY45" fmla="*/ 2452 h 3721001"/>
              <a:gd name="connsiteX46" fmla="*/ 12191696 w 12191696"/>
              <a:gd name="connsiteY46" fmla="*/ 2802467 h 3721001"/>
              <a:gd name="connsiteX47" fmla="*/ 12191695 w 12191696"/>
              <a:gd name="connsiteY47" fmla="*/ 2802467 h 3721001"/>
              <a:gd name="connsiteX48" fmla="*/ 12191695 w 12191696"/>
              <a:gd name="connsiteY48" fmla="*/ 3721001 h 3721001"/>
              <a:gd name="connsiteX49" fmla="*/ 0 w 12191696"/>
              <a:gd name="connsiteY49" fmla="*/ 3721001 h 3721001"/>
              <a:gd name="connsiteX50" fmla="*/ 0 w 12191696"/>
              <a:gd name="connsiteY50" fmla="*/ 2233825 h 3721001"/>
              <a:gd name="connsiteX51" fmla="*/ 1 w 12191696"/>
              <a:gd name="connsiteY51" fmla="*/ 2233825 h 3721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721001">
                <a:moveTo>
                  <a:pt x="1" y="0"/>
                </a:moveTo>
                <a:lnTo>
                  <a:pt x="71932" y="12261"/>
                </a:lnTo>
                <a:lnTo>
                  <a:pt x="282849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721001"/>
                </a:lnTo>
                <a:lnTo>
                  <a:pt x="0" y="3721001"/>
                </a:lnTo>
                <a:lnTo>
                  <a:pt x="0" y="2233825"/>
                </a:lnTo>
                <a:lnTo>
                  <a:pt x="1" y="22338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9A5EE9-62D9-B7A4-E5B5-1234BD783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5" y="3928983"/>
            <a:ext cx="9182945" cy="1793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Comparison of scratch vs pretrained model results.</a:t>
            </a:r>
          </a:p>
        </p:txBody>
      </p:sp>
    </p:spTree>
    <p:extLst>
      <p:ext uri="{BB962C8B-B14F-4D97-AF65-F5344CB8AC3E}">
        <p14:creationId xmlns:p14="http://schemas.microsoft.com/office/powerpoint/2010/main" val="1820457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8919-0FD5-CED2-9B55-83FADFDB8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396240"/>
            <a:ext cx="8825658" cy="1251861"/>
          </a:xfrm>
        </p:spPr>
        <p:txBody>
          <a:bodyPr/>
          <a:lstStyle/>
          <a:p>
            <a:r>
              <a:rPr lang="en-US" sz="5400" dirty="0"/>
              <a:t>Potential improvements if data was available :</a:t>
            </a:r>
            <a:endParaRPr lang="ru-RU" sz="5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BA729-1A25-EBAC-FA5C-E9BC7215FF69}"/>
              </a:ext>
            </a:extLst>
          </p:cNvPr>
          <p:cNvSpPr txBox="1"/>
          <p:nvPr/>
        </p:nvSpPr>
        <p:spPr>
          <a:xfrm>
            <a:off x="973394" y="1809135"/>
            <a:ext cx="90072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rgbClr val="FF0000"/>
                </a:solidFill>
              </a:rPr>
              <a:t>I would </a:t>
            </a:r>
            <a:r>
              <a:rPr lang="en-US" sz="2800" dirty="0"/>
              <a:t>add missing parts classes</a:t>
            </a:r>
          </a:p>
          <a:p>
            <a:r>
              <a:rPr lang="en-US" sz="2800" i="1" dirty="0">
                <a:solidFill>
                  <a:srgbClr val="FF0000"/>
                </a:solidFill>
              </a:rPr>
              <a:t>I would </a:t>
            </a:r>
            <a:r>
              <a:rPr lang="en-US" sz="2800" dirty="0"/>
              <a:t>also add interior damage assessment related classes</a:t>
            </a:r>
          </a:p>
          <a:p>
            <a:r>
              <a:rPr lang="en-US" sz="2800" i="1" dirty="0">
                <a:solidFill>
                  <a:srgbClr val="FF0000"/>
                </a:solidFill>
              </a:rPr>
              <a:t>I would </a:t>
            </a:r>
            <a:r>
              <a:rPr lang="en-US" sz="2800" dirty="0"/>
              <a:t>increase number of pictures in the train set to boost the accuracy of both scratch and pretrained models</a:t>
            </a:r>
          </a:p>
          <a:p>
            <a:r>
              <a:rPr lang="en-US" sz="2800" i="1" dirty="0">
                <a:solidFill>
                  <a:srgbClr val="FF0000"/>
                </a:solidFill>
              </a:rPr>
              <a:t>I would </a:t>
            </a:r>
            <a:r>
              <a:rPr lang="en-US" sz="2800" dirty="0"/>
              <a:t>increase number of pictures in the train and validation sets too to make inferences that are statistically stronger, while maintaining balance of the Validation and Test in each class.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66293903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537F-A61E-196E-5D8A-79D1AB5AA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807" y="99419"/>
            <a:ext cx="8825658" cy="3329581"/>
          </a:xfrm>
        </p:spPr>
        <p:txBody>
          <a:bodyPr/>
          <a:lstStyle/>
          <a:p>
            <a:r>
              <a:rPr lang="en-US" b="1" dirty="0"/>
              <a:t>Thank you for your attention!</a:t>
            </a:r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4DC47-61E8-6780-6FA5-5448E0CEC5BB}"/>
              </a:ext>
            </a:extLst>
          </p:cNvPr>
          <p:cNvSpPr txBox="1"/>
          <p:nvPr/>
        </p:nvSpPr>
        <p:spPr>
          <a:xfrm>
            <a:off x="1076297" y="3618271"/>
            <a:ext cx="5348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Any questions?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707344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5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6.xml><?xml version="1.0" encoding="utf-8"?>
<a:theme xmlns:a="http://schemas.openxmlformats.org/drawingml/2006/main" name="2_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7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8.xml><?xml version="1.0" encoding="utf-8"?>
<a:theme xmlns:a="http://schemas.openxmlformats.org/drawingml/2006/main" name="3_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9.xml><?xml version="1.0" encoding="utf-8"?>
<a:theme xmlns:a="http://schemas.openxmlformats.org/drawingml/2006/main" name="4_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10.xml><?xml version="1.0" encoding="utf-8"?>
<a:theme xmlns:a="http://schemas.openxmlformats.org/drawingml/2006/main" name="5_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Override1.xml><?xml version="1.0" encoding="utf-8"?>
<a:themeOverride xmlns:a="http://schemas.openxmlformats.org/drawingml/2006/main">
  <a:clrScheme name="Red">
    <a:dk1>
      <a:sysClr val="windowText" lastClr="000000"/>
    </a:dk1>
    <a:lt1>
      <a:sysClr val="window" lastClr="FFFFFF"/>
    </a:lt1>
    <a:dk2>
      <a:srgbClr val="323232"/>
    </a:dk2>
    <a:lt2>
      <a:srgbClr val="E5C243"/>
    </a:lt2>
    <a:accent1>
      <a:srgbClr val="A5300F"/>
    </a:accent1>
    <a:accent2>
      <a:srgbClr val="D55816"/>
    </a:accent2>
    <a:accent3>
      <a:srgbClr val="E19825"/>
    </a:accent3>
    <a:accent4>
      <a:srgbClr val="B19C7D"/>
    </a:accent4>
    <a:accent5>
      <a:srgbClr val="7F5F52"/>
    </a:accent5>
    <a:accent6>
      <a:srgbClr val="B27D49"/>
    </a:accent6>
    <a:hlink>
      <a:srgbClr val="6B9F25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Red">
    <a:dk1>
      <a:sysClr val="windowText" lastClr="000000"/>
    </a:dk1>
    <a:lt1>
      <a:sysClr val="window" lastClr="FFFFFF"/>
    </a:lt1>
    <a:dk2>
      <a:srgbClr val="323232"/>
    </a:dk2>
    <a:lt2>
      <a:srgbClr val="E5C243"/>
    </a:lt2>
    <a:accent1>
      <a:srgbClr val="A5300F"/>
    </a:accent1>
    <a:accent2>
      <a:srgbClr val="D55816"/>
    </a:accent2>
    <a:accent3>
      <a:srgbClr val="E19825"/>
    </a:accent3>
    <a:accent4>
      <a:srgbClr val="B19C7D"/>
    </a:accent4>
    <a:accent5>
      <a:srgbClr val="7F5F52"/>
    </a:accent5>
    <a:accent6>
      <a:srgbClr val="B27D49"/>
    </a:accent6>
    <a:hlink>
      <a:srgbClr val="6B9F25"/>
    </a:hlink>
    <a:folHlink>
      <a:srgbClr val="B26B02"/>
    </a:folHlink>
  </a:clrScheme>
</a:themeOverride>
</file>

<file path=ppt/theme/themeOverride4.xml><?xml version="1.0" encoding="utf-8"?>
<a:themeOverride xmlns:a="http://schemas.openxmlformats.org/drawingml/2006/main">
  <a:clrScheme name="Orange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363</TotalTime>
  <Words>1072</Words>
  <Application>Microsoft Office PowerPoint</Application>
  <PresentationFormat>Widescreen</PresentationFormat>
  <Paragraphs>119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36</vt:i4>
      </vt:variant>
    </vt:vector>
  </HeadingPairs>
  <TitlesOfParts>
    <vt:vector size="54" baseType="lpstr">
      <vt:lpstr>Algerian</vt:lpstr>
      <vt:lpstr>Arial</vt:lpstr>
      <vt:lpstr>Calisto MT</vt:lpstr>
      <vt:lpstr>Century Gothic</vt:lpstr>
      <vt:lpstr>Gill Sans MT</vt:lpstr>
      <vt:lpstr>Trebuchet MS</vt:lpstr>
      <vt:lpstr>Univers Condensed</vt:lpstr>
      <vt:lpstr>Wingdings 3</vt:lpstr>
      <vt:lpstr>ChronicleVTI</vt:lpstr>
      <vt:lpstr>Gallery</vt:lpstr>
      <vt:lpstr>Ion</vt:lpstr>
      <vt:lpstr>1_Gallery</vt:lpstr>
      <vt:lpstr>1_Ion</vt:lpstr>
      <vt:lpstr>2_Ion</vt:lpstr>
      <vt:lpstr>Facet</vt:lpstr>
      <vt:lpstr>3_Ion</vt:lpstr>
      <vt:lpstr>4_Ion</vt:lpstr>
      <vt:lpstr>5_Ion</vt:lpstr>
      <vt:lpstr>Car Damage Classification For insurance verification</vt:lpstr>
      <vt:lpstr>Introduction &amp; Motivation</vt:lpstr>
      <vt:lpstr>Datasets OvervieW &amp; Preprocessing:</vt:lpstr>
      <vt:lpstr>Initial raw dataset imbalance visualization:</vt:lpstr>
      <vt:lpstr>Initial dataset distribution after cleaning from duplicates and similar redundant pictures:</vt:lpstr>
      <vt:lpstr>Then I separated dataset manually into Train, Validation and test parts. </vt:lpstr>
      <vt:lpstr>Augmentations used on train set to upscale remaining pictures to 700 per class: </vt:lpstr>
      <vt:lpstr>Data augmentation results:</vt:lpstr>
      <vt:lpstr>The final dataset structure used:</vt:lpstr>
      <vt:lpstr>The scratch model characteristics </vt:lpstr>
      <vt:lpstr>The training loop characteristics:</vt:lpstr>
      <vt:lpstr>Training Results </vt:lpstr>
      <vt:lpstr>Results in terms of peak validation percentage and the test set result:</vt:lpstr>
      <vt:lpstr>Results analysis:</vt:lpstr>
      <vt:lpstr>Per class accuracy:</vt:lpstr>
      <vt:lpstr>Confusion matrix showing what class the model confused with incorrect another one:</vt:lpstr>
      <vt:lpstr>I also tried training on residuals and combining the results, but model was not able to get any useful additional information</vt:lpstr>
      <vt:lpstr>In the next slides I’ll be discussing using bootstrap sampling and binomial distribution for approximating 95% confidence intervals</vt:lpstr>
      <vt:lpstr>Validity of Bootstrap Sampling for Confidence Interval</vt:lpstr>
      <vt:lpstr>Validity of Binomial Approximation (Per-Class Accuracy)</vt:lpstr>
      <vt:lpstr>Developing approximated 95% confidence interval for aggregated model accuracy using bootstrap sampling</vt:lpstr>
      <vt:lpstr>How my bootstrap sampling distribution of model accuracy looks like</vt:lpstr>
      <vt:lpstr>95% confidence intervals for per class accuracies using binomial distribution.</vt:lpstr>
      <vt:lpstr>Testing my model on some external unseen picture:</vt:lpstr>
      <vt:lpstr>Now the final upgrade, using pretrained model Resnet50</vt:lpstr>
      <vt:lpstr>Pretrained model training results:</vt:lpstr>
      <vt:lpstr>Pretrained model Validation vs Test accuracy:</vt:lpstr>
      <vt:lpstr>Per class accuracies: Flat Tire : 112/120 -&gt; 93.33%  Glass Shatter : 113/120 -&gt; 94.17%  Lamp Broken : 113/120 -&gt; 94.17%  No Damage : 116/120 -&gt; 96.67%   Note that it has more than 115/120 accuracy violating normality assumption in binomial conf. interval Significant Damage: 114/120 -&gt; 95.00%  Surface Damage(Dents , Scratches): 109/120 -&gt; 90.83%</vt:lpstr>
      <vt:lpstr>Comparison of scratch model per class accuracy vs pretrained model</vt:lpstr>
      <vt:lpstr>Let’s check the confusion matrix to see whether or not pretrained model still suffers from notable confusion.</vt:lpstr>
      <vt:lpstr>Using bootstrapped sampling to develop roughly approximated 95% confidence interval for the Resnet50 model:</vt:lpstr>
      <vt:lpstr>Using binomial distribution for approximating 95% confidence interval for per class accuracies. Note that conf. interval for No damage is not valid as it violated normality assumption for binomial distribution.</vt:lpstr>
      <vt:lpstr>Testing the pretrained model on the same picture as scratch was tested</vt:lpstr>
      <vt:lpstr>Comparison of scratch vs pretrained model results.</vt:lpstr>
      <vt:lpstr>Potential improvements if data was available :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Durmishkhan Gigineishvili</dc:creator>
  <cp:lastModifiedBy>Durmishkhan Gigineishvili</cp:lastModifiedBy>
  <cp:revision>13</cp:revision>
  <dcterms:created xsi:type="dcterms:W3CDTF">2025-07-08T14:55:56Z</dcterms:created>
  <dcterms:modified xsi:type="dcterms:W3CDTF">2025-11-25T17:36:45Z</dcterms:modified>
</cp:coreProperties>
</file>